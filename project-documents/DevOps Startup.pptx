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6858000" cx="12192000"/>
  <p:notesSz cx="6858000" cy="12192000"/>
  <p:embeddedFontLst>
    <p:embeddedFont>
      <p:font typeface="Roboto"/>
      <p:regular r:id="rId16"/>
      <p:bold r:id="rId17"/>
      <p:italic r:id="rId18"/>
      <p:boldItalic r:id="rId19"/>
    </p:embeddedFont>
    <p:embeddedFont>
      <p:font typeface="Liter"/>
      <p:regular r:id="rId20"/>
    </p:embeddedFont>
    <p:embeddedFont>
      <p:font typeface="Quattrocento Sans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iter-regular.fntdata"/><Relationship Id="rId11" Type="http://schemas.openxmlformats.org/officeDocument/2006/relationships/slide" Target="slides/slide7.xml"/><Relationship Id="rId22" Type="http://schemas.openxmlformats.org/officeDocument/2006/relationships/font" Target="fonts/QuattrocentoSans-bold.fntdata"/><Relationship Id="rId10" Type="http://schemas.openxmlformats.org/officeDocument/2006/relationships/slide" Target="slides/slide6.xml"/><Relationship Id="rId21" Type="http://schemas.openxmlformats.org/officeDocument/2006/relationships/font" Target="fonts/QuattrocentoSans-regular.fntdata"/><Relationship Id="rId13" Type="http://schemas.openxmlformats.org/officeDocument/2006/relationships/slide" Target="slides/slide9.xml"/><Relationship Id="rId24" Type="http://schemas.openxmlformats.org/officeDocument/2006/relationships/font" Target="fonts/QuattrocentoSans-boldItalic.fntdata"/><Relationship Id="rId12" Type="http://schemas.openxmlformats.org/officeDocument/2006/relationships/slide" Target="slides/slide8.xml"/><Relationship Id="rId23" Type="http://schemas.openxmlformats.org/officeDocument/2006/relationships/font" Target="fonts/QuattrocentoSans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Roboto-bold.fntdata"/><Relationship Id="rId16" Type="http://schemas.openxmlformats.org/officeDocument/2006/relationships/font" Target="fonts/Roboto-regular.fntdata"/><Relationship Id="rId5" Type="http://schemas.openxmlformats.org/officeDocument/2006/relationships/slide" Target="slides/slide1.xml"/><Relationship Id="rId19" Type="http://schemas.openxmlformats.org/officeDocument/2006/relationships/font" Target="fonts/Roboto-boldItalic.fntdata"/><Relationship Id="rId6" Type="http://schemas.openxmlformats.org/officeDocument/2006/relationships/slide" Target="slides/slide2.xml"/><Relationship Id="rId18" Type="http://schemas.openxmlformats.org/officeDocument/2006/relationships/font" Target="fonts/Roboto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" name="Google Shape;1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" name="Google Shape;3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0" name="Google Shape;33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2" name="Google Shape;39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5" name="Google Shape;42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PTIST_MASTER">
  <p:cSld name="PPTIST_MASTER">
    <p:bg>
      <p:bgPr>
        <a:solidFill>
          <a:srgbClr val="FFFFFF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jpg"/><Relationship Id="rId4" Type="http://schemas.openxmlformats.org/officeDocument/2006/relationships/image" Target="../media/image5.jpg"/><Relationship Id="rId5" Type="http://schemas.openxmlformats.org/officeDocument/2006/relationships/image" Target="../media/image4.jpg"/><Relationship Id="rId6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jpg"/><Relationship Id="rId4" Type="http://schemas.openxmlformats.org/officeDocument/2006/relationships/image" Target="../media/image7.jpg"/><Relationship Id="rId5" Type="http://schemas.openxmlformats.org/officeDocument/2006/relationships/image" Target="../media/image11.jpg"/><Relationship Id="rId6" Type="http://schemas.openxmlformats.org/officeDocument/2006/relationships/image" Target="../media/image9.jpg"/><Relationship Id="rId7" Type="http://schemas.openxmlformats.org/officeDocument/2006/relationships/image" Target="../media/image8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kimi-web-img.moonshot.cn/img/t4.ftcdn.net/15f302977f61c32890bd4dc6d841bb7da949df88.jpg" id="17" name="Google Shape;17;p4"/>
          <p:cNvPicPr preferRelativeResize="0"/>
          <p:nvPr/>
        </p:nvPicPr>
        <p:blipFill rotWithShape="1">
          <a:blip r:embed="rId3">
            <a:alphaModFix amt="40000"/>
          </a:blip>
          <a:srcRect b="0" l="78" r="78" t="0"/>
          <a:stretch/>
        </p:blipFill>
        <p:spPr>
          <a:xfrm>
            <a:off x="0" y="0"/>
            <a:ext cx="12192000" cy="6858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18" name="Google Shape;18;p4"/>
          <p:cNvSpPr/>
          <p:nvPr/>
        </p:nvSpPr>
        <p:spPr>
          <a:xfrm>
            <a:off x="0" y="4800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F172A">
                  <a:alpha val="94901"/>
                </a:srgbClr>
              </a:gs>
              <a:gs pos="50000">
                <a:srgbClr val="0F172A">
                  <a:alpha val="85098"/>
                </a:srgbClr>
              </a:gs>
              <a:gs pos="100000">
                <a:srgbClr val="3B82F6">
                  <a:alpha val="30196"/>
                </a:srgbClr>
              </a:gs>
            </a:gsLst>
            <a:lin ang="2700000" scaled="0"/>
          </a:gradFill>
          <a:ln>
            <a:noFill/>
          </a:ln>
        </p:spPr>
      </p:sp>
      <p:sp>
        <p:nvSpPr>
          <p:cNvPr id="19" name="Google Shape;19;p4"/>
          <p:cNvSpPr/>
          <p:nvPr/>
        </p:nvSpPr>
        <p:spPr>
          <a:xfrm>
            <a:off x="385763" y="385763"/>
            <a:ext cx="2324100" cy="428625"/>
          </a:xfrm>
          <a:custGeom>
            <a:rect b="b" l="l" r="r" t="t"/>
            <a:pathLst>
              <a:path extrusionOk="0" h="428625" w="2324100">
                <a:moveTo>
                  <a:pt x="76201" y="0"/>
                </a:moveTo>
                <a:lnTo>
                  <a:pt x="2247899" y="0"/>
                </a:lnTo>
                <a:cubicBezTo>
                  <a:pt x="2289984" y="0"/>
                  <a:pt x="2324100" y="34116"/>
                  <a:pt x="2324100" y="76201"/>
                </a:cubicBezTo>
                <a:lnTo>
                  <a:pt x="2324100" y="352424"/>
                </a:lnTo>
                <a:cubicBezTo>
                  <a:pt x="2324100" y="394509"/>
                  <a:pt x="2289984" y="428625"/>
                  <a:pt x="2247899" y="428625"/>
                </a:cubicBezTo>
                <a:lnTo>
                  <a:pt x="76201" y="428625"/>
                </a:lnTo>
                <a:cubicBezTo>
                  <a:pt x="34116" y="428625"/>
                  <a:pt x="0" y="394509"/>
                  <a:pt x="0" y="3524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 cap="flat" cmpd="sng" w="12700">
            <a:solidFill>
              <a:srgbClr val="3B82F6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581025" y="466725"/>
            <a:ext cx="20193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HACKATHON LEVEL 21</a:t>
            </a:r>
            <a:endParaRPr b="0" i="0" sz="1600" u="none" cap="none" strike="noStrike"/>
          </a:p>
        </p:txBody>
      </p:sp>
      <p:sp>
        <p:nvSpPr>
          <p:cNvPr id="21" name="Google Shape;21;p4"/>
          <p:cNvSpPr/>
          <p:nvPr/>
        </p:nvSpPr>
        <p:spPr>
          <a:xfrm>
            <a:off x="10675590" y="381000"/>
            <a:ext cx="11334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18 апреля 2026</a:t>
            </a:r>
            <a:endParaRPr b="0" i="0" sz="1600" u="none" cap="none" strike="noStrike"/>
          </a:p>
        </p:txBody>
      </p:sp>
      <p:sp>
        <p:nvSpPr>
          <p:cNvPr id="22" name="Google Shape;22;p4"/>
          <p:cNvSpPr/>
          <p:nvPr/>
        </p:nvSpPr>
        <p:spPr>
          <a:xfrm>
            <a:off x="381000" y="1538288"/>
            <a:ext cx="7010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DevOps</a:t>
            </a:r>
            <a:endParaRPr b="0" i="0" sz="1600" u="none" cap="none" strike="noStrike"/>
          </a:p>
        </p:txBody>
      </p:sp>
      <p:sp>
        <p:nvSpPr>
          <p:cNvPr id="23" name="Google Shape;23;p4"/>
          <p:cNvSpPr/>
          <p:nvPr/>
        </p:nvSpPr>
        <p:spPr>
          <a:xfrm>
            <a:off x="381000" y="2605088"/>
            <a:ext cx="7010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0" u="none" cap="none" strike="noStrike">
                <a:solidFill>
                  <a:srgbClr val="3B82F6"/>
                </a:solidFill>
                <a:latin typeface="Liter"/>
                <a:ea typeface="Liter"/>
                <a:cs typeface="Liter"/>
                <a:sym typeface="Liter"/>
              </a:rPr>
              <a:t>Startup</a:t>
            </a:r>
            <a:endParaRPr b="0" i="0" sz="1600" u="none" cap="none" strike="noStrike"/>
          </a:p>
        </p:txBody>
      </p:sp>
      <p:sp>
        <p:nvSpPr>
          <p:cNvPr id="24" name="Google Shape;24;p4"/>
          <p:cNvSpPr/>
          <p:nvPr/>
        </p:nvSpPr>
        <p:spPr>
          <a:xfrm>
            <a:off x="381000" y="3748087"/>
            <a:ext cx="1219200" cy="57150"/>
          </a:xfrm>
          <a:custGeom>
            <a:rect b="b" l="l" r="r" t="t"/>
            <a:pathLst>
              <a:path extrusionOk="0" h="57150" w="1219200">
                <a:moveTo>
                  <a:pt x="0" y="0"/>
                </a:moveTo>
                <a:lnTo>
                  <a:pt x="1219200" y="0"/>
                </a:lnTo>
                <a:lnTo>
                  <a:pt x="12192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3B82F6"/>
              </a:gs>
              <a:gs pos="100000">
                <a:srgbClr val="22D3EE"/>
              </a:gs>
            </a:gsLst>
            <a:lin ang="0" scaled="0"/>
          </a:gradFill>
          <a:ln>
            <a:noFill/>
          </a:ln>
        </p:spPr>
      </p:sp>
      <p:sp>
        <p:nvSpPr>
          <p:cNvPr id="25" name="Google Shape;25;p4"/>
          <p:cNvSpPr/>
          <p:nvPr/>
        </p:nvSpPr>
        <p:spPr>
          <a:xfrm>
            <a:off x="381000" y="4110038"/>
            <a:ext cx="66960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Образовательная игра для профориентации в IT</a:t>
            </a:r>
            <a:endParaRPr b="0" i="0" sz="1600" u="none" cap="none" strike="noStrike"/>
          </a:p>
        </p:txBody>
      </p:sp>
      <p:sp>
        <p:nvSpPr>
          <p:cNvPr id="26" name="Google Shape;26;p4"/>
          <p:cNvSpPr/>
          <p:nvPr/>
        </p:nvSpPr>
        <p:spPr>
          <a:xfrm>
            <a:off x="381000" y="4719638"/>
            <a:ext cx="66484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Проживи один день из жизни DevOps-инженера</a:t>
            </a:r>
            <a:endParaRPr b="0" i="0" sz="1600" u="none" cap="none" strike="noStrike"/>
          </a:p>
        </p:txBody>
      </p:sp>
      <p:sp>
        <p:nvSpPr>
          <p:cNvPr id="27" name="Google Shape;27;p4"/>
          <p:cNvSpPr/>
          <p:nvPr/>
        </p:nvSpPr>
        <p:spPr>
          <a:xfrm>
            <a:off x="381000" y="5710238"/>
            <a:ext cx="11430000" cy="9525"/>
          </a:xfrm>
          <a:custGeom>
            <a:rect b="b" l="l" r="r" t="t"/>
            <a:pathLst>
              <a:path extrusionOk="0" h="9525" w="11430000">
                <a:moveTo>
                  <a:pt x="0" y="0"/>
                </a:moveTo>
                <a:lnTo>
                  <a:pt x="11430000" y="0"/>
                </a:lnTo>
                <a:lnTo>
                  <a:pt x="11430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334155"/>
          </a:solidFill>
          <a:ln>
            <a:noFill/>
          </a:ln>
        </p:spPr>
      </p:sp>
      <p:sp>
        <p:nvSpPr>
          <p:cNvPr id="28" name="Google Shape;28;p4"/>
          <p:cNvSpPr/>
          <p:nvPr/>
        </p:nvSpPr>
        <p:spPr>
          <a:xfrm>
            <a:off x="1066800" y="5962650"/>
            <a:ext cx="15144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Команда DevApp</a:t>
            </a:r>
            <a:endParaRPr b="0" i="0" sz="1600" u="none" cap="none" strike="noStrike"/>
          </a:p>
        </p:txBody>
      </p:sp>
      <p:sp>
        <p:nvSpPr>
          <p:cNvPr id="29" name="Google Shape;29;p4"/>
          <p:cNvSpPr/>
          <p:nvPr/>
        </p:nvSpPr>
        <p:spPr>
          <a:xfrm>
            <a:off x="1066800" y="6229350"/>
            <a:ext cx="15049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Build · Test · Deploy</a:t>
            </a:r>
            <a:endParaRPr b="0" i="0" sz="1600" u="none" cap="none" strike="noStrike"/>
          </a:p>
        </p:txBody>
      </p:sp>
      <p:sp>
        <p:nvSpPr>
          <p:cNvPr id="30" name="Google Shape;30;p4"/>
          <p:cNvSpPr/>
          <p:nvPr/>
        </p:nvSpPr>
        <p:spPr>
          <a:xfrm>
            <a:off x="9482072" y="6096000"/>
            <a:ext cx="285750" cy="228600"/>
          </a:xfrm>
          <a:custGeom>
            <a:rect b="b" l="l" r="r" t="t"/>
            <a:pathLst>
              <a:path extrusionOk="0" h="228600" w="285750">
                <a:moveTo>
                  <a:pt x="200025" y="28575"/>
                </a:moveTo>
                <a:cubicBezTo>
                  <a:pt x="247352" y="28575"/>
                  <a:pt x="285750" y="66973"/>
                  <a:pt x="285750" y="114300"/>
                </a:cubicBezTo>
                <a:cubicBezTo>
                  <a:pt x="285750" y="161627"/>
                  <a:pt x="247352" y="200025"/>
                  <a:pt x="200025" y="200025"/>
                </a:cubicBezTo>
                <a:lnTo>
                  <a:pt x="85725" y="200025"/>
                </a:lnTo>
                <a:cubicBezTo>
                  <a:pt x="38398" y="200025"/>
                  <a:pt x="0" y="161627"/>
                  <a:pt x="0" y="114300"/>
                </a:cubicBezTo>
                <a:cubicBezTo>
                  <a:pt x="0" y="66973"/>
                  <a:pt x="38398" y="28575"/>
                  <a:pt x="85725" y="28575"/>
                </a:cubicBezTo>
                <a:lnTo>
                  <a:pt x="200025" y="28575"/>
                </a:lnTo>
                <a:close/>
                <a:moveTo>
                  <a:pt x="85725" y="78581"/>
                </a:moveTo>
                <a:cubicBezTo>
                  <a:pt x="79787" y="78581"/>
                  <a:pt x="75009" y="83359"/>
                  <a:pt x="75009" y="89297"/>
                </a:cubicBezTo>
                <a:lnTo>
                  <a:pt x="75009" y="103584"/>
                </a:lnTo>
                <a:lnTo>
                  <a:pt x="60722" y="103584"/>
                </a:lnTo>
                <a:cubicBezTo>
                  <a:pt x="54784" y="103584"/>
                  <a:pt x="50006" y="108362"/>
                  <a:pt x="50006" y="114300"/>
                </a:cubicBezTo>
                <a:cubicBezTo>
                  <a:pt x="50006" y="120238"/>
                  <a:pt x="54784" y="125016"/>
                  <a:pt x="60722" y="125016"/>
                </a:cubicBezTo>
                <a:lnTo>
                  <a:pt x="75009" y="125016"/>
                </a:lnTo>
                <a:lnTo>
                  <a:pt x="75009" y="139303"/>
                </a:lnTo>
                <a:cubicBezTo>
                  <a:pt x="75009" y="145241"/>
                  <a:pt x="79787" y="150019"/>
                  <a:pt x="85725" y="150019"/>
                </a:cubicBezTo>
                <a:cubicBezTo>
                  <a:pt x="91663" y="150019"/>
                  <a:pt x="96441" y="145241"/>
                  <a:pt x="96441" y="139303"/>
                </a:cubicBezTo>
                <a:lnTo>
                  <a:pt x="96441" y="125016"/>
                </a:lnTo>
                <a:lnTo>
                  <a:pt x="110728" y="125016"/>
                </a:lnTo>
                <a:cubicBezTo>
                  <a:pt x="116666" y="125016"/>
                  <a:pt x="121444" y="120238"/>
                  <a:pt x="121444" y="114300"/>
                </a:cubicBezTo>
                <a:cubicBezTo>
                  <a:pt x="121444" y="108362"/>
                  <a:pt x="116666" y="103584"/>
                  <a:pt x="110728" y="103584"/>
                </a:cubicBezTo>
                <a:lnTo>
                  <a:pt x="96441" y="103584"/>
                </a:lnTo>
                <a:lnTo>
                  <a:pt x="96441" y="89297"/>
                </a:lnTo>
                <a:cubicBezTo>
                  <a:pt x="96441" y="83359"/>
                  <a:pt x="91663" y="78581"/>
                  <a:pt x="85725" y="78581"/>
                </a:cubicBezTo>
                <a:close/>
                <a:moveTo>
                  <a:pt x="192881" y="121444"/>
                </a:moveTo>
                <a:cubicBezTo>
                  <a:pt x="184996" y="121444"/>
                  <a:pt x="178594" y="127846"/>
                  <a:pt x="178594" y="135731"/>
                </a:cubicBezTo>
                <a:cubicBezTo>
                  <a:pt x="178594" y="143617"/>
                  <a:pt x="184996" y="150019"/>
                  <a:pt x="192881" y="150019"/>
                </a:cubicBezTo>
                <a:cubicBezTo>
                  <a:pt x="200767" y="150019"/>
                  <a:pt x="207169" y="143617"/>
                  <a:pt x="207169" y="135731"/>
                </a:cubicBezTo>
                <a:cubicBezTo>
                  <a:pt x="207169" y="127846"/>
                  <a:pt x="200767" y="121444"/>
                  <a:pt x="192881" y="121444"/>
                </a:cubicBezTo>
                <a:close/>
                <a:moveTo>
                  <a:pt x="221456" y="78581"/>
                </a:moveTo>
                <a:cubicBezTo>
                  <a:pt x="213571" y="78581"/>
                  <a:pt x="207169" y="84983"/>
                  <a:pt x="207169" y="92869"/>
                </a:cubicBezTo>
                <a:cubicBezTo>
                  <a:pt x="207169" y="100754"/>
                  <a:pt x="213571" y="107156"/>
                  <a:pt x="221456" y="107156"/>
                </a:cubicBezTo>
                <a:cubicBezTo>
                  <a:pt x="229342" y="107156"/>
                  <a:pt x="235744" y="100754"/>
                  <a:pt x="235744" y="92869"/>
                </a:cubicBezTo>
                <a:cubicBezTo>
                  <a:pt x="235744" y="84983"/>
                  <a:pt x="229342" y="78581"/>
                  <a:pt x="221456" y="78581"/>
                </a:cubicBezTo>
                <a:close/>
              </a:path>
            </a:pathLst>
          </a:custGeom>
          <a:solidFill>
            <a:srgbClr val="22D3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9874600" y="6076950"/>
            <a:ext cx="20193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Решение для хакатона Level 21: Education Games </a:t>
            </a:r>
            <a:endParaRPr b="0" i="0" sz="1600" u="none" cap="none" strike="noStrike">
              <a:solidFill>
                <a:srgbClr val="94A3B8"/>
              </a:solidFill>
            </a:endParaRPr>
          </a:p>
        </p:txBody>
      </p:sp>
      <p:pic>
        <p:nvPicPr>
          <p:cNvPr id="32" name="Google Shape;32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1000" y="5900774"/>
            <a:ext cx="618775" cy="617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/>
          <p:nvPr/>
        </p:nvSpPr>
        <p:spPr>
          <a:xfrm>
            <a:off x="6215063" y="4148137"/>
            <a:ext cx="5591175" cy="2324100"/>
          </a:xfrm>
          <a:custGeom>
            <a:rect b="b" l="l" r="r" t="t"/>
            <a:pathLst>
              <a:path extrusionOk="0" h="2324100" w="5591175">
                <a:moveTo>
                  <a:pt x="152391" y="0"/>
                </a:moveTo>
                <a:lnTo>
                  <a:pt x="5438784" y="0"/>
                </a:lnTo>
                <a:cubicBezTo>
                  <a:pt x="5522947" y="0"/>
                  <a:pt x="5591175" y="68228"/>
                  <a:pt x="5591175" y="152391"/>
                </a:cubicBezTo>
                <a:lnTo>
                  <a:pt x="5591175" y="2171709"/>
                </a:lnTo>
                <a:cubicBezTo>
                  <a:pt x="5591175" y="2255872"/>
                  <a:pt x="5522947" y="2324100"/>
                  <a:pt x="5438784" y="2324100"/>
                </a:cubicBezTo>
                <a:lnTo>
                  <a:pt x="152391" y="2324100"/>
                </a:lnTo>
                <a:cubicBezTo>
                  <a:pt x="68228" y="2324100"/>
                  <a:pt x="0" y="2255872"/>
                  <a:pt x="0" y="2171709"/>
                </a:cubicBezTo>
                <a:lnTo>
                  <a:pt x="0" y="152391"/>
                </a:lnTo>
                <a:cubicBezTo>
                  <a:pt x="0" y="68284"/>
                  <a:pt x="68284" y="0"/>
                  <a:pt x="152391" y="0"/>
                </a:cubicBezTo>
                <a:close/>
              </a:path>
            </a:pathLst>
          </a:custGeom>
          <a:gradFill>
            <a:gsLst>
              <a:gs pos="0">
                <a:srgbClr val="1E293B"/>
              </a:gs>
              <a:gs pos="100000">
                <a:srgbClr val="0F172A"/>
              </a:gs>
            </a:gsLst>
            <a:lin ang="2700000" scaled="0"/>
          </a:gra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5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КОМАНДА</a:t>
            </a:r>
            <a:endParaRPr b="0" i="0" sz="1600" u="none" cap="none" strike="noStrike"/>
          </a:p>
        </p:txBody>
      </p:sp>
      <p:sp>
        <p:nvSpPr>
          <p:cNvPr id="40" name="Google Shape;40;p5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Команда DevApp</a:t>
            </a:r>
            <a:endParaRPr b="0" i="0" sz="1600" u="none" cap="none" strike="noStrike"/>
          </a:p>
        </p:txBody>
      </p:sp>
      <p:sp>
        <p:nvSpPr>
          <p:cNvPr id="41" name="Google Shape;41;p5"/>
          <p:cNvSpPr/>
          <p:nvPr/>
        </p:nvSpPr>
        <p:spPr>
          <a:xfrm>
            <a:off x="381000" y="1295400"/>
            <a:ext cx="914400" cy="57150"/>
          </a:xfrm>
          <a:custGeom>
            <a:rect b="b" l="l" r="r" t="t"/>
            <a:pathLst>
              <a:path extrusionOk="0" h="57150" w="914400">
                <a:moveTo>
                  <a:pt x="0" y="0"/>
                </a:moveTo>
                <a:lnTo>
                  <a:pt x="914400" y="0"/>
                </a:lnTo>
                <a:lnTo>
                  <a:pt x="9144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3B82F6"/>
              </a:gs>
              <a:gs pos="100000">
                <a:srgbClr val="22D3EE"/>
              </a:gs>
            </a:gsLst>
            <a:lin ang="0" scaled="0"/>
          </a:gradFill>
          <a:ln>
            <a:noFill/>
          </a:ln>
        </p:spPr>
      </p:sp>
      <p:sp>
        <p:nvSpPr>
          <p:cNvPr id="42" name="Google Shape;42;p5"/>
          <p:cNvSpPr/>
          <p:nvPr/>
        </p:nvSpPr>
        <p:spPr>
          <a:xfrm>
            <a:off x="385763" y="1585913"/>
            <a:ext cx="5591175" cy="2324100"/>
          </a:xfrm>
          <a:custGeom>
            <a:rect b="b" l="l" r="r" t="t"/>
            <a:pathLst>
              <a:path extrusionOk="0" h="2324100" w="5591175">
                <a:moveTo>
                  <a:pt x="152391" y="0"/>
                </a:moveTo>
                <a:lnTo>
                  <a:pt x="5438784" y="0"/>
                </a:lnTo>
                <a:cubicBezTo>
                  <a:pt x="5522947" y="0"/>
                  <a:pt x="5591175" y="68228"/>
                  <a:pt x="5591175" y="152391"/>
                </a:cubicBezTo>
                <a:lnTo>
                  <a:pt x="5591175" y="2171709"/>
                </a:lnTo>
                <a:cubicBezTo>
                  <a:pt x="5591175" y="2255872"/>
                  <a:pt x="5522947" y="2324100"/>
                  <a:pt x="5438784" y="2324100"/>
                </a:cubicBezTo>
                <a:lnTo>
                  <a:pt x="152391" y="2324100"/>
                </a:lnTo>
                <a:cubicBezTo>
                  <a:pt x="68228" y="2324100"/>
                  <a:pt x="0" y="2255872"/>
                  <a:pt x="0" y="2171709"/>
                </a:cubicBezTo>
                <a:lnTo>
                  <a:pt x="0" y="152391"/>
                </a:lnTo>
                <a:cubicBezTo>
                  <a:pt x="0" y="68284"/>
                  <a:pt x="68284" y="0"/>
                  <a:pt x="152391" y="0"/>
                </a:cubicBezTo>
                <a:close/>
              </a:path>
            </a:pathLst>
          </a:custGeom>
          <a:gradFill>
            <a:gsLst>
              <a:gs pos="0">
                <a:srgbClr val="1E293B"/>
              </a:gs>
              <a:gs pos="100000">
                <a:srgbClr val="0F172A"/>
              </a:gs>
            </a:gsLst>
            <a:lin ang="2700000" scaled="0"/>
          </a:gra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5"/>
          <p:cNvSpPr/>
          <p:nvPr/>
        </p:nvSpPr>
        <p:spPr>
          <a:xfrm>
            <a:off x="2243113" y="1826250"/>
            <a:ext cx="1876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Бабичев Никита</a:t>
            </a:r>
            <a:endParaRPr b="0" i="0" sz="1600" u="none" cap="none" strike="noStrike"/>
          </a:p>
        </p:txBody>
      </p:sp>
      <p:sp>
        <p:nvSpPr>
          <p:cNvPr id="44" name="Google Shape;44;p5"/>
          <p:cNvSpPr/>
          <p:nvPr/>
        </p:nvSpPr>
        <p:spPr>
          <a:xfrm>
            <a:off x="2243113" y="2131050"/>
            <a:ext cx="1848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Проджект-менеджер</a:t>
            </a:r>
            <a:endParaRPr b="0" i="0" sz="1600" u="none" cap="none" strike="noStrike"/>
          </a:p>
        </p:txBody>
      </p:sp>
      <p:sp>
        <p:nvSpPr>
          <p:cNvPr id="45" name="Google Shape;45;p5"/>
          <p:cNvSpPr/>
          <p:nvPr/>
        </p:nvSpPr>
        <p:spPr>
          <a:xfrm>
            <a:off x="2243113" y="2771763"/>
            <a:ext cx="152400" cy="152400"/>
          </a:xfrm>
          <a:custGeom>
            <a:rect b="b" l="l" r="r" t="t"/>
            <a:pathLst>
              <a:path extrusionOk="0" h="152400" w="152400">
                <a:moveTo>
                  <a:pt x="59531" y="14288"/>
                </a:moveTo>
                <a:lnTo>
                  <a:pt x="92869" y="14288"/>
                </a:lnTo>
                <a:cubicBezTo>
                  <a:pt x="94178" y="14288"/>
                  <a:pt x="95250" y="15359"/>
                  <a:pt x="95250" y="16669"/>
                </a:cubicBezTo>
                <a:lnTo>
                  <a:pt x="95250" y="28575"/>
                </a:lnTo>
                <a:lnTo>
                  <a:pt x="57150" y="28575"/>
                </a:lnTo>
                <a:lnTo>
                  <a:pt x="57150" y="16669"/>
                </a:lnTo>
                <a:cubicBezTo>
                  <a:pt x="57150" y="15359"/>
                  <a:pt x="58222" y="14288"/>
                  <a:pt x="59531" y="14288"/>
                </a:cubicBezTo>
                <a:close/>
                <a:moveTo>
                  <a:pt x="42863" y="16669"/>
                </a:moveTo>
                <a:lnTo>
                  <a:pt x="42863" y="28575"/>
                </a:lnTo>
                <a:lnTo>
                  <a:pt x="19050" y="28575"/>
                </a:lnTo>
                <a:cubicBezTo>
                  <a:pt x="8543" y="28575"/>
                  <a:pt x="0" y="37118"/>
                  <a:pt x="0" y="47625"/>
                </a:cubicBezTo>
                <a:lnTo>
                  <a:pt x="0" y="76200"/>
                </a:lnTo>
                <a:lnTo>
                  <a:pt x="152400" y="76200"/>
                </a:lnTo>
                <a:lnTo>
                  <a:pt x="152400" y="47625"/>
                </a:lnTo>
                <a:cubicBezTo>
                  <a:pt x="152400" y="37118"/>
                  <a:pt x="143857" y="28575"/>
                  <a:pt x="133350" y="28575"/>
                </a:cubicBezTo>
                <a:lnTo>
                  <a:pt x="109537" y="28575"/>
                </a:lnTo>
                <a:lnTo>
                  <a:pt x="109537" y="16669"/>
                </a:lnTo>
                <a:cubicBezTo>
                  <a:pt x="109537" y="7471"/>
                  <a:pt x="102066" y="0"/>
                  <a:pt x="92869" y="0"/>
                </a:cubicBezTo>
                <a:lnTo>
                  <a:pt x="59531" y="0"/>
                </a:lnTo>
                <a:cubicBezTo>
                  <a:pt x="50334" y="0"/>
                  <a:pt x="42863" y="7471"/>
                  <a:pt x="42863" y="16669"/>
                </a:cubicBezTo>
                <a:close/>
                <a:moveTo>
                  <a:pt x="152400" y="90488"/>
                </a:moveTo>
                <a:lnTo>
                  <a:pt x="95250" y="90488"/>
                </a:lnTo>
                <a:lnTo>
                  <a:pt x="95250" y="95250"/>
                </a:lnTo>
                <a:cubicBezTo>
                  <a:pt x="95250" y="100519"/>
                  <a:pt x="90994" y="104775"/>
                  <a:pt x="85725" y="104775"/>
                </a:cubicBezTo>
                <a:lnTo>
                  <a:pt x="66675" y="104775"/>
                </a:lnTo>
                <a:cubicBezTo>
                  <a:pt x="61406" y="104775"/>
                  <a:pt x="57150" y="100519"/>
                  <a:pt x="57150" y="95250"/>
                </a:cubicBezTo>
                <a:lnTo>
                  <a:pt x="57150" y="90488"/>
                </a:lnTo>
                <a:lnTo>
                  <a:pt x="0" y="90488"/>
                </a:lnTo>
                <a:lnTo>
                  <a:pt x="0" y="123825"/>
                </a:lnTo>
                <a:cubicBezTo>
                  <a:pt x="0" y="134332"/>
                  <a:pt x="8543" y="142875"/>
                  <a:pt x="19050" y="142875"/>
                </a:cubicBezTo>
                <a:lnTo>
                  <a:pt x="133350" y="142875"/>
                </a:lnTo>
                <a:cubicBezTo>
                  <a:pt x="143857" y="142875"/>
                  <a:pt x="152400" y="134332"/>
                  <a:pt x="152400" y="123825"/>
                </a:cubicBezTo>
                <a:lnTo>
                  <a:pt x="152400" y="90488"/>
                </a:lnTo>
                <a:close/>
              </a:path>
            </a:pathLst>
          </a:cu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5"/>
          <p:cNvSpPr/>
          <p:nvPr/>
        </p:nvSpPr>
        <p:spPr>
          <a:xfrm>
            <a:off x="2490763" y="2733663"/>
            <a:ext cx="2981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Опыт управления проектами в Flowwow</a:t>
            </a:r>
            <a:endParaRPr b="0" i="0" sz="1600" u="none" cap="none" strike="noStrike"/>
          </a:p>
        </p:txBody>
      </p:sp>
      <p:sp>
        <p:nvSpPr>
          <p:cNvPr id="47" name="Google Shape;47;p5"/>
          <p:cNvSpPr/>
          <p:nvPr/>
        </p:nvSpPr>
        <p:spPr>
          <a:xfrm>
            <a:off x="2243113" y="3076563"/>
            <a:ext cx="152400" cy="152400"/>
          </a:xfrm>
          <a:custGeom>
            <a:rect b="b" l="l" r="r" t="t"/>
            <a:pathLst>
              <a:path extrusionOk="0" h="152400" w="152400">
                <a:moveTo>
                  <a:pt x="39826" y="10805"/>
                </a:moveTo>
                <a:cubicBezTo>
                  <a:pt x="43071" y="13067"/>
                  <a:pt x="43845" y="17532"/>
                  <a:pt x="41583" y="20747"/>
                </a:cubicBezTo>
                <a:lnTo>
                  <a:pt x="24914" y="44559"/>
                </a:lnTo>
                <a:cubicBezTo>
                  <a:pt x="23693" y="46286"/>
                  <a:pt x="21788" y="47387"/>
                  <a:pt x="19675" y="47565"/>
                </a:cubicBezTo>
                <a:cubicBezTo>
                  <a:pt x="17562" y="47744"/>
                  <a:pt x="15478" y="47030"/>
                  <a:pt x="13990" y="45541"/>
                </a:cubicBezTo>
                <a:lnTo>
                  <a:pt x="2084" y="33635"/>
                </a:lnTo>
                <a:cubicBezTo>
                  <a:pt x="-685" y="30837"/>
                  <a:pt x="-685" y="26313"/>
                  <a:pt x="2084" y="23515"/>
                </a:cubicBezTo>
                <a:cubicBezTo>
                  <a:pt x="4852" y="20717"/>
                  <a:pt x="9406" y="20747"/>
                  <a:pt x="12204" y="23515"/>
                </a:cubicBezTo>
                <a:lnTo>
                  <a:pt x="18098" y="29408"/>
                </a:lnTo>
                <a:lnTo>
                  <a:pt x="29885" y="12561"/>
                </a:lnTo>
                <a:cubicBezTo>
                  <a:pt x="32147" y="9317"/>
                  <a:pt x="36612" y="8543"/>
                  <a:pt x="39826" y="10805"/>
                </a:cubicBezTo>
                <a:close/>
                <a:moveTo>
                  <a:pt x="39826" y="58430"/>
                </a:moveTo>
                <a:cubicBezTo>
                  <a:pt x="43071" y="60692"/>
                  <a:pt x="43845" y="65157"/>
                  <a:pt x="41583" y="68372"/>
                </a:cubicBezTo>
                <a:lnTo>
                  <a:pt x="24914" y="92184"/>
                </a:lnTo>
                <a:cubicBezTo>
                  <a:pt x="23693" y="93911"/>
                  <a:pt x="21788" y="95012"/>
                  <a:pt x="19675" y="95190"/>
                </a:cubicBezTo>
                <a:cubicBezTo>
                  <a:pt x="17562" y="95369"/>
                  <a:pt x="15478" y="94655"/>
                  <a:pt x="13990" y="93166"/>
                </a:cubicBezTo>
                <a:lnTo>
                  <a:pt x="2084" y="81260"/>
                </a:lnTo>
                <a:cubicBezTo>
                  <a:pt x="-714" y="78462"/>
                  <a:pt x="-714" y="73938"/>
                  <a:pt x="2084" y="71170"/>
                </a:cubicBezTo>
                <a:cubicBezTo>
                  <a:pt x="4882" y="68401"/>
                  <a:pt x="9406" y="68372"/>
                  <a:pt x="12174" y="71170"/>
                </a:cubicBezTo>
                <a:lnTo>
                  <a:pt x="18068" y="77063"/>
                </a:lnTo>
                <a:lnTo>
                  <a:pt x="29855" y="60216"/>
                </a:lnTo>
                <a:cubicBezTo>
                  <a:pt x="32117" y="56971"/>
                  <a:pt x="36582" y="56197"/>
                  <a:pt x="39797" y="58460"/>
                </a:cubicBezTo>
                <a:close/>
                <a:moveTo>
                  <a:pt x="66675" y="28575"/>
                </a:moveTo>
                <a:cubicBezTo>
                  <a:pt x="66675" y="23306"/>
                  <a:pt x="70931" y="19050"/>
                  <a:pt x="76200" y="19050"/>
                </a:cubicBezTo>
                <a:lnTo>
                  <a:pt x="142875" y="19050"/>
                </a:lnTo>
                <a:cubicBezTo>
                  <a:pt x="148144" y="19050"/>
                  <a:pt x="152400" y="23306"/>
                  <a:pt x="152400" y="28575"/>
                </a:cubicBezTo>
                <a:cubicBezTo>
                  <a:pt x="152400" y="33844"/>
                  <a:pt x="148144" y="38100"/>
                  <a:pt x="142875" y="38100"/>
                </a:cubicBezTo>
                <a:lnTo>
                  <a:pt x="76200" y="38100"/>
                </a:lnTo>
                <a:cubicBezTo>
                  <a:pt x="70931" y="38100"/>
                  <a:pt x="66675" y="33844"/>
                  <a:pt x="66675" y="28575"/>
                </a:cubicBezTo>
                <a:close/>
                <a:moveTo>
                  <a:pt x="66675" y="76200"/>
                </a:moveTo>
                <a:cubicBezTo>
                  <a:pt x="66675" y="70931"/>
                  <a:pt x="70931" y="66675"/>
                  <a:pt x="76200" y="66675"/>
                </a:cubicBezTo>
                <a:lnTo>
                  <a:pt x="142875" y="66675"/>
                </a:lnTo>
                <a:cubicBezTo>
                  <a:pt x="148144" y="66675"/>
                  <a:pt x="152400" y="70931"/>
                  <a:pt x="152400" y="76200"/>
                </a:cubicBezTo>
                <a:cubicBezTo>
                  <a:pt x="152400" y="81469"/>
                  <a:pt x="148144" y="85725"/>
                  <a:pt x="142875" y="85725"/>
                </a:cubicBezTo>
                <a:lnTo>
                  <a:pt x="76200" y="85725"/>
                </a:lnTo>
                <a:cubicBezTo>
                  <a:pt x="70931" y="85725"/>
                  <a:pt x="66675" y="81469"/>
                  <a:pt x="66675" y="76200"/>
                </a:cubicBezTo>
                <a:close/>
                <a:moveTo>
                  <a:pt x="47625" y="123825"/>
                </a:moveTo>
                <a:cubicBezTo>
                  <a:pt x="47625" y="118556"/>
                  <a:pt x="51881" y="114300"/>
                  <a:pt x="57150" y="114300"/>
                </a:cubicBezTo>
                <a:lnTo>
                  <a:pt x="142875" y="114300"/>
                </a:lnTo>
                <a:cubicBezTo>
                  <a:pt x="148144" y="114300"/>
                  <a:pt x="152400" y="118556"/>
                  <a:pt x="152400" y="123825"/>
                </a:cubicBezTo>
                <a:cubicBezTo>
                  <a:pt x="152400" y="129094"/>
                  <a:pt x="148144" y="133350"/>
                  <a:pt x="142875" y="133350"/>
                </a:cubicBezTo>
                <a:lnTo>
                  <a:pt x="57150" y="133350"/>
                </a:lnTo>
                <a:cubicBezTo>
                  <a:pt x="51881" y="133350"/>
                  <a:pt x="47625" y="129094"/>
                  <a:pt x="47625" y="123825"/>
                </a:cubicBezTo>
                <a:close/>
                <a:moveTo>
                  <a:pt x="19050" y="111919"/>
                </a:moveTo>
                <a:cubicBezTo>
                  <a:pt x="25621" y="111919"/>
                  <a:pt x="30956" y="117254"/>
                  <a:pt x="30956" y="123825"/>
                </a:cubicBezTo>
                <a:cubicBezTo>
                  <a:pt x="30956" y="130396"/>
                  <a:pt x="25621" y="135731"/>
                  <a:pt x="19050" y="135731"/>
                </a:cubicBezTo>
                <a:cubicBezTo>
                  <a:pt x="12479" y="135731"/>
                  <a:pt x="7144" y="130396"/>
                  <a:pt x="7144" y="123825"/>
                </a:cubicBezTo>
                <a:cubicBezTo>
                  <a:pt x="7144" y="117254"/>
                  <a:pt x="12479" y="111919"/>
                  <a:pt x="19050" y="111919"/>
                </a:cubicBezTo>
                <a:close/>
              </a:path>
            </a:pathLst>
          </a:cu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5"/>
          <p:cNvSpPr/>
          <p:nvPr/>
        </p:nvSpPr>
        <p:spPr>
          <a:xfrm>
            <a:off x="2490763" y="3038463"/>
            <a:ext cx="3305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Координация команды и стратегия развития</a:t>
            </a:r>
            <a:endParaRPr b="0" i="0" sz="1600" u="none" cap="none" strike="noStrike"/>
          </a:p>
        </p:txBody>
      </p:sp>
      <p:sp>
        <p:nvSpPr>
          <p:cNvPr id="49" name="Google Shape;49;p5"/>
          <p:cNvSpPr/>
          <p:nvPr/>
        </p:nvSpPr>
        <p:spPr>
          <a:xfrm>
            <a:off x="385763" y="4148137"/>
            <a:ext cx="5591175" cy="2324100"/>
          </a:xfrm>
          <a:custGeom>
            <a:rect b="b" l="l" r="r" t="t"/>
            <a:pathLst>
              <a:path extrusionOk="0" h="2324100" w="5591175">
                <a:moveTo>
                  <a:pt x="152391" y="0"/>
                </a:moveTo>
                <a:lnTo>
                  <a:pt x="5438784" y="0"/>
                </a:lnTo>
                <a:cubicBezTo>
                  <a:pt x="5522947" y="0"/>
                  <a:pt x="5591175" y="68228"/>
                  <a:pt x="5591175" y="152391"/>
                </a:cubicBezTo>
                <a:lnTo>
                  <a:pt x="5591175" y="2171709"/>
                </a:lnTo>
                <a:cubicBezTo>
                  <a:pt x="5591175" y="2255872"/>
                  <a:pt x="5522947" y="2324100"/>
                  <a:pt x="5438784" y="2324100"/>
                </a:cubicBezTo>
                <a:lnTo>
                  <a:pt x="152391" y="2324100"/>
                </a:lnTo>
                <a:cubicBezTo>
                  <a:pt x="68228" y="2324100"/>
                  <a:pt x="0" y="2255872"/>
                  <a:pt x="0" y="2171709"/>
                </a:cubicBezTo>
                <a:lnTo>
                  <a:pt x="0" y="152391"/>
                </a:lnTo>
                <a:cubicBezTo>
                  <a:pt x="0" y="68284"/>
                  <a:pt x="68284" y="0"/>
                  <a:pt x="152391" y="0"/>
                </a:cubicBezTo>
                <a:close/>
              </a:path>
            </a:pathLst>
          </a:custGeom>
          <a:gradFill>
            <a:gsLst>
              <a:gs pos="0">
                <a:srgbClr val="1E293B"/>
              </a:gs>
              <a:gs pos="100000">
                <a:srgbClr val="0F172A"/>
              </a:gs>
            </a:gsLst>
            <a:lin ang="2700000" scaled="0"/>
          </a:gra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5"/>
          <p:cNvSpPr/>
          <p:nvPr/>
        </p:nvSpPr>
        <p:spPr>
          <a:xfrm>
            <a:off x="2243125" y="4383875"/>
            <a:ext cx="2076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Игнатова Евгения</a:t>
            </a:r>
            <a:endParaRPr b="0" i="0" sz="1600" u="none" cap="none" strike="noStrike"/>
          </a:p>
        </p:txBody>
      </p:sp>
      <p:sp>
        <p:nvSpPr>
          <p:cNvPr id="51" name="Google Shape;51;p5"/>
          <p:cNvSpPr/>
          <p:nvPr/>
        </p:nvSpPr>
        <p:spPr>
          <a:xfrm>
            <a:off x="2243125" y="4688675"/>
            <a:ext cx="20478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DevOps-инженер</a:t>
            </a:r>
            <a:endParaRPr b="0" i="0" sz="1600" u="none" cap="none" strike="noStrike"/>
          </a:p>
        </p:txBody>
      </p:sp>
      <p:sp>
        <p:nvSpPr>
          <p:cNvPr id="52" name="Google Shape;52;p5"/>
          <p:cNvSpPr/>
          <p:nvPr/>
        </p:nvSpPr>
        <p:spPr>
          <a:xfrm>
            <a:off x="2252650" y="5336950"/>
            <a:ext cx="171450" cy="152400"/>
          </a:xfrm>
          <a:custGeom>
            <a:rect b="b" l="l" r="r" t="t"/>
            <a:pathLst>
              <a:path extrusionOk="0" h="152400" w="171450">
                <a:moveTo>
                  <a:pt x="14288" y="58281"/>
                </a:moveTo>
                <a:lnTo>
                  <a:pt x="76557" y="83909"/>
                </a:lnTo>
                <a:cubicBezTo>
                  <a:pt x="79474" y="85100"/>
                  <a:pt x="82570" y="85725"/>
                  <a:pt x="85725" y="85725"/>
                </a:cubicBezTo>
                <a:cubicBezTo>
                  <a:pt x="88880" y="85725"/>
                  <a:pt x="91976" y="85100"/>
                  <a:pt x="94893" y="83909"/>
                </a:cubicBezTo>
                <a:lnTo>
                  <a:pt x="167045" y="54203"/>
                </a:lnTo>
                <a:cubicBezTo>
                  <a:pt x="169724" y="53102"/>
                  <a:pt x="171450" y="50512"/>
                  <a:pt x="171450" y="47625"/>
                </a:cubicBezTo>
                <a:cubicBezTo>
                  <a:pt x="171450" y="44738"/>
                  <a:pt x="169724" y="42148"/>
                  <a:pt x="167045" y="41047"/>
                </a:cubicBezTo>
                <a:lnTo>
                  <a:pt x="94893" y="11341"/>
                </a:lnTo>
                <a:cubicBezTo>
                  <a:pt x="91976" y="10150"/>
                  <a:pt x="88880" y="9525"/>
                  <a:pt x="85725" y="9525"/>
                </a:cubicBezTo>
                <a:cubicBezTo>
                  <a:pt x="82570" y="9525"/>
                  <a:pt x="79474" y="10150"/>
                  <a:pt x="76557" y="11341"/>
                </a:cubicBezTo>
                <a:lnTo>
                  <a:pt x="4405" y="41047"/>
                </a:lnTo>
                <a:cubicBezTo>
                  <a:pt x="1726" y="42148"/>
                  <a:pt x="0" y="44738"/>
                  <a:pt x="0" y="47625"/>
                </a:cubicBezTo>
                <a:lnTo>
                  <a:pt x="0" y="135731"/>
                </a:lnTo>
                <a:cubicBezTo>
                  <a:pt x="0" y="139690"/>
                  <a:pt x="3185" y="142875"/>
                  <a:pt x="7144" y="142875"/>
                </a:cubicBezTo>
                <a:cubicBezTo>
                  <a:pt x="11103" y="142875"/>
                  <a:pt x="14288" y="139690"/>
                  <a:pt x="14288" y="135731"/>
                </a:cubicBezTo>
                <a:lnTo>
                  <a:pt x="14288" y="58281"/>
                </a:lnTo>
                <a:close/>
                <a:moveTo>
                  <a:pt x="28575" y="79623"/>
                </a:moveTo>
                <a:lnTo>
                  <a:pt x="28575" y="114300"/>
                </a:lnTo>
                <a:cubicBezTo>
                  <a:pt x="28575" y="130076"/>
                  <a:pt x="54173" y="142875"/>
                  <a:pt x="85725" y="142875"/>
                </a:cubicBezTo>
                <a:cubicBezTo>
                  <a:pt x="117277" y="142875"/>
                  <a:pt x="142875" y="130076"/>
                  <a:pt x="142875" y="114300"/>
                </a:cubicBezTo>
                <a:lnTo>
                  <a:pt x="142875" y="79593"/>
                </a:lnTo>
                <a:lnTo>
                  <a:pt x="100340" y="97125"/>
                </a:lnTo>
                <a:cubicBezTo>
                  <a:pt x="95696" y="99030"/>
                  <a:pt x="90755" y="100012"/>
                  <a:pt x="85725" y="100012"/>
                </a:cubicBezTo>
                <a:cubicBezTo>
                  <a:pt x="80695" y="100012"/>
                  <a:pt x="75754" y="99030"/>
                  <a:pt x="71110" y="97125"/>
                </a:cubicBezTo>
                <a:lnTo>
                  <a:pt x="28575" y="79593"/>
                </a:lnTo>
                <a:close/>
              </a:path>
            </a:pathLst>
          </a:cu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5"/>
          <p:cNvSpPr/>
          <p:nvPr/>
        </p:nvSpPr>
        <p:spPr>
          <a:xfrm>
            <a:off x="2509825" y="5298850"/>
            <a:ext cx="2819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Петровский колледж (разработка ПО)</a:t>
            </a:r>
            <a:endParaRPr b="0" i="0" sz="1600" u="none" cap="none" strike="noStrike"/>
          </a:p>
        </p:txBody>
      </p:sp>
      <p:sp>
        <p:nvSpPr>
          <p:cNvPr id="54" name="Google Shape;54;p5"/>
          <p:cNvSpPr/>
          <p:nvPr/>
        </p:nvSpPr>
        <p:spPr>
          <a:xfrm>
            <a:off x="2243125" y="5641750"/>
            <a:ext cx="190500" cy="152400"/>
          </a:xfrm>
          <a:custGeom>
            <a:rect b="b" l="l" r="r" t="t"/>
            <a:pathLst>
              <a:path extrusionOk="0" h="152400" w="190500">
                <a:moveTo>
                  <a:pt x="123795" y="62657"/>
                </a:moveTo>
                <a:cubicBezTo>
                  <a:pt x="127427" y="61674"/>
                  <a:pt x="131237" y="63401"/>
                  <a:pt x="132874" y="66764"/>
                </a:cubicBezTo>
                <a:lnTo>
                  <a:pt x="138410" y="77956"/>
                </a:lnTo>
                <a:cubicBezTo>
                  <a:pt x="141476" y="78373"/>
                  <a:pt x="144482" y="79206"/>
                  <a:pt x="147310" y="80367"/>
                </a:cubicBezTo>
                <a:lnTo>
                  <a:pt x="157728" y="73432"/>
                </a:lnTo>
                <a:cubicBezTo>
                  <a:pt x="160853" y="71348"/>
                  <a:pt x="164991" y="71765"/>
                  <a:pt x="167640" y="74414"/>
                </a:cubicBezTo>
                <a:lnTo>
                  <a:pt x="173355" y="80129"/>
                </a:lnTo>
                <a:cubicBezTo>
                  <a:pt x="176004" y="82778"/>
                  <a:pt x="176421" y="86945"/>
                  <a:pt x="174337" y="90041"/>
                </a:cubicBezTo>
                <a:lnTo>
                  <a:pt x="167402" y="100429"/>
                </a:lnTo>
                <a:cubicBezTo>
                  <a:pt x="167967" y="101828"/>
                  <a:pt x="168473" y="103287"/>
                  <a:pt x="168890" y="104805"/>
                </a:cubicBezTo>
                <a:cubicBezTo>
                  <a:pt x="169307" y="106323"/>
                  <a:pt x="169575" y="107811"/>
                  <a:pt x="169783" y="109329"/>
                </a:cubicBezTo>
                <a:lnTo>
                  <a:pt x="181005" y="114866"/>
                </a:lnTo>
                <a:cubicBezTo>
                  <a:pt x="184368" y="116532"/>
                  <a:pt x="186095" y="120342"/>
                  <a:pt x="185112" y="123944"/>
                </a:cubicBezTo>
                <a:lnTo>
                  <a:pt x="183029" y="131743"/>
                </a:lnTo>
                <a:cubicBezTo>
                  <a:pt x="182047" y="135344"/>
                  <a:pt x="178683" y="137785"/>
                  <a:pt x="174933" y="137547"/>
                </a:cubicBezTo>
                <a:lnTo>
                  <a:pt x="162431" y="136743"/>
                </a:lnTo>
                <a:cubicBezTo>
                  <a:pt x="160556" y="139154"/>
                  <a:pt x="158383" y="141387"/>
                  <a:pt x="155912" y="143292"/>
                </a:cubicBezTo>
                <a:lnTo>
                  <a:pt x="156716" y="155764"/>
                </a:lnTo>
                <a:cubicBezTo>
                  <a:pt x="156954" y="159514"/>
                  <a:pt x="154513" y="162907"/>
                  <a:pt x="150912" y="163860"/>
                </a:cubicBezTo>
                <a:lnTo>
                  <a:pt x="143113" y="165943"/>
                </a:lnTo>
                <a:cubicBezTo>
                  <a:pt x="139482" y="166926"/>
                  <a:pt x="135701" y="165199"/>
                  <a:pt x="134035" y="161836"/>
                </a:cubicBezTo>
                <a:lnTo>
                  <a:pt x="128498" y="150644"/>
                </a:lnTo>
                <a:cubicBezTo>
                  <a:pt x="125432" y="150227"/>
                  <a:pt x="122426" y="149394"/>
                  <a:pt x="119598" y="148233"/>
                </a:cubicBezTo>
                <a:lnTo>
                  <a:pt x="109180" y="155168"/>
                </a:lnTo>
                <a:cubicBezTo>
                  <a:pt x="106055" y="157252"/>
                  <a:pt x="101918" y="156835"/>
                  <a:pt x="99268" y="154186"/>
                </a:cubicBezTo>
                <a:lnTo>
                  <a:pt x="93553" y="148471"/>
                </a:lnTo>
                <a:cubicBezTo>
                  <a:pt x="90904" y="145822"/>
                  <a:pt x="90488" y="141684"/>
                  <a:pt x="92571" y="138559"/>
                </a:cubicBezTo>
                <a:lnTo>
                  <a:pt x="99506" y="128141"/>
                </a:lnTo>
                <a:cubicBezTo>
                  <a:pt x="98941" y="126742"/>
                  <a:pt x="98435" y="125284"/>
                  <a:pt x="98018" y="123765"/>
                </a:cubicBezTo>
                <a:cubicBezTo>
                  <a:pt x="97601" y="122247"/>
                  <a:pt x="97334" y="120729"/>
                  <a:pt x="97125" y="119241"/>
                </a:cubicBezTo>
                <a:lnTo>
                  <a:pt x="85904" y="113705"/>
                </a:lnTo>
                <a:cubicBezTo>
                  <a:pt x="82540" y="112038"/>
                  <a:pt x="80843" y="108228"/>
                  <a:pt x="81796" y="104626"/>
                </a:cubicBezTo>
                <a:lnTo>
                  <a:pt x="83880" y="96828"/>
                </a:lnTo>
                <a:cubicBezTo>
                  <a:pt x="84862" y="93226"/>
                  <a:pt x="88225" y="90785"/>
                  <a:pt x="91976" y="91023"/>
                </a:cubicBezTo>
                <a:lnTo>
                  <a:pt x="104448" y="91827"/>
                </a:lnTo>
                <a:cubicBezTo>
                  <a:pt x="106323" y="89416"/>
                  <a:pt x="108496" y="87184"/>
                  <a:pt x="110966" y="85279"/>
                </a:cubicBezTo>
                <a:lnTo>
                  <a:pt x="110163" y="72836"/>
                </a:lnTo>
                <a:cubicBezTo>
                  <a:pt x="109924" y="69086"/>
                  <a:pt x="112365" y="65693"/>
                  <a:pt x="115967" y="64740"/>
                </a:cubicBezTo>
                <a:lnTo>
                  <a:pt x="123765" y="62657"/>
                </a:lnTo>
                <a:close/>
                <a:moveTo>
                  <a:pt x="133469" y="101203"/>
                </a:moveTo>
                <a:cubicBezTo>
                  <a:pt x="126241" y="101211"/>
                  <a:pt x="120379" y="107087"/>
                  <a:pt x="120387" y="114315"/>
                </a:cubicBezTo>
                <a:cubicBezTo>
                  <a:pt x="120395" y="121543"/>
                  <a:pt x="126270" y="127405"/>
                  <a:pt x="133499" y="127397"/>
                </a:cubicBezTo>
                <a:cubicBezTo>
                  <a:pt x="140727" y="127389"/>
                  <a:pt x="146589" y="121513"/>
                  <a:pt x="146581" y="114285"/>
                </a:cubicBezTo>
                <a:cubicBezTo>
                  <a:pt x="146573" y="107057"/>
                  <a:pt x="140697" y="101195"/>
                  <a:pt x="133469" y="101203"/>
                </a:cubicBezTo>
                <a:close/>
                <a:moveTo>
                  <a:pt x="66943" y="-13543"/>
                </a:moveTo>
                <a:lnTo>
                  <a:pt x="74741" y="-11460"/>
                </a:lnTo>
                <a:cubicBezTo>
                  <a:pt x="78343" y="-10477"/>
                  <a:pt x="80784" y="-7084"/>
                  <a:pt x="80546" y="-3364"/>
                </a:cubicBezTo>
                <a:lnTo>
                  <a:pt x="79742" y="9079"/>
                </a:lnTo>
                <a:cubicBezTo>
                  <a:pt x="82213" y="10984"/>
                  <a:pt x="84386" y="13186"/>
                  <a:pt x="86261" y="15627"/>
                </a:cubicBezTo>
                <a:lnTo>
                  <a:pt x="98762" y="14823"/>
                </a:lnTo>
                <a:cubicBezTo>
                  <a:pt x="102483" y="14585"/>
                  <a:pt x="105876" y="17026"/>
                  <a:pt x="106859" y="20628"/>
                </a:cubicBezTo>
                <a:lnTo>
                  <a:pt x="108942" y="28426"/>
                </a:lnTo>
                <a:cubicBezTo>
                  <a:pt x="109895" y="32028"/>
                  <a:pt x="108198" y="35838"/>
                  <a:pt x="104835" y="37505"/>
                </a:cubicBezTo>
                <a:lnTo>
                  <a:pt x="93613" y="43041"/>
                </a:lnTo>
                <a:cubicBezTo>
                  <a:pt x="93405" y="44559"/>
                  <a:pt x="93107" y="46077"/>
                  <a:pt x="92720" y="47565"/>
                </a:cubicBezTo>
                <a:cubicBezTo>
                  <a:pt x="92333" y="49054"/>
                  <a:pt x="91797" y="50542"/>
                  <a:pt x="91232" y="51941"/>
                </a:cubicBezTo>
                <a:lnTo>
                  <a:pt x="98167" y="62359"/>
                </a:lnTo>
                <a:cubicBezTo>
                  <a:pt x="100251" y="65484"/>
                  <a:pt x="99834" y="69622"/>
                  <a:pt x="97185" y="72271"/>
                </a:cubicBezTo>
                <a:lnTo>
                  <a:pt x="91470" y="77986"/>
                </a:lnTo>
                <a:cubicBezTo>
                  <a:pt x="88821" y="80635"/>
                  <a:pt x="84683" y="81052"/>
                  <a:pt x="81558" y="78968"/>
                </a:cubicBezTo>
                <a:lnTo>
                  <a:pt x="71140" y="72033"/>
                </a:lnTo>
                <a:cubicBezTo>
                  <a:pt x="68312" y="73194"/>
                  <a:pt x="65306" y="74027"/>
                  <a:pt x="62240" y="74444"/>
                </a:cubicBezTo>
                <a:lnTo>
                  <a:pt x="56704" y="85636"/>
                </a:lnTo>
                <a:cubicBezTo>
                  <a:pt x="55037" y="88999"/>
                  <a:pt x="51227" y="90696"/>
                  <a:pt x="47625" y="89743"/>
                </a:cubicBezTo>
                <a:lnTo>
                  <a:pt x="39826" y="87660"/>
                </a:lnTo>
                <a:cubicBezTo>
                  <a:pt x="36195" y="86678"/>
                  <a:pt x="33784" y="83284"/>
                  <a:pt x="34022" y="79564"/>
                </a:cubicBezTo>
                <a:lnTo>
                  <a:pt x="34826" y="67092"/>
                </a:lnTo>
                <a:cubicBezTo>
                  <a:pt x="32355" y="65187"/>
                  <a:pt x="30182" y="62984"/>
                  <a:pt x="28307" y="60543"/>
                </a:cubicBezTo>
                <a:lnTo>
                  <a:pt x="15806" y="61347"/>
                </a:lnTo>
                <a:cubicBezTo>
                  <a:pt x="12085" y="61585"/>
                  <a:pt x="8692" y="59144"/>
                  <a:pt x="7709" y="55543"/>
                </a:cubicBezTo>
                <a:lnTo>
                  <a:pt x="5626" y="47744"/>
                </a:lnTo>
                <a:cubicBezTo>
                  <a:pt x="4673" y="44142"/>
                  <a:pt x="6370" y="40332"/>
                  <a:pt x="9733" y="38666"/>
                </a:cubicBezTo>
                <a:lnTo>
                  <a:pt x="20955" y="33129"/>
                </a:lnTo>
                <a:cubicBezTo>
                  <a:pt x="21163" y="31611"/>
                  <a:pt x="21461" y="30123"/>
                  <a:pt x="21848" y="28605"/>
                </a:cubicBezTo>
                <a:cubicBezTo>
                  <a:pt x="22265" y="27087"/>
                  <a:pt x="22741" y="25628"/>
                  <a:pt x="23336" y="24229"/>
                </a:cubicBezTo>
                <a:lnTo>
                  <a:pt x="16401" y="13841"/>
                </a:lnTo>
                <a:cubicBezTo>
                  <a:pt x="14317" y="10716"/>
                  <a:pt x="14734" y="6578"/>
                  <a:pt x="17383" y="3929"/>
                </a:cubicBezTo>
                <a:lnTo>
                  <a:pt x="23098" y="-1786"/>
                </a:lnTo>
                <a:cubicBezTo>
                  <a:pt x="25747" y="-4435"/>
                  <a:pt x="29885" y="-4852"/>
                  <a:pt x="33010" y="-2768"/>
                </a:cubicBezTo>
                <a:lnTo>
                  <a:pt x="43428" y="4167"/>
                </a:lnTo>
                <a:cubicBezTo>
                  <a:pt x="46256" y="3006"/>
                  <a:pt x="49262" y="2173"/>
                  <a:pt x="52328" y="1756"/>
                </a:cubicBezTo>
                <a:lnTo>
                  <a:pt x="57864" y="-9436"/>
                </a:lnTo>
                <a:cubicBezTo>
                  <a:pt x="59531" y="-12799"/>
                  <a:pt x="63311" y="-14496"/>
                  <a:pt x="66943" y="-13543"/>
                </a:cubicBezTo>
                <a:close/>
                <a:moveTo>
                  <a:pt x="57269" y="25003"/>
                </a:moveTo>
                <a:cubicBezTo>
                  <a:pt x="50041" y="25003"/>
                  <a:pt x="44172" y="30872"/>
                  <a:pt x="44172" y="38100"/>
                </a:cubicBezTo>
                <a:cubicBezTo>
                  <a:pt x="44172" y="45328"/>
                  <a:pt x="50041" y="51197"/>
                  <a:pt x="57269" y="51197"/>
                </a:cubicBezTo>
                <a:cubicBezTo>
                  <a:pt x="64497" y="51197"/>
                  <a:pt x="70366" y="45328"/>
                  <a:pt x="70366" y="38100"/>
                </a:cubicBezTo>
                <a:cubicBezTo>
                  <a:pt x="70366" y="30872"/>
                  <a:pt x="64497" y="25003"/>
                  <a:pt x="57269" y="25003"/>
                </a:cubicBezTo>
                <a:close/>
              </a:path>
            </a:pathLst>
          </a:cu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5"/>
          <p:cNvSpPr/>
          <p:nvPr/>
        </p:nvSpPr>
        <p:spPr>
          <a:xfrm>
            <a:off x="2509825" y="5603650"/>
            <a:ext cx="2648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Техническая поддержка в Flowwow</a:t>
            </a:r>
            <a:endParaRPr b="0" i="0" sz="1600" u="none" cap="none" strike="noStrike"/>
          </a:p>
        </p:txBody>
      </p:sp>
      <p:sp>
        <p:nvSpPr>
          <p:cNvPr id="56" name="Google Shape;56;p5"/>
          <p:cNvSpPr/>
          <p:nvPr/>
        </p:nvSpPr>
        <p:spPr>
          <a:xfrm>
            <a:off x="6215063" y="1585913"/>
            <a:ext cx="5591175" cy="2324100"/>
          </a:xfrm>
          <a:custGeom>
            <a:rect b="b" l="l" r="r" t="t"/>
            <a:pathLst>
              <a:path extrusionOk="0" h="2324100" w="5591175">
                <a:moveTo>
                  <a:pt x="152391" y="0"/>
                </a:moveTo>
                <a:lnTo>
                  <a:pt x="5438784" y="0"/>
                </a:lnTo>
                <a:cubicBezTo>
                  <a:pt x="5522947" y="0"/>
                  <a:pt x="5591175" y="68228"/>
                  <a:pt x="5591175" y="152391"/>
                </a:cubicBezTo>
                <a:lnTo>
                  <a:pt x="5591175" y="2171709"/>
                </a:lnTo>
                <a:cubicBezTo>
                  <a:pt x="5591175" y="2255872"/>
                  <a:pt x="5522947" y="2324100"/>
                  <a:pt x="5438784" y="2324100"/>
                </a:cubicBezTo>
                <a:lnTo>
                  <a:pt x="152391" y="2324100"/>
                </a:lnTo>
                <a:cubicBezTo>
                  <a:pt x="68228" y="2324100"/>
                  <a:pt x="0" y="2255872"/>
                  <a:pt x="0" y="2171709"/>
                </a:cubicBezTo>
                <a:lnTo>
                  <a:pt x="0" y="152391"/>
                </a:lnTo>
                <a:cubicBezTo>
                  <a:pt x="0" y="68284"/>
                  <a:pt x="68284" y="0"/>
                  <a:pt x="152391" y="0"/>
                </a:cubicBezTo>
                <a:close/>
              </a:path>
            </a:pathLst>
          </a:custGeom>
          <a:gradFill>
            <a:gsLst>
              <a:gs pos="0">
                <a:srgbClr val="1E293B"/>
              </a:gs>
              <a:gs pos="100000">
                <a:srgbClr val="0F172A"/>
              </a:gs>
            </a:gsLst>
            <a:lin ang="2700000" scaled="0"/>
          </a:gra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5"/>
          <p:cNvSpPr/>
          <p:nvPr/>
        </p:nvSpPr>
        <p:spPr>
          <a:xfrm>
            <a:off x="8087025" y="1826250"/>
            <a:ext cx="2181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Бармакова Полина</a:t>
            </a:r>
            <a:endParaRPr b="0" i="0" sz="1600" u="none" cap="none" strike="noStrike"/>
          </a:p>
        </p:txBody>
      </p:sp>
      <p:sp>
        <p:nvSpPr>
          <p:cNvPr id="58" name="Google Shape;58;p5"/>
          <p:cNvSpPr/>
          <p:nvPr/>
        </p:nvSpPr>
        <p:spPr>
          <a:xfrm>
            <a:off x="8087025" y="2131050"/>
            <a:ext cx="21528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Разработчик</a:t>
            </a:r>
            <a:endParaRPr b="0" i="0" sz="1600" u="none" cap="none" strike="noStrike"/>
          </a:p>
        </p:txBody>
      </p:sp>
      <p:sp>
        <p:nvSpPr>
          <p:cNvPr id="59" name="Google Shape;59;p5"/>
          <p:cNvSpPr/>
          <p:nvPr/>
        </p:nvSpPr>
        <p:spPr>
          <a:xfrm>
            <a:off x="8106075" y="2771775"/>
            <a:ext cx="152400" cy="152400"/>
          </a:xfrm>
          <a:custGeom>
            <a:rect b="b" l="l" r="r" t="t"/>
            <a:pathLst>
              <a:path extrusionOk="0" h="152400" w="152400">
                <a:moveTo>
                  <a:pt x="80933" y="6013"/>
                </a:moveTo>
                <a:cubicBezTo>
                  <a:pt x="78016" y="4346"/>
                  <a:pt x="74414" y="4346"/>
                  <a:pt x="71467" y="6013"/>
                </a:cubicBezTo>
                <a:lnTo>
                  <a:pt x="4792" y="44113"/>
                </a:lnTo>
                <a:cubicBezTo>
                  <a:pt x="1042" y="46256"/>
                  <a:pt x="-804" y="50661"/>
                  <a:pt x="298" y="54828"/>
                </a:cubicBezTo>
                <a:cubicBezTo>
                  <a:pt x="1399" y="58995"/>
                  <a:pt x="5209" y="61912"/>
                  <a:pt x="9525" y="61912"/>
                </a:cubicBezTo>
                <a:lnTo>
                  <a:pt x="19050" y="61912"/>
                </a:lnTo>
                <a:lnTo>
                  <a:pt x="19050" y="123825"/>
                </a:lnTo>
                <a:lnTo>
                  <a:pt x="19050" y="123825"/>
                </a:lnTo>
                <a:lnTo>
                  <a:pt x="3810" y="135255"/>
                </a:lnTo>
                <a:cubicBezTo>
                  <a:pt x="1399" y="137041"/>
                  <a:pt x="0" y="139869"/>
                  <a:pt x="0" y="142875"/>
                </a:cubicBezTo>
                <a:cubicBezTo>
                  <a:pt x="0" y="148144"/>
                  <a:pt x="4256" y="152400"/>
                  <a:pt x="9525" y="152400"/>
                </a:cubicBezTo>
                <a:lnTo>
                  <a:pt x="142875" y="152400"/>
                </a:lnTo>
                <a:cubicBezTo>
                  <a:pt x="148144" y="152400"/>
                  <a:pt x="152400" y="148144"/>
                  <a:pt x="152400" y="142875"/>
                </a:cubicBezTo>
                <a:cubicBezTo>
                  <a:pt x="152400" y="139869"/>
                  <a:pt x="151001" y="137041"/>
                  <a:pt x="148590" y="135255"/>
                </a:cubicBezTo>
                <a:lnTo>
                  <a:pt x="133350" y="123825"/>
                </a:lnTo>
                <a:lnTo>
                  <a:pt x="133350" y="61912"/>
                </a:lnTo>
                <a:lnTo>
                  <a:pt x="142875" y="61912"/>
                </a:lnTo>
                <a:cubicBezTo>
                  <a:pt x="147191" y="61912"/>
                  <a:pt x="150971" y="58995"/>
                  <a:pt x="152073" y="54828"/>
                </a:cubicBezTo>
                <a:cubicBezTo>
                  <a:pt x="153174" y="50661"/>
                  <a:pt x="151328" y="46256"/>
                  <a:pt x="147578" y="44113"/>
                </a:cubicBezTo>
                <a:lnTo>
                  <a:pt x="80903" y="6013"/>
                </a:lnTo>
                <a:close/>
                <a:moveTo>
                  <a:pt x="119062" y="61912"/>
                </a:moveTo>
                <a:lnTo>
                  <a:pt x="119062" y="123825"/>
                </a:lnTo>
                <a:lnTo>
                  <a:pt x="100013" y="123825"/>
                </a:lnTo>
                <a:lnTo>
                  <a:pt x="100013" y="61912"/>
                </a:lnTo>
                <a:lnTo>
                  <a:pt x="119062" y="61912"/>
                </a:lnTo>
                <a:close/>
                <a:moveTo>
                  <a:pt x="85725" y="61912"/>
                </a:moveTo>
                <a:lnTo>
                  <a:pt x="85725" y="123825"/>
                </a:lnTo>
                <a:lnTo>
                  <a:pt x="66675" y="123825"/>
                </a:lnTo>
                <a:lnTo>
                  <a:pt x="66675" y="61912"/>
                </a:lnTo>
                <a:lnTo>
                  <a:pt x="85725" y="61912"/>
                </a:lnTo>
                <a:close/>
                <a:moveTo>
                  <a:pt x="52388" y="61912"/>
                </a:moveTo>
                <a:lnTo>
                  <a:pt x="52388" y="123825"/>
                </a:lnTo>
                <a:lnTo>
                  <a:pt x="33338" y="123825"/>
                </a:lnTo>
                <a:lnTo>
                  <a:pt x="33338" y="61912"/>
                </a:lnTo>
                <a:lnTo>
                  <a:pt x="52388" y="61912"/>
                </a:lnTo>
                <a:close/>
                <a:moveTo>
                  <a:pt x="76200" y="28575"/>
                </a:moveTo>
                <a:cubicBezTo>
                  <a:pt x="81457" y="28575"/>
                  <a:pt x="85725" y="32843"/>
                  <a:pt x="85725" y="38100"/>
                </a:cubicBezTo>
                <a:cubicBezTo>
                  <a:pt x="85725" y="43357"/>
                  <a:pt x="81457" y="47625"/>
                  <a:pt x="76200" y="47625"/>
                </a:cubicBezTo>
                <a:cubicBezTo>
                  <a:pt x="70943" y="47625"/>
                  <a:pt x="66675" y="43357"/>
                  <a:pt x="66675" y="38100"/>
                </a:cubicBezTo>
                <a:cubicBezTo>
                  <a:pt x="66675" y="32843"/>
                  <a:pt x="70943" y="28575"/>
                  <a:pt x="76200" y="28575"/>
                </a:cubicBezTo>
                <a:close/>
              </a:path>
            </a:pathLst>
          </a:cu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/>
          <p:nvPr/>
        </p:nvSpPr>
        <p:spPr>
          <a:xfrm>
            <a:off x="8353725" y="2733675"/>
            <a:ext cx="3076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СПбГМТУ (мехатроника и робототехника)</a:t>
            </a:r>
            <a:endParaRPr b="0" i="0" sz="1600" u="none" cap="none" strike="noStrike"/>
          </a:p>
        </p:txBody>
      </p:sp>
      <p:sp>
        <p:nvSpPr>
          <p:cNvPr id="61" name="Google Shape;61;p5"/>
          <p:cNvSpPr/>
          <p:nvPr/>
        </p:nvSpPr>
        <p:spPr>
          <a:xfrm>
            <a:off x="8106050" y="3044338"/>
            <a:ext cx="190500" cy="152400"/>
          </a:xfrm>
          <a:custGeom>
            <a:rect b="b" l="l" r="r" t="t"/>
            <a:pathLst>
              <a:path extrusionOk="0" h="152400" w="190500">
                <a:moveTo>
                  <a:pt x="19050" y="28575"/>
                </a:moveTo>
                <a:cubicBezTo>
                  <a:pt x="19050" y="18068"/>
                  <a:pt x="27593" y="9525"/>
                  <a:pt x="38100" y="9525"/>
                </a:cubicBezTo>
                <a:lnTo>
                  <a:pt x="152400" y="9525"/>
                </a:lnTo>
                <a:cubicBezTo>
                  <a:pt x="162907" y="9525"/>
                  <a:pt x="171450" y="18068"/>
                  <a:pt x="171450" y="28575"/>
                </a:cubicBezTo>
                <a:lnTo>
                  <a:pt x="171450" y="100013"/>
                </a:lnTo>
                <a:lnTo>
                  <a:pt x="152400" y="100013"/>
                </a:lnTo>
                <a:lnTo>
                  <a:pt x="152400" y="28575"/>
                </a:lnTo>
                <a:lnTo>
                  <a:pt x="38100" y="28575"/>
                </a:lnTo>
                <a:lnTo>
                  <a:pt x="38100" y="100013"/>
                </a:lnTo>
                <a:lnTo>
                  <a:pt x="19050" y="100013"/>
                </a:lnTo>
                <a:lnTo>
                  <a:pt x="19050" y="28575"/>
                </a:lnTo>
                <a:close/>
                <a:moveTo>
                  <a:pt x="0" y="120015"/>
                </a:moveTo>
                <a:cubicBezTo>
                  <a:pt x="0" y="116860"/>
                  <a:pt x="2560" y="114300"/>
                  <a:pt x="5715" y="114300"/>
                </a:cubicBezTo>
                <a:lnTo>
                  <a:pt x="184785" y="114300"/>
                </a:lnTo>
                <a:cubicBezTo>
                  <a:pt x="187940" y="114300"/>
                  <a:pt x="190500" y="116860"/>
                  <a:pt x="190500" y="120015"/>
                </a:cubicBezTo>
                <a:cubicBezTo>
                  <a:pt x="190500" y="132636"/>
                  <a:pt x="180261" y="142875"/>
                  <a:pt x="167640" y="142875"/>
                </a:cubicBezTo>
                <a:lnTo>
                  <a:pt x="22860" y="142875"/>
                </a:lnTo>
                <a:cubicBezTo>
                  <a:pt x="10239" y="142875"/>
                  <a:pt x="0" y="132636"/>
                  <a:pt x="0" y="120015"/>
                </a:cubicBezTo>
                <a:close/>
                <a:moveTo>
                  <a:pt x="83641" y="62210"/>
                </a:moveTo>
                <a:lnTo>
                  <a:pt x="74414" y="71438"/>
                </a:lnTo>
                <a:lnTo>
                  <a:pt x="83641" y="80665"/>
                </a:lnTo>
                <a:cubicBezTo>
                  <a:pt x="86439" y="83463"/>
                  <a:pt x="86439" y="87987"/>
                  <a:pt x="83641" y="90755"/>
                </a:cubicBezTo>
                <a:cubicBezTo>
                  <a:pt x="80843" y="93524"/>
                  <a:pt x="76319" y="93553"/>
                  <a:pt x="73551" y="90755"/>
                </a:cubicBezTo>
                <a:lnTo>
                  <a:pt x="59263" y="76468"/>
                </a:lnTo>
                <a:cubicBezTo>
                  <a:pt x="56465" y="73670"/>
                  <a:pt x="56465" y="69146"/>
                  <a:pt x="59263" y="66377"/>
                </a:cubicBezTo>
                <a:lnTo>
                  <a:pt x="73551" y="52090"/>
                </a:lnTo>
                <a:cubicBezTo>
                  <a:pt x="76349" y="49292"/>
                  <a:pt x="80873" y="49292"/>
                  <a:pt x="83641" y="52090"/>
                </a:cubicBezTo>
                <a:cubicBezTo>
                  <a:pt x="86410" y="54888"/>
                  <a:pt x="86439" y="59412"/>
                  <a:pt x="83641" y="62180"/>
                </a:cubicBezTo>
                <a:close/>
                <a:moveTo>
                  <a:pt x="116979" y="52090"/>
                </a:moveTo>
                <a:lnTo>
                  <a:pt x="131266" y="66377"/>
                </a:lnTo>
                <a:cubicBezTo>
                  <a:pt x="134064" y="69175"/>
                  <a:pt x="134064" y="73700"/>
                  <a:pt x="131266" y="76468"/>
                </a:cubicBezTo>
                <a:lnTo>
                  <a:pt x="116979" y="90755"/>
                </a:lnTo>
                <a:cubicBezTo>
                  <a:pt x="114181" y="93553"/>
                  <a:pt x="109657" y="93553"/>
                  <a:pt x="106888" y="90755"/>
                </a:cubicBezTo>
                <a:cubicBezTo>
                  <a:pt x="104120" y="87957"/>
                  <a:pt x="104090" y="83433"/>
                  <a:pt x="106888" y="80665"/>
                </a:cubicBezTo>
                <a:lnTo>
                  <a:pt x="116116" y="71438"/>
                </a:lnTo>
                <a:lnTo>
                  <a:pt x="106888" y="62210"/>
                </a:lnTo>
                <a:cubicBezTo>
                  <a:pt x="104090" y="59412"/>
                  <a:pt x="104090" y="54888"/>
                  <a:pt x="106888" y="52120"/>
                </a:cubicBezTo>
                <a:cubicBezTo>
                  <a:pt x="109686" y="49351"/>
                  <a:pt x="114211" y="49322"/>
                  <a:pt x="116979" y="52120"/>
                </a:cubicBezTo>
                <a:close/>
              </a:path>
            </a:pathLst>
          </a:cu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5"/>
          <p:cNvSpPr/>
          <p:nvPr/>
        </p:nvSpPr>
        <p:spPr>
          <a:xfrm>
            <a:off x="8285400" y="5809875"/>
            <a:ext cx="360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Коммерческий опыт: разработка на </a:t>
            </a:r>
            <a:r>
              <a:rPr lang="en-US" sz="1200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Python</a:t>
            </a:r>
            <a:r>
              <a:rPr b="0" i="0" lang="en-US" sz="120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в ИКЦ СЭКТ</a:t>
            </a:r>
            <a:endParaRPr b="0" i="0" sz="1600" u="none" cap="none" strike="noStrike"/>
          </a:p>
        </p:txBody>
      </p:sp>
      <p:sp>
        <p:nvSpPr>
          <p:cNvPr id="63" name="Google Shape;63;p5"/>
          <p:cNvSpPr/>
          <p:nvPr/>
        </p:nvSpPr>
        <p:spPr>
          <a:xfrm>
            <a:off x="8072763" y="4373750"/>
            <a:ext cx="2209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Ефимов Владислав</a:t>
            </a:r>
            <a:endParaRPr b="0" i="0" sz="1600" u="none" cap="none" strike="noStrike"/>
          </a:p>
        </p:txBody>
      </p:sp>
      <p:sp>
        <p:nvSpPr>
          <p:cNvPr id="64" name="Google Shape;64;p5"/>
          <p:cNvSpPr/>
          <p:nvPr/>
        </p:nvSpPr>
        <p:spPr>
          <a:xfrm>
            <a:off x="8072763" y="4678550"/>
            <a:ext cx="21813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Дизайнер</a:t>
            </a:r>
            <a:endParaRPr b="0" i="0" sz="1600" u="none" cap="none" strike="noStrike"/>
          </a:p>
        </p:txBody>
      </p:sp>
      <p:sp>
        <p:nvSpPr>
          <p:cNvPr id="65" name="Google Shape;65;p5"/>
          <p:cNvSpPr/>
          <p:nvPr/>
        </p:nvSpPr>
        <p:spPr>
          <a:xfrm>
            <a:off x="8057051" y="5298850"/>
            <a:ext cx="152400" cy="152400"/>
          </a:xfrm>
          <a:custGeom>
            <a:rect b="b" l="l" r="r" t="t"/>
            <a:pathLst>
              <a:path extrusionOk="0" h="152400" w="152400">
                <a:moveTo>
                  <a:pt x="80933" y="6013"/>
                </a:moveTo>
                <a:cubicBezTo>
                  <a:pt x="78016" y="4346"/>
                  <a:pt x="74414" y="4346"/>
                  <a:pt x="71467" y="6013"/>
                </a:cubicBezTo>
                <a:lnTo>
                  <a:pt x="4792" y="44113"/>
                </a:lnTo>
                <a:cubicBezTo>
                  <a:pt x="1042" y="46256"/>
                  <a:pt x="-804" y="50661"/>
                  <a:pt x="298" y="54828"/>
                </a:cubicBezTo>
                <a:cubicBezTo>
                  <a:pt x="1399" y="58995"/>
                  <a:pt x="5209" y="61912"/>
                  <a:pt x="9525" y="61912"/>
                </a:cubicBezTo>
                <a:lnTo>
                  <a:pt x="19050" y="61912"/>
                </a:lnTo>
                <a:lnTo>
                  <a:pt x="19050" y="123825"/>
                </a:lnTo>
                <a:lnTo>
                  <a:pt x="19050" y="123825"/>
                </a:lnTo>
                <a:lnTo>
                  <a:pt x="3810" y="135255"/>
                </a:lnTo>
                <a:cubicBezTo>
                  <a:pt x="1399" y="137041"/>
                  <a:pt x="0" y="139869"/>
                  <a:pt x="0" y="142875"/>
                </a:cubicBezTo>
                <a:cubicBezTo>
                  <a:pt x="0" y="148144"/>
                  <a:pt x="4256" y="152400"/>
                  <a:pt x="9525" y="152400"/>
                </a:cubicBezTo>
                <a:lnTo>
                  <a:pt x="142875" y="152400"/>
                </a:lnTo>
                <a:cubicBezTo>
                  <a:pt x="148144" y="152400"/>
                  <a:pt x="152400" y="148144"/>
                  <a:pt x="152400" y="142875"/>
                </a:cubicBezTo>
                <a:cubicBezTo>
                  <a:pt x="152400" y="139869"/>
                  <a:pt x="151001" y="137041"/>
                  <a:pt x="148590" y="135255"/>
                </a:cubicBezTo>
                <a:lnTo>
                  <a:pt x="133350" y="123825"/>
                </a:lnTo>
                <a:lnTo>
                  <a:pt x="133350" y="61912"/>
                </a:lnTo>
                <a:lnTo>
                  <a:pt x="142875" y="61912"/>
                </a:lnTo>
                <a:cubicBezTo>
                  <a:pt x="147191" y="61912"/>
                  <a:pt x="150971" y="58995"/>
                  <a:pt x="152073" y="54828"/>
                </a:cubicBezTo>
                <a:cubicBezTo>
                  <a:pt x="153174" y="50661"/>
                  <a:pt x="151328" y="46256"/>
                  <a:pt x="147578" y="44113"/>
                </a:cubicBezTo>
                <a:lnTo>
                  <a:pt x="80903" y="6013"/>
                </a:lnTo>
                <a:close/>
                <a:moveTo>
                  <a:pt x="119062" y="61912"/>
                </a:moveTo>
                <a:lnTo>
                  <a:pt x="119062" y="123825"/>
                </a:lnTo>
                <a:lnTo>
                  <a:pt x="100013" y="123825"/>
                </a:lnTo>
                <a:lnTo>
                  <a:pt x="100013" y="61912"/>
                </a:lnTo>
                <a:lnTo>
                  <a:pt x="119062" y="61912"/>
                </a:lnTo>
                <a:close/>
                <a:moveTo>
                  <a:pt x="85725" y="61912"/>
                </a:moveTo>
                <a:lnTo>
                  <a:pt x="85725" y="123825"/>
                </a:lnTo>
                <a:lnTo>
                  <a:pt x="66675" y="123825"/>
                </a:lnTo>
                <a:lnTo>
                  <a:pt x="66675" y="61912"/>
                </a:lnTo>
                <a:lnTo>
                  <a:pt x="85725" y="61912"/>
                </a:lnTo>
                <a:close/>
                <a:moveTo>
                  <a:pt x="52388" y="61912"/>
                </a:moveTo>
                <a:lnTo>
                  <a:pt x="52388" y="123825"/>
                </a:lnTo>
                <a:lnTo>
                  <a:pt x="33338" y="123825"/>
                </a:lnTo>
                <a:lnTo>
                  <a:pt x="33338" y="61912"/>
                </a:lnTo>
                <a:lnTo>
                  <a:pt x="52388" y="61912"/>
                </a:lnTo>
                <a:close/>
                <a:moveTo>
                  <a:pt x="76200" y="28575"/>
                </a:moveTo>
                <a:cubicBezTo>
                  <a:pt x="81457" y="28575"/>
                  <a:pt x="85725" y="32843"/>
                  <a:pt x="85725" y="38100"/>
                </a:cubicBezTo>
                <a:cubicBezTo>
                  <a:pt x="85725" y="43357"/>
                  <a:pt x="81457" y="47625"/>
                  <a:pt x="76200" y="47625"/>
                </a:cubicBezTo>
                <a:cubicBezTo>
                  <a:pt x="70943" y="47625"/>
                  <a:pt x="66675" y="43357"/>
                  <a:pt x="66675" y="38100"/>
                </a:cubicBezTo>
                <a:cubicBezTo>
                  <a:pt x="66675" y="32843"/>
                  <a:pt x="70943" y="28575"/>
                  <a:pt x="76200" y="28575"/>
                </a:cubicBezTo>
                <a:close/>
              </a:path>
            </a:pathLst>
          </a:cu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5"/>
          <p:cNvSpPr/>
          <p:nvPr/>
        </p:nvSpPr>
        <p:spPr>
          <a:xfrm>
            <a:off x="8303937" y="5098100"/>
            <a:ext cx="3583200" cy="7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СПбГМТУ (мехатроника и робототехника), ИТМО (техническое зрение)</a:t>
            </a:r>
            <a:endParaRPr b="0" i="0" sz="1600" u="none" cap="none" strike="noStrike"/>
          </a:p>
        </p:txBody>
      </p:sp>
      <p:sp>
        <p:nvSpPr>
          <p:cNvPr id="67" name="Google Shape;67;p5"/>
          <p:cNvSpPr/>
          <p:nvPr/>
        </p:nvSpPr>
        <p:spPr>
          <a:xfrm>
            <a:off x="8372775" y="2924175"/>
            <a:ext cx="3305100" cy="59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Коммерческий опыт: разработка на </a:t>
            </a:r>
            <a:r>
              <a:rPr lang="en-US" sz="1200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Python, </a:t>
            </a:r>
            <a:r>
              <a:rPr b="0" i="0" lang="en-US" sz="120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C++ в Нониус Инжиниринг</a:t>
            </a:r>
            <a:endParaRPr b="0" i="0" sz="1600" u="none" cap="none" strike="noStrike"/>
          </a:p>
        </p:txBody>
      </p:sp>
      <p:pic>
        <p:nvPicPr>
          <p:cNvPr id="68" name="Google Shape;68;p5" title="photo_2026-04-04_23-34-31.jpg"/>
          <p:cNvPicPr preferRelativeResize="0"/>
          <p:nvPr/>
        </p:nvPicPr>
        <p:blipFill rotWithShape="1">
          <a:blip r:embed="rId3">
            <a:alphaModFix/>
          </a:blip>
          <a:srcRect b="8314" l="0" r="0" t="15547"/>
          <a:stretch/>
        </p:blipFill>
        <p:spPr>
          <a:xfrm>
            <a:off x="542050" y="1973926"/>
            <a:ext cx="1421700" cy="1443300"/>
          </a:xfrm>
          <a:prstGeom prst="ellipse">
            <a:avLst/>
          </a:prstGeom>
          <a:noFill/>
          <a:ln>
            <a:noFill/>
          </a:ln>
          <a:effectLst>
            <a:outerShdw blurRad="228600" rotWithShape="0" algn="bl">
              <a:srgbClr val="FFFFFF"/>
            </a:outerShdw>
          </a:effectLst>
        </p:spPr>
      </p:pic>
      <p:pic>
        <p:nvPicPr>
          <p:cNvPr id="69" name="Google Shape;69;p5" title="photo_2026-04-04_23-33-59.jpg"/>
          <p:cNvPicPr preferRelativeResize="0"/>
          <p:nvPr/>
        </p:nvPicPr>
        <p:blipFill rotWithShape="1">
          <a:blip r:embed="rId4">
            <a:alphaModFix/>
          </a:blip>
          <a:srcRect b="16857" l="0" r="0" t="8192"/>
          <a:stretch/>
        </p:blipFill>
        <p:spPr>
          <a:xfrm>
            <a:off x="6362063" y="1973925"/>
            <a:ext cx="1444500" cy="1443300"/>
          </a:xfrm>
          <a:prstGeom prst="ellipse">
            <a:avLst/>
          </a:prstGeom>
          <a:noFill/>
          <a:ln>
            <a:noFill/>
          </a:ln>
          <a:effectLst>
            <a:outerShdw blurRad="228600" rotWithShape="0" algn="bl">
              <a:srgbClr val="FFFFFF"/>
            </a:outerShdw>
          </a:effectLst>
        </p:spPr>
      </p:pic>
      <p:pic>
        <p:nvPicPr>
          <p:cNvPr id="70" name="Google Shape;70;p5" title="photo_2026-03-17_11-31-14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6300" y="4501200"/>
            <a:ext cx="1513200" cy="1513200"/>
          </a:xfrm>
          <a:prstGeom prst="ellipse">
            <a:avLst/>
          </a:prstGeom>
          <a:noFill/>
          <a:ln>
            <a:noFill/>
          </a:ln>
          <a:effectLst>
            <a:outerShdw blurRad="228600" rotWithShape="0" algn="bl">
              <a:srgbClr val="FFFFFF"/>
            </a:outerShdw>
          </a:effectLst>
        </p:spPr>
      </p:pic>
      <p:pic>
        <p:nvPicPr>
          <p:cNvPr id="71" name="Google Shape;71;p5" title="photo_2024-05-12_23-56-46.jp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31763" y="4505249"/>
            <a:ext cx="1505100" cy="1505100"/>
          </a:xfrm>
          <a:prstGeom prst="ellipse">
            <a:avLst/>
          </a:prstGeom>
          <a:noFill/>
          <a:ln>
            <a:noFill/>
          </a:ln>
          <a:effectLst>
            <a:outerShdw blurRad="228600" rotWithShape="0" algn="bl">
              <a:srgbClr val="FFFFFF"/>
            </a:outerShdw>
          </a:effectLst>
        </p:spPr>
      </p:pic>
      <p:sp>
        <p:nvSpPr>
          <p:cNvPr id="72" name="Google Shape;72;p5"/>
          <p:cNvSpPr/>
          <p:nvPr/>
        </p:nvSpPr>
        <p:spPr>
          <a:xfrm>
            <a:off x="8030563" y="5847963"/>
            <a:ext cx="190500" cy="152400"/>
          </a:xfrm>
          <a:custGeom>
            <a:rect b="b" l="l" r="r" t="t"/>
            <a:pathLst>
              <a:path extrusionOk="0" h="152400" w="190500">
                <a:moveTo>
                  <a:pt x="19050" y="28575"/>
                </a:moveTo>
                <a:cubicBezTo>
                  <a:pt x="19050" y="18068"/>
                  <a:pt x="27593" y="9525"/>
                  <a:pt x="38100" y="9525"/>
                </a:cubicBezTo>
                <a:lnTo>
                  <a:pt x="152400" y="9525"/>
                </a:lnTo>
                <a:cubicBezTo>
                  <a:pt x="162907" y="9525"/>
                  <a:pt x="171450" y="18068"/>
                  <a:pt x="171450" y="28575"/>
                </a:cubicBezTo>
                <a:lnTo>
                  <a:pt x="171450" y="100013"/>
                </a:lnTo>
                <a:lnTo>
                  <a:pt x="152400" y="100013"/>
                </a:lnTo>
                <a:lnTo>
                  <a:pt x="152400" y="28575"/>
                </a:lnTo>
                <a:lnTo>
                  <a:pt x="38100" y="28575"/>
                </a:lnTo>
                <a:lnTo>
                  <a:pt x="38100" y="100013"/>
                </a:lnTo>
                <a:lnTo>
                  <a:pt x="19050" y="100013"/>
                </a:lnTo>
                <a:lnTo>
                  <a:pt x="19050" y="28575"/>
                </a:lnTo>
                <a:close/>
                <a:moveTo>
                  <a:pt x="0" y="120015"/>
                </a:moveTo>
                <a:cubicBezTo>
                  <a:pt x="0" y="116860"/>
                  <a:pt x="2560" y="114300"/>
                  <a:pt x="5715" y="114300"/>
                </a:cubicBezTo>
                <a:lnTo>
                  <a:pt x="184785" y="114300"/>
                </a:lnTo>
                <a:cubicBezTo>
                  <a:pt x="187940" y="114300"/>
                  <a:pt x="190500" y="116860"/>
                  <a:pt x="190500" y="120015"/>
                </a:cubicBezTo>
                <a:cubicBezTo>
                  <a:pt x="190500" y="132636"/>
                  <a:pt x="180261" y="142875"/>
                  <a:pt x="167640" y="142875"/>
                </a:cubicBezTo>
                <a:lnTo>
                  <a:pt x="22860" y="142875"/>
                </a:lnTo>
                <a:cubicBezTo>
                  <a:pt x="10239" y="142875"/>
                  <a:pt x="0" y="132636"/>
                  <a:pt x="0" y="120015"/>
                </a:cubicBezTo>
                <a:close/>
                <a:moveTo>
                  <a:pt x="83641" y="62210"/>
                </a:moveTo>
                <a:lnTo>
                  <a:pt x="74414" y="71438"/>
                </a:lnTo>
                <a:lnTo>
                  <a:pt x="83641" y="80665"/>
                </a:lnTo>
                <a:cubicBezTo>
                  <a:pt x="86439" y="83463"/>
                  <a:pt x="86439" y="87987"/>
                  <a:pt x="83641" y="90755"/>
                </a:cubicBezTo>
                <a:cubicBezTo>
                  <a:pt x="80843" y="93524"/>
                  <a:pt x="76319" y="93553"/>
                  <a:pt x="73551" y="90755"/>
                </a:cubicBezTo>
                <a:lnTo>
                  <a:pt x="59263" y="76468"/>
                </a:lnTo>
                <a:cubicBezTo>
                  <a:pt x="56465" y="73670"/>
                  <a:pt x="56465" y="69146"/>
                  <a:pt x="59263" y="66377"/>
                </a:cubicBezTo>
                <a:lnTo>
                  <a:pt x="73551" y="52090"/>
                </a:lnTo>
                <a:cubicBezTo>
                  <a:pt x="76349" y="49292"/>
                  <a:pt x="80873" y="49292"/>
                  <a:pt x="83641" y="52090"/>
                </a:cubicBezTo>
                <a:cubicBezTo>
                  <a:pt x="86410" y="54888"/>
                  <a:pt x="86439" y="59412"/>
                  <a:pt x="83641" y="62180"/>
                </a:cubicBezTo>
                <a:close/>
                <a:moveTo>
                  <a:pt x="116979" y="52090"/>
                </a:moveTo>
                <a:lnTo>
                  <a:pt x="131266" y="66377"/>
                </a:lnTo>
                <a:cubicBezTo>
                  <a:pt x="134064" y="69175"/>
                  <a:pt x="134064" y="73700"/>
                  <a:pt x="131266" y="76468"/>
                </a:cubicBezTo>
                <a:lnTo>
                  <a:pt x="116979" y="90755"/>
                </a:lnTo>
                <a:cubicBezTo>
                  <a:pt x="114181" y="93553"/>
                  <a:pt x="109657" y="93553"/>
                  <a:pt x="106888" y="90755"/>
                </a:cubicBezTo>
                <a:cubicBezTo>
                  <a:pt x="104120" y="87957"/>
                  <a:pt x="104090" y="83433"/>
                  <a:pt x="106888" y="80665"/>
                </a:cubicBezTo>
                <a:lnTo>
                  <a:pt x="116116" y="71438"/>
                </a:lnTo>
                <a:lnTo>
                  <a:pt x="106888" y="62210"/>
                </a:lnTo>
                <a:cubicBezTo>
                  <a:pt x="104090" y="59412"/>
                  <a:pt x="104090" y="54888"/>
                  <a:pt x="106888" y="52120"/>
                </a:cubicBezTo>
                <a:cubicBezTo>
                  <a:pt x="109686" y="49351"/>
                  <a:pt x="114211" y="49322"/>
                  <a:pt x="116979" y="52120"/>
                </a:cubicBezTo>
                <a:close/>
              </a:path>
            </a:pathLst>
          </a:cu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6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ПРОБЛЕМА И </a:t>
            </a:r>
            <a:r>
              <a:rPr b="1" i="0" lang="en-US" sz="1200" u="none" cap="none" strike="noStrike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АУДИТОРИЯ</a:t>
            </a:r>
            <a:endParaRPr b="0" i="0" sz="1600" u="none" cap="none" strike="noStrike"/>
          </a:p>
        </p:txBody>
      </p:sp>
      <p:sp>
        <p:nvSpPr>
          <p:cNvPr id="79" name="Google Shape;79;p6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Разрыв между теорией и практикой</a:t>
            </a:r>
            <a:endParaRPr b="0" i="0" sz="1600" u="none" cap="none" strike="noStrike"/>
          </a:p>
        </p:txBody>
      </p:sp>
      <p:sp>
        <p:nvSpPr>
          <p:cNvPr id="80" name="Google Shape;80;p6"/>
          <p:cNvSpPr/>
          <p:nvPr/>
        </p:nvSpPr>
        <p:spPr>
          <a:xfrm>
            <a:off x="381000" y="1295400"/>
            <a:ext cx="914400" cy="57150"/>
          </a:xfrm>
          <a:custGeom>
            <a:rect b="b" l="l" r="r" t="t"/>
            <a:pathLst>
              <a:path extrusionOk="0" h="57150" w="914400">
                <a:moveTo>
                  <a:pt x="0" y="0"/>
                </a:moveTo>
                <a:lnTo>
                  <a:pt x="914400" y="0"/>
                </a:lnTo>
                <a:lnTo>
                  <a:pt x="9144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3B82F6"/>
              </a:gs>
              <a:gs pos="100000">
                <a:srgbClr val="22D3EE"/>
              </a:gs>
            </a:gsLst>
            <a:lin ang="0" scaled="0"/>
          </a:gradFill>
          <a:ln>
            <a:noFill/>
          </a:ln>
        </p:spPr>
      </p:sp>
      <p:sp>
        <p:nvSpPr>
          <p:cNvPr id="81" name="Google Shape;81;p6"/>
          <p:cNvSpPr/>
          <p:nvPr/>
        </p:nvSpPr>
        <p:spPr>
          <a:xfrm>
            <a:off x="385763" y="1585913"/>
            <a:ext cx="5553075" cy="3552825"/>
          </a:xfrm>
          <a:custGeom>
            <a:rect b="b" l="l" r="r" t="t"/>
            <a:pathLst>
              <a:path extrusionOk="0" h="3552825" w="5553075">
                <a:moveTo>
                  <a:pt x="152416" y="0"/>
                </a:moveTo>
                <a:lnTo>
                  <a:pt x="5400659" y="0"/>
                </a:lnTo>
                <a:cubicBezTo>
                  <a:pt x="5484836" y="0"/>
                  <a:pt x="5553075" y="68239"/>
                  <a:pt x="5553075" y="152416"/>
                </a:cubicBezTo>
                <a:lnTo>
                  <a:pt x="5553075" y="3400409"/>
                </a:lnTo>
                <a:cubicBezTo>
                  <a:pt x="5553075" y="3484586"/>
                  <a:pt x="5484836" y="3552825"/>
                  <a:pt x="5400659" y="3552825"/>
                </a:cubicBezTo>
                <a:lnTo>
                  <a:pt x="152416" y="3552825"/>
                </a:lnTo>
                <a:cubicBezTo>
                  <a:pt x="68239" y="3552825"/>
                  <a:pt x="0" y="3484586"/>
                  <a:pt x="0" y="3400409"/>
                </a:cubicBezTo>
                <a:lnTo>
                  <a:pt x="0" y="152416"/>
                </a:lnTo>
                <a:cubicBezTo>
                  <a:pt x="0" y="68295"/>
                  <a:pt x="68295" y="0"/>
                  <a:pt x="152416" y="0"/>
                </a:cubicBezTo>
                <a:close/>
              </a:path>
            </a:pathLst>
          </a:custGeom>
          <a:gradFill>
            <a:gsLst>
              <a:gs pos="0">
                <a:srgbClr val="1E293B"/>
              </a:gs>
              <a:gs pos="100000">
                <a:srgbClr val="0F172A"/>
              </a:gs>
            </a:gsLst>
            <a:lin ang="2700000" scaled="0"/>
          </a:gra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6"/>
          <p:cNvSpPr/>
          <p:nvPr/>
        </p:nvSpPr>
        <p:spPr>
          <a:xfrm>
            <a:off x="619125" y="1819275"/>
            <a:ext cx="457200" cy="457200"/>
          </a:xfrm>
          <a:custGeom>
            <a:rect b="b" l="l" r="r" t="t"/>
            <a:pathLst>
              <a:path extrusionOk="0" h="457200" w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>
            <a:gsLst>
              <a:gs pos="0">
                <a:srgbClr val="EF4444"/>
              </a:gs>
              <a:gs pos="100000">
                <a:srgbClr val="F97316"/>
              </a:gs>
            </a:gsLst>
            <a:lin ang="27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6"/>
          <p:cNvSpPr/>
          <p:nvPr/>
        </p:nvSpPr>
        <p:spPr>
          <a:xfrm>
            <a:off x="752475" y="1952625"/>
            <a:ext cx="190500" cy="190500"/>
          </a:xfrm>
          <a:custGeom>
            <a:rect b="b" l="l" r="r" t="t"/>
            <a:pathLst>
              <a:path extrusionOk="0" h="190500" w="190500">
                <a:moveTo>
                  <a:pt x="95250" y="0"/>
                </a:moveTo>
                <a:cubicBezTo>
                  <a:pt x="100719" y="0"/>
                  <a:pt x="105742" y="3014"/>
                  <a:pt x="108347" y="7813"/>
                </a:cubicBezTo>
                <a:lnTo>
                  <a:pt x="188714" y="156642"/>
                </a:lnTo>
                <a:cubicBezTo>
                  <a:pt x="191207" y="161255"/>
                  <a:pt x="191095" y="166836"/>
                  <a:pt x="188416" y="171338"/>
                </a:cubicBezTo>
                <a:cubicBezTo>
                  <a:pt x="185737" y="175840"/>
                  <a:pt x="180863" y="178594"/>
                  <a:pt x="175617" y="178594"/>
                </a:cubicBezTo>
                <a:lnTo>
                  <a:pt x="14883" y="178594"/>
                </a:lnTo>
                <a:cubicBezTo>
                  <a:pt x="9637" y="178594"/>
                  <a:pt x="4800" y="175840"/>
                  <a:pt x="2084" y="171338"/>
                </a:cubicBezTo>
                <a:cubicBezTo>
                  <a:pt x="-633" y="166836"/>
                  <a:pt x="-707" y="161255"/>
                  <a:pt x="1786" y="156642"/>
                </a:cubicBezTo>
                <a:lnTo>
                  <a:pt x="82153" y="7813"/>
                </a:lnTo>
                <a:cubicBezTo>
                  <a:pt x="84758" y="3014"/>
                  <a:pt x="89781" y="0"/>
                  <a:pt x="95250" y="0"/>
                </a:cubicBezTo>
                <a:close/>
                <a:moveTo>
                  <a:pt x="95250" y="62508"/>
                </a:moveTo>
                <a:cubicBezTo>
                  <a:pt x="90301" y="62508"/>
                  <a:pt x="86320" y="66489"/>
                  <a:pt x="86320" y="71438"/>
                </a:cubicBezTo>
                <a:lnTo>
                  <a:pt x="86320" y="113109"/>
                </a:lnTo>
                <a:cubicBezTo>
                  <a:pt x="86320" y="118058"/>
                  <a:pt x="90301" y="122039"/>
                  <a:pt x="95250" y="122039"/>
                </a:cubicBezTo>
                <a:cubicBezTo>
                  <a:pt x="100199" y="122039"/>
                  <a:pt x="104180" y="118058"/>
                  <a:pt x="104180" y="113109"/>
                </a:cubicBezTo>
                <a:lnTo>
                  <a:pt x="104180" y="71438"/>
                </a:lnTo>
                <a:cubicBezTo>
                  <a:pt x="104180" y="66489"/>
                  <a:pt x="100199" y="62508"/>
                  <a:pt x="95250" y="62508"/>
                </a:cubicBezTo>
                <a:close/>
                <a:moveTo>
                  <a:pt x="105184" y="142875"/>
                </a:moveTo>
                <a:cubicBezTo>
                  <a:pt x="105410" y="139188"/>
                  <a:pt x="103571" y="135679"/>
                  <a:pt x="100410" y="133767"/>
                </a:cubicBezTo>
                <a:cubicBezTo>
                  <a:pt x="97249" y="131855"/>
                  <a:pt x="93288" y="131855"/>
                  <a:pt x="90127" y="133767"/>
                </a:cubicBezTo>
                <a:cubicBezTo>
                  <a:pt x="86966" y="135679"/>
                  <a:pt x="85127" y="139188"/>
                  <a:pt x="85353" y="142875"/>
                </a:cubicBezTo>
                <a:cubicBezTo>
                  <a:pt x="85127" y="146562"/>
                  <a:pt x="86966" y="150071"/>
                  <a:pt x="90127" y="151983"/>
                </a:cubicBezTo>
                <a:cubicBezTo>
                  <a:pt x="93288" y="153895"/>
                  <a:pt x="97249" y="153895"/>
                  <a:pt x="100410" y="151983"/>
                </a:cubicBezTo>
                <a:cubicBezTo>
                  <a:pt x="103571" y="150071"/>
                  <a:pt x="105410" y="146562"/>
                  <a:pt x="105184" y="142875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6"/>
          <p:cNvSpPr/>
          <p:nvPr/>
        </p:nvSpPr>
        <p:spPr>
          <a:xfrm>
            <a:off x="1190625" y="1895475"/>
            <a:ext cx="2324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Ключевая проблема</a:t>
            </a:r>
            <a:endParaRPr b="0" i="0" sz="1600" u="none" cap="none" strike="noStrike"/>
          </a:p>
        </p:txBody>
      </p:sp>
      <p:sp>
        <p:nvSpPr>
          <p:cNvPr id="85" name="Google Shape;85;p6"/>
          <p:cNvSpPr/>
          <p:nvPr/>
        </p:nvSpPr>
        <p:spPr>
          <a:xfrm>
            <a:off x="619125" y="2428875"/>
            <a:ext cx="516255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Разрыв между теоретическим изучением IT и реальной профессиональной деятельностью. Школьники и студенты получают </a:t>
            </a:r>
            <a:r>
              <a:rPr b="0" i="0" lang="en-US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разрозненные знания </a:t>
            </a:r>
            <a:r>
              <a:rPr b="0" i="0" lang="en-US" sz="1200" u="none" cap="none" strike="noStrike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через курсы, видео и статьи, но не понимают, какие задачи решаются на практике.</a:t>
            </a:r>
            <a:endParaRPr b="0" i="0" sz="1600" u="none" cap="none" strike="noStrike"/>
          </a:p>
        </p:txBody>
      </p:sp>
      <p:sp>
        <p:nvSpPr>
          <p:cNvPr id="86" name="Google Shape;86;p6"/>
          <p:cNvSpPr/>
          <p:nvPr/>
        </p:nvSpPr>
        <p:spPr>
          <a:xfrm>
            <a:off x="623888" y="3576638"/>
            <a:ext cx="5076825" cy="1057275"/>
          </a:xfrm>
          <a:custGeom>
            <a:rect b="b" l="l" r="r" t="t"/>
            <a:pathLst>
              <a:path extrusionOk="0" h="1057275" w="5076825">
                <a:moveTo>
                  <a:pt x="114302" y="0"/>
                </a:moveTo>
                <a:lnTo>
                  <a:pt x="4962523" y="0"/>
                </a:lnTo>
                <a:cubicBezTo>
                  <a:pt x="5025650" y="0"/>
                  <a:pt x="5076825" y="51175"/>
                  <a:pt x="5076825" y="114302"/>
                </a:cubicBezTo>
                <a:lnTo>
                  <a:pt x="5076825" y="942973"/>
                </a:lnTo>
                <a:cubicBezTo>
                  <a:pt x="5076825" y="1006100"/>
                  <a:pt x="5025650" y="1057275"/>
                  <a:pt x="4962523" y="1057275"/>
                </a:cubicBezTo>
                <a:lnTo>
                  <a:pt x="114302" y="1057275"/>
                </a:lnTo>
                <a:cubicBezTo>
                  <a:pt x="51175" y="1057275"/>
                  <a:pt x="0" y="1006100"/>
                  <a:pt x="0" y="942973"/>
                </a:cubicBezTo>
                <a:lnTo>
                  <a:pt x="0" y="114302"/>
                </a:lnTo>
                <a:cubicBezTo>
                  <a:pt x="0" y="51175"/>
                  <a:pt x="51175" y="0"/>
                  <a:pt x="114302" y="0"/>
                </a:cubicBezTo>
                <a:close/>
              </a:path>
            </a:pathLst>
          </a:custGeom>
          <a:solidFill>
            <a:srgbClr val="0F172A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6"/>
          <p:cNvSpPr/>
          <p:nvPr/>
        </p:nvSpPr>
        <p:spPr>
          <a:xfrm>
            <a:off x="781050" y="3733800"/>
            <a:ext cx="48387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В результате пользователи испытывают трудности с </a:t>
            </a:r>
            <a:r>
              <a:rPr b="1" i="0" lang="en-US" sz="1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осознанным выбором профессии</a:t>
            </a:r>
            <a:r>
              <a:rPr b="0" i="0" lang="en-US" sz="120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и пониманием своей роли в IT-сфере.</a:t>
            </a:r>
            <a:endParaRPr b="0" i="0" sz="1600" u="none" cap="none" strike="noStrike"/>
          </a:p>
        </p:txBody>
      </p:sp>
      <p:sp>
        <p:nvSpPr>
          <p:cNvPr id="88" name="Google Shape;88;p6"/>
          <p:cNvSpPr/>
          <p:nvPr/>
        </p:nvSpPr>
        <p:spPr>
          <a:xfrm>
            <a:off x="385763" y="5376863"/>
            <a:ext cx="5553075" cy="1152525"/>
          </a:xfrm>
          <a:custGeom>
            <a:rect b="b" l="l" r="r" t="t"/>
            <a:pathLst>
              <a:path extrusionOk="0" h="1152525" w="5553075">
                <a:moveTo>
                  <a:pt x="152398" y="0"/>
                </a:moveTo>
                <a:lnTo>
                  <a:pt x="5400677" y="0"/>
                </a:lnTo>
                <a:cubicBezTo>
                  <a:pt x="5484844" y="0"/>
                  <a:pt x="5553075" y="68231"/>
                  <a:pt x="5553075" y="152398"/>
                </a:cubicBezTo>
                <a:lnTo>
                  <a:pt x="5553075" y="1000127"/>
                </a:lnTo>
                <a:cubicBezTo>
                  <a:pt x="5553075" y="1084294"/>
                  <a:pt x="5484844" y="1152525"/>
                  <a:pt x="5400677" y="1152525"/>
                </a:cubicBezTo>
                <a:lnTo>
                  <a:pt x="152398" y="1152525"/>
                </a:lnTo>
                <a:cubicBezTo>
                  <a:pt x="68231" y="1152525"/>
                  <a:pt x="0" y="1084294"/>
                  <a:pt x="0" y="1000127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gradFill>
            <a:gsLst>
              <a:gs pos="0">
                <a:srgbClr val="10B981">
                  <a:alpha val="20000"/>
                </a:srgbClr>
              </a:gs>
              <a:gs pos="100000">
                <a:srgbClr val="0F172A"/>
              </a:gs>
            </a:gsLst>
            <a:lin ang="2700000" scaled="0"/>
          </a:gradFill>
          <a:ln cap="flat" cmpd="sng" w="12700">
            <a:solidFill>
              <a:srgbClr val="10B981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6"/>
          <p:cNvSpPr/>
          <p:nvPr/>
        </p:nvSpPr>
        <p:spPr>
          <a:xfrm>
            <a:off x="585788" y="5838825"/>
            <a:ext cx="171450" cy="228600"/>
          </a:xfrm>
          <a:custGeom>
            <a:rect b="b" l="l" r="r" t="t"/>
            <a:pathLst>
              <a:path extrusionOk="0" h="228600" w="17145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6"/>
          <p:cNvSpPr/>
          <p:nvPr/>
        </p:nvSpPr>
        <p:spPr>
          <a:xfrm>
            <a:off x="873621" y="5572125"/>
            <a:ext cx="4953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Решение</a:t>
            </a:r>
            <a:endParaRPr b="0" i="0" sz="1600" u="none" cap="none" strike="noStrike"/>
          </a:p>
        </p:txBody>
      </p:sp>
      <p:sp>
        <p:nvSpPr>
          <p:cNvPr id="91" name="Google Shape;91;p6"/>
          <p:cNvSpPr/>
          <p:nvPr/>
        </p:nvSpPr>
        <p:spPr>
          <a:xfrm>
            <a:off x="873621" y="5876925"/>
            <a:ext cx="49434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Игра закрывает этот разрыв через моделирование реальных рабочих ситуаций и обучение через практику.</a:t>
            </a:r>
            <a:endParaRPr b="0" i="0" sz="1600" u="none" cap="none" strike="noStrike"/>
          </a:p>
        </p:txBody>
      </p:sp>
      <p:sp>
        <p:nvSpPr>
          <p:cNvPr id="92" name="Google Shape;92;p6"/>
          <p:cNvSpPr/>
          <p:nvPr/>
        </p:nvSpPr>
        <p:spPr>
          <a:xfrm>
            <a:off x="6253163" y="1585913"/>
            <a:ext cx="5553075" cy="2943225"/>
          </a:xfrm>
          <a:custGeom>
            <a:rect b="b" l="l" r="r" t="t"/>
            <a:pathLst>
              <a:path extrusionOk="0" h="2943225" w="5553075">
                <a:moveTo>
                  <a:pt x="152400" y="0"/>
                </a:moveTo>
                <a:lnTo>
                  <a:pt x="5400675" y="0"/>
                </a:lnTo>
                <a:cubicBezTo>
                  <a:pt x="5484843" y="0"/>
                  <a:pt x="5553075" y="68232"/>
                  <a:pt x="5553075" y="152400"/>
                </a:cubicBezTo>
                <a:lnTo>
                  <a:pt x="5553075" y="2790825"/>
                </a:lnTo>
                <a:cubicBezTo>
                  <a:pt x="5553075" y="2874993"/>
                  <a:pt x="5484843" y="2943225"/>
                  <a:pt x="5400675" y="2943225"/>
                </a:cubicBezTo>
                <a:lnTo>
                  <a:pt x="152400" y="2943225"/>
                </a:lnTo>
                <a:cubicBezTo>
                  <a:pt x="68232" y="2943225"/>
                  <a:pt x="0" y="2874993"/>
                  <a:pt x="0" y="2790825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gradFill>
            <a:gsLst>
              <a:gs pos="0">
                <a:srgbClr val="1E293B"/>
              </a:gs>
              <a:gs pos="100000">
                <a:srgbClr val="0F172A"/>
              </a:gs>
            </a:gsLst>
            <a:lin ang="2700000" scaled="0"/>
          </a:gra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6"/>
          <p:cNvSpPr/>
          <p:nvPr/>
        </p:nvSpPr>
        <p:spPr>
          <a:xfrm>
            <a:off x="6486525" y="1819275"/>
            <a:ext cx="457200" cy="457200"/>
          </a:xfrm>
          <a:custGeom>
            <a:rect b="b" l="l" r="r" t="t"/>
            <a:pathLst>
              <a:path extrusionOk="0" h="457200" w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>
            <a:gsLst>
              <a:gs pos="0">
                <a:srgbClr val="3B82F6"/>
              </a:gs>
              <a:gs pos="100000">
                <a:srgbClr val="22D3EE"/>
              </a:gs>
            </a:gsLst>
            <a:lin ang="27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6"/>
          <p:cNvSpPr/>
          <p:nvPr/>
        </p:nvSpPr>
        <p:spPr>
          <a:xfrm>
            <a:off x="6596063" y="1952625"/>
            <a:ext cx="238125" cy="190500"/>
          </a:xfrm>
          <a:custGeom>
            <a:rect b="b" l="l" r="r" t="t"/>
            <a:pathLst>
              <a:path extrusionOk="0" h="190500" w="238125">
                <a:moveTo>
                  <a:pt x="119063" y="5953"/>
                </a:moveTo>
                <a:cubicBezTo>
                  <a:pt x="140419" y="5953"/>
                  <a:pt x="157758" y="23292"/>
                  <a:pt x="157758" y="44648"/>
                </a:cubicBezTo>
                <a:cubicBezTo>
                  <a:pt x="157758" y="66005"/>
                  <a:pt x="140419" y="83344"/>
                  <a:pt x="119063" y="83344"/>
                </a:cubicBezTo>
                <a:cubicBezTo>
                  <a:pt x="97706" y="83344"/>
                  <a:pt x="80367" y="66005"/>
                  <a:pt x="80367" y="44648"/>
                </a:cubicBezTo>
                <a:cubicBezTo>
                  <a:pt x="80367" y="23292"/>
                  <a:pt x="97706" y="5953"/>
                  <a:pt x="119063" y="5953"/>
                </a:cubicBezTo>
                <a:close/>
                <a:moveTo>
                  <a:pt x="35719" y="32742"/>
                </a:moveTo>
                <a:cubicBezTo>
                  <a:pt x="50504" y="32742"/>
                  <a:pt x="62508" y="44746"/>
                  <a:pt x="62508" y="59531"/>
                </a:cubicBezTo>
                <a:cubicBezTo>
                  <a:pt x="62508" y="74317"/>
                  <a:pt x="50504" y="86320"/>
                  <a:pt x="35719" y="86320"/>
                </a:cubicBezTo>
                <a:cubicBezTo>
                  <a:pt x="20933" y="86320"/>
                  <a:pt x="8930" y="74317"/>
                  <a:pt x="8930" y="59531"/>
                </a:cubicBezTo>
                <a:cubicBezTo>
                  <a:pt x="8930" y="44746"/>
                  <a:pt x="20933" y="32742"/>
                  <a:pt x="35719" y="32742"/>
                </a:cubicBezTo>
                <a:close/>
                <a:moveTo>
                  <a:pt x="0" y="154781"/>
                </a:moveTo>
                <a:cubicBezTo>
                  <a:pt x="0" y="128476"/>
                  <a:pt x="21320" y="107156"/>
                  <a:pt x="47625" y="107156"/>
                </a:cubicBezTo>
                <a:cubicBezTo>
                  <a:pt x="52388" y="107156"/>
                  <a:pt x="57001" y="107863"/>
                  <a:pt x="61354" y="109165"/>
                </a:cubicBezTo>
                <a:cubicBezTo>
                  <a:pt x="49113" y="122858"/>
                  <a:pt x="41672" y="140940"/>
                  <a:pt x="41672" y="160734"/>
                </a:cubicBezTo>
                <a:lnTo>
                  <a:pt x="41672" y="166688"/>
                </a:lnTo>
                <a:cubicBezTo>
                  <a:pt x="41672" y="170929"/>
                  <a:pt x="42565" y="174947"/>
                  <a:pt x="44165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lnTo>
                  <a:pt x="0" y="154781"/>
                </a:lnTo>
                <a:close/>
                <a:moveTo>
                  <a:pt x="193960" y="178594"/>
                </a:moveTo>
                <a:cubicBezTo>
                  <a:pt x="195560" y="174947"/>
                  <a:pt x="196453" y="170929"/>
                  <a:pt x="196453" y="166688"/>
                </a:cubicBezTo>
                <a:lnTo>
                  <a:pt x="196453" y="160734"/>
                </a:lnTo>
                <a:cubicBezTo>
                  <a:pt x="196453" y="140940"/>
                  <a:pt x="189012" y="122858"/>
                  <a:pt x="176771" y="109165"/>
                </a:cubicBezTo>
                <a:cubicBezTo>
                  <a:pt x="181124" y="107863"/>
                  <a:pt x="185738" y="107156"/>
                  <a:pt x="190500" y="107156"/>
                </a:cubicBezTo>
                <a:cubicBezTo>
                  <a:pt x="216805" y="107156"/>
                  <a:pt x="238125" y="128476"/>
                  <a:pt x="238125" y="154781"/>
                </a:cubicBezTo>
                <a:lnTo>
                  <a:pt x="238125" y="166688"/>
                </a:lnTo>
                <a:cubicBezTo>
                  <a:pt x="238125" y="173273"/>
                  <a:pt x="232804" y="178594"/>
                  <a:pt x="226219" y="178594"/>
                </a:cubicBezTo>
                <a:lnTo>
                  <a:pt x="193960" y="178594"/>
                </a:lnTo>
                <a:close/>
                <a:moveTo>
                  <a:pt x="175617" y="59531"/>
                </a:moveTo>
                <a:cubicBezTo>
                  <a:pt x="175617" y="44746"/>
                  <a:pt x="187621" y="32742"/>
                  <a:pt x="202406" y="32742"/>
                </a:cubicBezTo>
                <a:cubicBezTo>
                  <a:pt x="217192" y="32742"/>
                  <a:pt x="229195" y="44746"/>
                  <a:pt x="229195" y="59531"/>
                </a:cubicBezTo>
                <a:cubicBezTo>
                  <a:pt x="229195" y="74317"/>
                  <a:pt x="217192" y="86320"/>
                  <a:pt x="202406" y="86320"/>
                </a:cubicBezTo>
                <a:cubicBezTo>
                  <a:pt x="187621" y="86320"/>
                  <a:pt x="175617" y="74317"/>
                  <a:pt x="175617" y="59531"/>
                </a:cubicBezTo>
                <a:close/>
                <a:moveTo>
                  <a:pt x="59531" y="160734"/>
                </a:moveTo>
                <a:cubicBezTo>
                  <a:pt x="59531" y="127843"/>
                  <a:pt x="86171" y="101203"/>
                  <a:pt x="119063" y="101203"/>
                </a:cubicBezTo>
                <a:cubicBezTo>
                  <a:pt x="151954" y="101203"/>
                  <a:pt x="178594" y="127843"/>
                  <a:pt x="178594" y="160734"/>
                </a:cubicBezTo>
                <a:lnTo>
                  <a:pt x="178594" y="166688"/>
                </a:lnTo>
                <a:cubicBezTo>
                  <a:pt x="178594" y="173273"/>
                  <a:pt x="173273" y="178594"/>
                  <a:pt x="166688" y="178594"/>
                </a:cubicBezTo>
                <a:lnTo>
                  <a:pt x="71438" y="178594"/>
                </a:lnTo>
                <a:cubicBezTo>
                  <a:pt x="64852" y="178594"/>
                  <a:pt x="59531" y="173273"/>
                  <a:pt x="59531" y="166688"/>
                </a:cubicBezTo>
                <a:lnTo>
                  <a:pt x="59531" y="16073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6"/>
          <p:cNvSpPr/>
          <p:nvPr/>
        </p:nvSpPr>
        <p:spPr>
          <a:xfrm>
            <a:off x="7058025" y="1895475"/>
            <a:ext cx="22574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Целевая аудитория</a:t>
            </a:r>
            <a:endParaRPr b="0" i="0" sz="1600" u="none" cap="none" strike="noStrike"/>
          </a:p>
        </p:txBody>
      </p:sp>
      <p:sp>
        <p:nvSpPr>
          <p:cNvPr id="96" name="Google Shape;96;p6"/>
          <p:cNvSpPr/>
          <p:nvPr/>
        </p:nvSpPr>
        <p:spPr>
          <a:xfrm>
            <a:off x="6491288" y="2433638"/>
            <a:ext cx="5076825" cy="847725"/>
          </a:xfrm>
          <a:custGeom>
            <a:rect b="b" l="l" r="r" t="t"/>
            <a:pathLst>
              <a:path extrusionOk="0" h="847725" w="5076825">
                <a:moveTo>
                  <a:pt x="114299" y="0"/>
                </a:moveTo>
                <a:lnTo>
                  <a:pt x="4962526" y="0"/>
                </a:lnTo>
                <a:cubicBezTo>
                  <a:pt x="5025652" y="0"/>
                  <a:pt x="5076825" y="51173"/>
                  <a:pt x="5076825" y="114299"/>
                </a:cubicBezTo>
                <a:lnTo>
                  <a:pt x="5076825" y="733426"/>
                </a:lnTo>
                <a:cubicBezTo>
                  <a:pt x="5076825" y="796552"/>
                  <a:pt x="5025652" y="847725"/>
                  <a:pt x="4962526" y="847725"/>
                </a:cubicBezTo>
                <a:lnTo>
                  <a:pt x="114299" y="847725"/>
                </a:lnTo>
                <a:cubicBezTo>
                  <a:pt x="51216" y="847725"/>
                  <a:pt x="0" y="796509"/>
                  <a:pt x="0" y="733426"/>
                </a:cubicBezTo>
                <a:lnTo>
                  <a:pt x="0" y="114299"/>
                </a:lnTo>
                <a:cubicBezTo>
                  <a:pt x="0" y="51216"/>
                  <a:pt x="51216" y="0"/>
                  <a:pt x="114299" y="0"/>
                </a:cubicBezTo>
                <a:close/>
              </a:path>
            </a:pathLst>
          </a:custGeom>
          <a:solidFill>
            <a:srgbClr val="0F172A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6"/>
          <p:cNvSpPr/>
          <p:nvPr/>
        </p:nvSpPr>
        <p:spPr>
          <a:xfrm>
            <a:off x="6648450" y="2590800"/>
            <a:ext cx="381000" cy="381000"/>
          </a:xfrm>
          <a:custGeom>
            <a:rect b="b" l="l" r="r" t="t"/>
            <a:pathLst>
              <a:path extrusionOk="0" h="381000" w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3B82F6"/>
              </a:gs>
              <a:gs pos="100000">
                <a:srgbClr val="22D3EE"/>
              </a:gs>
            </a:gsLst>
            <a:lin ang="27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6"/>
          <p:cNvSpPr/>
          <p:nvPr/>
        </p:nvSpPr>
        <p:spPr>
          <a:xfrm>
            <a:off x="6809333" y="2647950"/>
            <a:ext cx="1428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 b="0" i="0" sz="1600" u="none" cap="none" strike="noStrike"/>
          </a:p>
        </p:txBody>
      </p:sp>
      <p:sp>
        <p:nvSpPr>
          <p:cNvPr id="99" name="Google Shape;99;p6"/>
          <p:cNvSpPr/>
          <p:nvPr/>
        </p:nvSpPr>
        <p:spPr>
          <a:xfrm>
            <a:off x="7181850" y="2590800"/>
            <a:ext cx="32194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Школьники 9–11 классов</a:t>
            </a:r>
            <a:endParaRPr b="0" i="0" sz="1600" u="none" cap="none" strike="noStrike"/>
          </a:p>
        </p:txBody>
      </p:sp>
      <p:sp>
        <p:nvSpPr>
          <p:cNvPr id="100" name="Google Shape;100;p6"/>
          <p:cNvSpPr/>
          <p:nvPr/>
        </p:nvSpPr>
        <p:spPr>
          <a:xfrm>
            <a:off x="7181850" y="2895600"/>
            <a:ext cx="32099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На этапе выбора профессии и поступления</a:t>
            </a:r>
            <a:endParaRPr b="0" i="0" sz="1600" u="none" cap="none" strike="noStrike"/>
          </a:p>
        </p:txBody>
      </p:sp>
      <p:sp>
        <p:nvSpPr>
          <p:cNvPr id="101" name="Google Shape;101;p6"/>
          <p:cNvSpPr/>
          <p:nvPr/>
        </p:nvSpPr>
        <p:spPr>
          <a:xfrm>
            <a:off x="6491288" y="3443288"/>
            <a:ext cx="5076825" cy="847725"/>
          </a:xfrm>
          <a:custGeom>
            <a:rect b="b" l="l" r="r" t="t"/>
            <a:pathLst>
              <a:path extrusionOk="0" h="847725" w="5076825">
                <a:moveTo>
                  <a:pt x="114299" y="0"/>
                </a:moveTo>
                <a:lnTo>
                  <a:pt x="4962526" y="0"/>
                </a:lnTo>
                <a:cubicBezTo>
                  <a:pt x="5025652" y="0"/>
                  <a:pt x="5076825" y="51173"/>
                  <a:pt x="5076825" y="114299"/>
                </a:cubicBezTo>
                <a:lnTo>
                  <a:pt x="5076825" y="733426"/>
                </a:lnTo>
                <a:cubicBezTo>
                  <a:pt x="5076825" y="796552"/>
                  <a:pt x="5025652" y="847725"/>
                  <a:pt x="4962526" y="847725"/>
                </a:cubicBezTo>
                <a:lnTo>
                  <a:pt x="114299" y="847725"/>
                </a:lnTo>
                <a:cubicBezTo>
                  <a:pt x="51216" y="847725"/>
                  <a:pt x="0" y="796509"/>
                  <a:pt x="0" y="733426"/>
                </a:cubicBezTo>
                <a:lnTo>
                  <a:pt x="0" y="114299"/>
                </a:lnTo>
                <a:cubicBezTo>
                  <a:pt x="0" y="51216"/>
                  <a:pt x="51216" y="0"/>
                  <a:pt x="114299" y="0"/>
                </a:cubicBezTo>
                <a:close/>
              </a:path>
            </a:pathLst>
          </a:custGeom>
          <a:solidFill>
            <a:srgbClr val="0F172A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6"/>
          <p:cNvSpPr/>
          <p:nvPr/>
        </p:nvSpPr>
        <p:spPr>
          <a:xfrm>
            <a:off x="6648450" y="3600450"/>
            <a:ext cx="381000" cy="381000"/>
          </a:xfrm>
          <a:custGeom>
            <a:rect b="b" l="l" r="r" t="t"/>
            <a:pathLst>
              <a:path extrusionOk="0" h="381000" w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3B82F6"/>
              </a:gs>
              <a:gs pos="100000">
                <a:srgbClr val="22D3EE"/>
              </a:gs>
            </a:gsLst>
            <a:lin ang="27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6"/>
          <p:cNvSpPr/>
          <p:nvPr/>
        </p:nvSpPr>
        <p:spPr>
          <a:xfrm>
            <a:off x="6792813" y="3657600"/>
            <a:ext cx="1809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 b="0" i="0" sz="1600" u="none" cap="none" strike="noStrike"/>
          </a:p>
        </p:txBody>
      </p:sp>
      <p:sp>
        <p:nvSpPr>
          <p:cNvPr id="104" name="Google Shape;104;p6"/>
          <p:cNvSpPr/>
          <p:nvPr/>
        </p:nvSpPr>
        <p:spPr>
          <a:xfrm>
            <a:off x="7181850" y="3600450"/>
            <a:ext cx="24384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Студенты начальных курсов</a:t>
            </a:r>
            <a:endParaRPr b="0" i="0" sz="1600" u="none" cap="none" strike="noStrike"/>
          </a:p>
        </p:txBody>
      </p:sp>
      <p:sp>
        <p:nvSpPr>
          <p:cNvPr id="105" name="Google Shape;105;p6"/>
          <p:cNvSpPr/>
          <p:nvPr/>
        </p:nvSpPr>
        <p:spPr>
          <a:xfrm>
            <a:off x="7181850" y="3905250"/>
            <a:ext cx="24288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Ищут направление развития в IT</a:t>
            </a:r>
            <a:endParaRPr b="0" i="0" sz="1600" u="none" cap="none" strike="noStrike"/>
          </a:p>
        </p:txBody>
      </p:sp>
      <p:sp>
        <p:nvSpPr>
          <p:cNvPr id="106" name="Google Shape;106;p6"/>
          <p:cNvSpPr/>
          <p:nvPr/>
        </p:nvSpPr>
        <p:spPr>
          <a:xfrm>
            <a:off x="6253163" y="4767263"/>
            <a:ext cx="5553075" cy="1762125"/>
          </a:xfrm>
          <a:custGeom>
            <a:rect b="b" l="l" r="r" t="t"/>
            <a:pathLst>
              <a:path extrusionOk="0" h="1762125" w="5553075">
                <a:moveTo>
                  <a:pt x="152406" y="0"/>
                </a:moveTo>
                <a:lnTo>
                  <a:pt x="5400669" y="0"/>
                </a:lnTo>
                <a:cubicBezTo>
                  <a:pt x="5484840" y="0"/>
                  <a:pt x="5553075" y="68235"/>
                  <a:pt x="5553075" y="152406"/>
                </a:cubicBezTo>
                <a:lnTo>
                  <a:pt x="5553075" y="1609719"/>
                </a:lnTo>
                <a:cubicBezTo>
                  <a:pt x="5553075" y="1693890"/>
                  <a:pt x="5484840" y="1762125"/>
                  <a:pt x="5400669" y="1762125"/>
                </a:cubicBezTo>
                <a:lnTo>
                  <a:pt x="152406" y="1762125"/>
                </a:lnTo>
                <a:cubicBezTo>
                  <a:pt x="68235" y="1762125"/>
                  <a:pt x="0" y="1693890"/>
                  <a:pt x="0" y="1609719"/>
                </a:cubicBezTo>
                <a:lnTo>
                  <a:pt x="0" y="152406"/>
                </a:lnTo>
                <a:cubicBezTo>
                  <a:pt x="0" y="68291"/>
                  <a:pt x="68291" y="0"/>
                  <a:pt x="152406" y="0"/>
                </a:cubicBezTo>
                <a:close/>
              </a:path>
            </a:pathLst>
          </a:custGeom>
          <a:gradFill>
            <a:gsLst>
              <a:gs pos="0">
                <a:srgbClr val="1E293B"/>
              </a:gs>
              <a:gs pos="100000">
                <a:srgbClr val="0F172A"/>
              </a:gs>
            </a:gsLst>
            <a:lin ang="2700000" scaled="0"/>
          </a:gra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"/>
          <p:cNvSpPr/>
          <p:nvPr/>
        </p:nvSpPr>
        <p:spPr>
          <a:xfrm>
            <a:off x="6472238" y="5000625"/>
            <a:ext cx="190500" cy="190500"/>
          </a:xfrm>
          <a:custGeom>
            <a:rect b="b" l="l" r="r" t="t"/>
            <a:pathLst>
              <a:path extrusionOk="0" h="190500" w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95250" y="65484"/>
                </a:moveTo>
                <a:cubicBezTo>
                  <a:pt x="88664" y="65484"/>
                  <a:pt x="83344" y="70805"/>
                  <a:pt x="83344" y="77391"/>
                </a:cubicBezTo>
                <a:cubicBezTo>
                  <a:pt x="83344" y="82339"/>
                  <a:pt x="79363" y="86320"/>
                  <a:pt x="74414" y="86320"/>
                </a:cubicBezTo>
                <a:cubicBezTo>
                  <a:pt x="69466" y="86320"/>
                  <a:pt x="65484" y="82339"/>
                  <a:pt x="65484" y="77391"/>
                </a:cubicBezTo>
                <a:cubicBezTo>
                  <a:pt x="65484" y="60945"/>
                  <a:pt x="78804" y="47625"/>
                  <a:pt x="95250" y="47625"/>
                </a:cubicBezTo>
                <a:cubicBezTo>
                  <a:pt x="111696" y="47625"/>
                  <a:pt x="125016" y="60945"/>
                  <a:pt x="125016" y="77391"/>
                </a:cubicBezTo>
                <a:cubicBezTo>
                  <a:pt x="125016" y="94952"/>
                  <a:pt x="111621" y="102394"/>
                  <a:pt x="104180" y="105110"/>
                </a:cubicBezTo>
                <a:lnTo>
                  <a:pt x="104180" y="106524"/>
                </a:lnTo>
                <a:cubicBezTo>
                  <a:pt x="104180" y="111472"/>
                  <a:pt x="100199" y="115453"/>
                  <a:pt x="95250" y="115453"/>
                </a:cubicBezTo>
                <a:cubicBezTo>
                  <a:pt x="90301" y="115453"/>
                  <a:pt x="86320" y="111472"/>
                  <a:pt x="86320" y="106524"/>
                </a:cubicBezTo>
                <a:lnTo>
                  <a:pt x="86320" y="103510"/>
                </a:lnTo>
                <a:cubicBezTo>
                  <a:pt x="86320" y="95883"/>
                  <a:pt x="91827" y="90413"/>
                  <a:pt x="97520" y="88553"/>
                </a:cubicBezTo>
                <a:cubicBezTo>
                  <a:pt x="99901" y="87771"/>
                  <a:pt x="102431" y="86506"/>
                  <a:pt x="104291" y="84720"/>
                </a:cubicBezTo>
                <a:cubicBezTo>
                  <a:pt x="105891" y="83158"/>
                  <a:pt x="107156" y="81000"/>
                  <a:pt x="107156" y="77428"/>
                </a:cubicBezTo>
                <a:cubicBezTo>
                  <a:pt x="107156" y="70842"/>
                  <a:pt x="101836" y="65522"/>
                  <a:pt x="95250" y="65522"/>
                </a:cubicBezTo>
                <a:close/>
                <a:moveTo>
                  <a:pt x="83344" y="136922"/>
                </a:moveTo>
                <a:cubicBezTo>
                  <a:pt x="83344" y="130351"/>
                  <a:pt x="88679" y="125016"/>
                  <a:pt x="95250" y="125016"/>
                </a:cubicBezTo>
                <a:cubicBezTo>
                  <a:pt x="101821" y="125016"/>
                  <a:pt x="107156" y="130351"/>
                  <a:pt x="107156" y="136922"/>
                </a:cubicBezTo>
                <a:cubicBezTo>
                  <a:pt x="107156" y="143493"/>
                  <a:pt x="101821" y="148828"/>
                  <a:pt x="95250" y="148828"/>
                </a:cubicBezTo>
                <a:cubicBezTo>
                  <a:pt x="88679" y="148828"/>
                  <a:pt x="83344" y="143493"/>
                  <a:pt x="83344" y="136922"/>
                </a:cubicBezTo>
                <a:close/>
              </a:path>
            </a:pathLst>
          </a:custGeom>
          <a:solidFill>
            <a:srgbClr val="22D3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6"/>
          <p:cNvSpPr/>
          <p:nvPr/>
        </p:nvSpPr>
        <p:spPr>
          <a:xfrm>
            <a:off x="6800850" y="4962525"/>
            <a:ext cx="26955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Почему именно эта аудитория?</a:t>
            </a:r>
            <a:endParaRPr b="0" i="0" sz="1600" u="none" cap="none" strike="noStrike"/>
          </a:p>
        </p:txBody>
      </p:sp>
      <p:sp>
        <p:nvSpPr>
          <p:cNvPr id="109" name="Google Shape;109;p6"/>
          <p:cNvSpPr/>
          <p:nvPr/>
        </p:nvSpPr>
        <p:spPr>
          <a:xfrm>
            <a:off x="6448425" y="5343525"/>
            <a:ext cx="523875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Именно на этом этапе формируется профессиональная траектория. У пользователей отсутствует практический опыт, и игра позволяет быстро и наглядно получить представление о профессии в формате </a:t>
            </a:r>
            <a:r>
              <a:rPr b="1" i="0" lang="en-US" sz="1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интерактивного опыта</a:t>
            </a:r>
            <a:r>
              <a:rPr b="0" i="0" lang="en-US" sz="120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7"/>
          <p:cNvSpPr/>
          <p:nvPr/>
        </p:nvSpPr>
        <p:spPr>
          <a:xfrm>
            <a:off x="367783" y="367783"/>
            <a:ext cx="11529991" cy="2206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8" u="none" cap="none" strike="noStrike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КОНЦЕПЦИЯ РЕШЕНИЯ</a:t>
            </a:r>
            <a:endParaRPr b="0" i="0" sz="1600" u="none" cap="none" strike="noStrike"/>
          </a:p>
        </p:txBody>
      </p:sp>
      <p:sp>
        <p:nvSpPr>
          <p:cNvPr id="116" name="Google Shape;116;p7"/>
          <p:cNvSpPr/>
          <p:nvPr/>
        </p:nvSpPr>
        <p:spPr>
          <a:xfrm>
            <a:off x="367783" y="662009"/>
            <a:ext cx="11677104" cy="44133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75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DevOps Startup</a:t>
            </a:r>
            <a:endParaRPr b="0" i="0" sz="1600" u="none" cap="none" strike="noStrike"/>
          </a:p>
        </p:txBody>
      </p:sp>
      <p:sp>
        <p:nvSpPr>
          <p:cNvPr id="117" name="Google Shape;117;p7"/>
          <p:cNvSpPr/>
          <p:nvPr/>
        </p:nvSpPr>
        <p:spPr>
          <a:xfrm>
            <a:off x="367783" y="1250462"/>
            <a:ext cx="882679" cy="55167"/>
          </a:xfrm>
          <a:custGeom>
            <a:rect b="b" l="l" r="r" t="t"/>
            <a:pathLst>
              <a:path extrusionOk="0" h="55167" w="882679">
                <a:moveTo>
                  <a:pt x="0" y="0"/>
                </a:moveTo>
                <a:lnTo>
                  <a:pt x="882679" y="0"/>
                </a:lnTo>
                <a:lnTo>
                  <a:pt x="882679" y="55167"/>
                </a:lnTo>
                <a:lnTo>
                  <a:pt x="0" y="55167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3B82F6"/>
              </a:gs>
              <a:gs pos="100000">
                <a:srgbClr val="22D3EE"/>
              </a:gs>
            </a:gsLst>
            <a:lin ang="0" scaled="0"/>
          </a:gradFill>
          <a:ln>
            <a:noFill/>
          </a:ln>
        </p:spPr>
      </p:sp>
      <p:sp>
        <p:nvSpPr>
          <p:cNvPr id="118" name="Google Shape;118;p7"/>
          <p:cNvSpPr/>
          <p:nvPr/>
        </p:nvSpPr>
        <p:spPr>
          <a:xfrm>
            <a:off x="372380" y="1530896"/>
            <a:ext cx="7557937" cy="3981249"/>
          </a:xfrm>
          <a:custGeom>
            <a:rect b="b" l="l" r="r" t="t"/>
            <a:pathLst>
              <a:path extrusionOk="0" h="3981249" w="7557937">
                <a:moveTo>
                  <a:pt x="147107" y="0"/>
                </a:moveTo>
                <a:lnTo>
                  <a:pt x="7410830" y="0"/>
                </a:lnTo>
                <a:cubicBezTo>
                  <a:pt x="7492075" y="0"/>
                  <a:pt x="7557937" y="65862"/>
                  <a:pt x="7557937" y="147107"/>
                </a:cubicBezTo>
                <a:lnTo>
                  <a:pt x="7557937" y="3834142"/>
                </a:lnTo>
                <a:cubicBezTo>
                  <a:pt x="7557937" y="3915387"/>
                  <a:pt x="7492075" y="3981249"/>
                  <a:pt x="7410830" y="3981249"/>
                </a:cubicBezTo>
                <a:lnTo>
                  <a:pt x="147107" y="3981249"/>
                </a:lnTo>
                <a:cubicBezTo>
                  <a:pt x="65862" y="3981249"/>
                  <a:pt x="0" y="3915387"/>
                  <a:pt x="0" y="3834142"/>
                </a:cubicBezTo>
                <a:lnTo>
                  <a:pt x="0" y="147107"/>
                </a:lnTo>
                <a:cubicBezTo>
                  <a:pt x="0" y="65917"/>
                  <a:pt x="65917" y="0"/>
                  <a:pt x="147107" y="0"/>
                </a:cubicBezTo>
                <a:close/>
              </a:path>
            </a:pathLst>
          </a:custGeom>
          <a:gradFill>
            <a:gsLst>
              <a:gs pos="0">
                <a:srgbClr val="1E293B"/>
              </a:gs>
              <a:gs pos="100000">
                <a:srgbClr val="0F172A"/>
              </a:gs>
            </a:gsLst>
            <a:lin ang="2700000" scaled="0"/>
          </a:gra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7"/>
          <p:cNvSpPr/>
          <p:nvPr/>
        </p:nvSpPr>
        <p:spPr>
          <a:xfrm>
            <a:off x="597647" y="1756163"/>
            <a:ext cx="441339" cy="441339"/>
          </a:xfrm>
          <a:custGeom>
            <a:rect b="b" l="l" r="r" t="t"/>
            <a:pathLst>
              <a:path extrusionOk="0" h="441339" w="441339">
                <a:moveTo>
                  <a:pt x="110335" y="0"/>
                </a:moveTo>
                <a:lnTo>
                  <a:pt x="331005" y="0"/>
                </a:lnTo>
                <a:cubicBezTo>
                  <a:pt x="391900" y="0"/>
                  <a:pt x="441339" y="49439"/>
                  <a:pt x="441339" y="110335"/>
                </a:cubicBezTo>
                <a:lnTo>
                  <a:pt x="441339" y="331005"/>
                </a:lnTo>
                <a:cubicBezTo>
                  <a:pt x="441339" y="391941"/>
                  <a:pt x="391941" y="441339"/>
                  <a:pt x="331005" y="441339"/>
                </a:cubicBezTo>
                <a:lnTo>
                  <a:pt x="110335" y="441339"/>
                </a:lnTo>
                <a:cubicBezTo>
                  <a:pt x="49399" y="441339"/>
                  <a:pt x="0" y="391941"/>
                  <a:pt x="0" y="331005"/>
                </a:cubicBezTo>
                <a:lnTo>
                  <a:pt x="0" y="110335"/>
                </a:lnTo>
                <a:cubicBezTo>
                  <a:pt x="0" y="49439"/>
                  <a:pt x="49439" y="0"/>
                  <a:pt x="110335" y="0"/>
                </a:cubicBezTo>
                <a:close/>
              </a:path>
            </a:pathLst>
          </a:custGeom>
          <a:gradFill>
            <a:gsLst>
              <a:gs pos="0">
                <a:srgbClr val="3B82F6"/>
              </a:gs>
              <a:gs pos="100000">
                <a:srgbClr val="22D3EE"/>
              </a:gs>
            </a:gsLst>
            <a:lin ang="27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7"/>
          <p:cNvSpPr/>
          <p:nvPr/>
        </p:nvSpPr>
        <p:spPr>
          <a:xfrm>
            <a:off x="726371" y="1884887"/>
            <a:ext cx="183891" cy="183891"/>
          </a:xfrm>
          <a:custGeom>
            <a:rect b="b" l="l" r="r" t="t"/>
            <a:pathLst>
              <a:path extrusionOk="0" h="183891" w="183891">
                <a:moveTo>
                  <a:pt x="45973" y="114932"/>
                </a:moveTo>
                <a:lnTo>
                  <a:pt x="8799" y="114932"/>
                </a:lnTo>
                <a:cubicBezTo>
                  <a:pt x="-144" y="114932"/>
                  <a:pt x="-5639" y="105199"/>
                  <a:pt x="-1042" y="97513"/>
                </a:cubicBezTo>
                <a:lnTo>
                  <a:pt x="17958" y="65835"/>
                </a:lnTo>
                <a:cubicBezTo>
                  <a:pt x="21083" y="60627"/>
                  <a:pt x="26686" y="57466"/>
                  <a:pt x="32756" y="57466"/>
                </a:cubicBezTo>
                <a:lnTo>
                  <a:pt x="66876" y="57466"/>
                </a:lnTo>
                <a:cubicBezTo>
                  <a:pt x="94208" y="11170"/>
                  <a:pt x="134973" y="8835"/>
                  <a:pt x="162234" y="12822"/>
                </a:cubicBezTo>
                <a:cubicBezTo>
                  <a:pt x="166831" y="13505"/>
                  <a:pt x="170423" y="17096"/>
                  <a:pt x="171069" y="21658"/>
                </a:cubicBezTo>
                <a:cubicBezTo>
                  <a:pt x="175056" y="48918"/>
                  <a:pt x="172721" y="89683"/>
                  <a:pt x="126425" y="117015"/>
                </a:cubicBezTo>
                <a:lnTo>
                  <a:pt x="126425" y="151136"/>
                </a:lnTo>
                <a:cubicBezTo>
                  <a:pt x="126425" y="157206"/>
                  <a:pt x="123265" y="162809"/>
                  <a:pt x="118057" y="165933"/>
                </a:cubicBezTo>
                <a:lnTo>
                  <a:pt x="86379" y="184933"/>
                </a:lnTo>
                <a:cubicBezTo>
                  <a:pt x="78729" y="189530"/>
                  <a:pt x="68959" y="183999"/>
                  <a:pt x="68959" y="175092"/>
                </a:cubicBezTo>
                <a:lnTo>
                  <a:pt x="68959" y="137919"/>
                </a:lnTo>
                <a:cubicBezTo>
                  <a:pt x="68959" y="125240"/>
                  <a:pt x="58651" y="114932"/>
                  <a:pt x="45973" y="114932"/>
                </a:cubicBezTo>
                <a:lnTo>
                  <a:pt x="45937" y="114932"/>
                </a:lnTo>
                <a:close/>
                <a:moveTo>
                  <a:pt x="143665" y="57466"/>
                </a:moveTo>
                <a:cubicBezTo>
                  <a:pt x="143665" y="47951"/>
                  <a:pt x="135940" y="40226"/>
                  <a:pt x="126425" y="40226"/>
                </a:cubicBezTo>
                <a:cubicBezTo>
                  <a:pt x="116910" y="40226"/>
                  <a:pt x="109186" y="47951"/>
                  <a:pt x="109186" y="57466"/>
                </a:cubicBezTo>
                <a:cubicBezTo>
                  <a:pt x="109186" y="66981"/>
                  <a:pt x="116910" y="74706"/>
                  <a:pt x="126425" y="74706"/>
                </a:cubicBezTo>
                <a:cubicBezTo>
                  <a:pt x="135940" y="74706"/>
                  <a:pt x="143665" y="66981"/>
                  <a:pt x="143665" y="5746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7"/>
          <p:cNvSpPr/>
          <p:nvPr/>
        </p:nvSpPr>
        <p:spPr>
          <a:xfrm>
            <a:off x="1149321" y="1829719"/>
            <a:ext cx="2960652" cy="2942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38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Что такое DevOps Startup?</a:t>
            </a:r>
            <a:endParaRPr b="0" i="0" sz="1600" u="none" cap="none" strike="noStrike"/>
          </a:p>
        </p:txBody>
      </p:sp>
      <p:sp>
        <p:nvSpPr>
          <p:cNvPr id="122" name="Google Shape;122;p7"/>
          <p:cNvSpPr/>
          <p:nvPr/>
        </p:nvSpPr>
        <p:spPr>
          <a:xfrm>
            <a:off x="597647" y="2344615"/>
            <a:ext cx="7180959" cy="4781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8" u="none" cap="none" strike="noStrike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Образовательная игра, в которой пользователь за короткое время </a:t>
            </a:r>
            <a:r>
              <a:rPr b="0" i="0" lang="en-US" sz="1158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проживает процесс работы DevOps-инженера </a:t>
            </a:r>
            <a:r>
              <a:rPr b="0" i="0" lang="en-US" sz="1158" u="none" cap="none" strike="noStrike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, принимая решения и видя их влияние на цифровой продукт.</a:t>
            </a:r>
            <a:endParaRPr b="0" i="0" sz="1600" u="none" cap="none" strike="noStrike"/>
          </a:p>
        </p:txBody>
      </p:sp>
      <p:sp>
        <p:nvSpPr>
          <p:cNvPr id="123" name="Google Shape;123;p7"/>
          <p:cNvSpPr/>
          <p:nvPr/>
        </p:nvSpPr>
        <p:spPr>
          <a:xfrm>
            <a:off x="602244" y="2974443"/>
            <a:ext cx="3466353" cy="2307837"/>
          </a:xfrm>
          <a:custGeom>
            <a:rect b="b" l="l" r="r" t="t"/>
            <a:pathLst>
              <a:path extrusionOk="0" h="2307837" w="3466353">
                <a:moveTo>
                  <a:pt x="110338" y="0"/>
                </a:moveTo>
                <a:lnTo>
                  <a:pt x="3356015" y="0"/>
                </a:lnTo>
                <a:cubicBezTo>
                  <a:pt x="3416953" y="0"/>
                  <a:pt x="3466353" y="49400"/>
                  <a:pt x="3466353" y="110338"/>
                </a:cubicBezTo>
                <a:lnTo>
                  <a:pt x="3466353" y="2197499"/>
                </a:lnTo>
                <a:cubicBezTo>
                  <a:pt x="3466353" y="2258437"/>
                  <a:pt x="3416953" y="2307837"/>
                  <a:pt x="3356015" y="2307837"/>
                </a:cubicBezTo>
                <a:lnTo>
                  <a:pt x="110338" y="2307837"/>
                </a:lnTo>
                <a:cubicBezTo>
                  <a:pt x="49400" y="2307837"/>
                  <a:pt x="0" y="2258437"/>
                  <a:pt x="0" y="2197499"/>
                </a:cubicBezTo>
                <a:lnTo>
                  <a:pt x="0" y="110338"/>
                </a:lnTo>
                <a:cubicBezTo>
                  <a:pt x="0" y="49441"/>
                  <a:pt x="49441" y="0"/>
                  <a:pt x="110338" y="0"/>
                </a:cubicBezTo>
                <a:close/>
              </a:path>
            </a:pathLst>
          </a:custGeom>
          <a:solidFill>
            <a:srgbClr val="0F172A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7"/>
          <p:cNvSpPr/>
          <p:nvPr/>
        </p:nvSpPr>
        <p:spPr>
          <a:xfrm>
            <a:off x="766597" y="3172127"/>
            <a:ext cx="186190" cy="165502"/>
          </a:xfrm>
          <a:custGeom>
            <a:rect b="b" l="l" r="r" t="t"/>
            <a:pathLst>
              <a:path extrusionOk="0" h="165502" w="186190">
                <a:moveTo>
                  <a:pt x="100045" y="-6109"/>
                </a:moveTo>
                <a:cubicBezTo>
                  <a:pt x="98720" y="-8695"/>
                  <a:pt x="96037" y="-10344"/>
                  <a:pt x="93127" y="-10344"/>
                </a:cubicBezTo>
                <a:cubicBezTo>
                  <a:pt x="90218" y="-10344"/>
                  <a:pt x="87535" y="-8695"/>
                  <a:pt x="86210" y="-6109"/>
                </a:cubicBezTo>
                <a:lnTo>
                  <a:pt x="62419" y="40503"/>
                </a:lnTo>
                <a:lnTo>
                  <a:pt x="10732" y="48713"/>
                </a:lnTo>
                <a:cubicBezTo>
                  <a:pt x="7855" y="49166"/>
                  <a:pt x="5463" y="51202"/>
                  <a:pt x="4558" y="53982"/>
                </a:cubicBezTo>
                <a:cubicBezTo>
                  <a:pt x="3653" y="56762"/>
                  <a:pt x="4396" y="59801"/>
                  <a:pt x="6433" y="61869"/>
                </a:cubicBezTo>
                <a:lnTo>
                  <a:pt x="43412" y="98881"/>
                </a:lnTo>
                <a:lnTo>
                  <a:pt x="35266" y="150568"/>
                </a:lnTo>
                <a:cubicBezTo>
                  <a:pt x="34814" y="153445"/>
                  <a:pt x="36010" y="156354"/>
                  <a:pt x="38369" y="158068"/>
                </a:cubicBezTo>
                <a:cubicBezTo>
                  <a:pt x="40729" y="159781"/>
                  <a:pt x="43832" y="160039"/>
                  <a:pt x="46451" y="158714"/>
                </a:cubicBezTo>
                <a:lnTo>
                  <a:pt x="93127" y="134988"/>
                </a:lnTo>
                <a:lnTo>
                  <a:pt x="139772" y="158714"/>
                </a:lnTo>
                <a:cubicBezTo>
                  <a:pt x="142358" y="160039"/>
                  <a:pt x="145493" y="159781"/>
                  <a:pt x="147853" y="158068"/>
                </a:cubicBezTo>
                <a:cubicBezTo>
                  <a:pt x="150213" y="156354"/>
                  <a:pt x="151409" y="153477"/>
                  <a:pt x="150956" y="150568"/>
                </a:cubicBezTo>
                <a:lnTo>
                  <a:pt x="142778" y="98881"/>
                </a:lnTo>
                <a:lnTo>
                  <a:pt x="179757" y="61869"/>
                </a:lnTo>
                <a:cubicBezTo>
                  <a:pt x="181826" y="59801"/>
                  <a:pt x="182537" y="56762"/>
                  <a:pt x="181632" y="53982"/>
                </a:cubicBezTo>
                <a:cubicBezTo>
                  <a:pt x="180727" y="51202"/>
                  <a:pt x="178367" y="49166"/>
                  <a:pt x="175458" y="48713"/>
                </a:cubicBezTo>
                <a:lnTo>
                  <a:pt x="123803" y="40503"/>
                </a:lnTo>
                <a:lnTo>
                  <a:pt x="100045" y="-6109"/>
                </a:lnTo>
                <a:close/>
              </a:path>
            </a:pathLst>
          </a:cu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7"/>
          <p:cNvSpPr/>
          <p:nvPr/>
        </p:nvSpPr>
        <p:spPr>
          <a:xfrm>
            <a:off x="1034389" y="3126154"/>
            <a:ext cx="1553882" cy="257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3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Ключевое отличие</a:t>
            </a:r>
            <a:endParaRPr b="0" i="0" sz="1600" u="none" cap="none" strike="noStrike"/>
          </a:p>
        </p:txBody>
      </p:sp>
      <p:sp>
        <p:nvSpPr>
          <p:cNvPr id="126" name="Google Shape;126;p7"/>
          <p:cNvSpPr/>
          <p:nvPr/>
        </p:nvSpPr>
        <p:spPr>
          <a:xfrm>
            <a:off x="753955" y="3457158"/>
            <a:ext cx="3236489" cy="119529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8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Это не просто обучение или симуляция — игрок принимает </a:t>
            </a:r>
            <a:r>
              <a:rPr b="1" i="0" lang="en-US" sz="1158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реальные инженерные и управленческие решения</a:t>
            </a:r>
            <a:r>
              <a:rPr b="0" i="0" lang="en-US" sz="1158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в условиях ограничений (сроки, стабильность, ресурсы) и сразу видит их последствия.</a:t>
            </a:r>
            <a:endParaRPr b="0" i="0" sz="1600" u="none" cap="none" strike="noStrike"/>
          </a:p>
        </p:txBody>
      </p:sp>
      <p:sp>
        <p:nvSpPr>
          <p:cNvPr id="127" name="Google Shape;127;p7"/>
          <p:cNvSpPr/>
          <p:nvPr/>
        </p:nvSpPr>
        <p:spPr>
          <a:xfrm>
            <a:off x="4228640" y="2974443"/>
            <a:ext cx="3466353" cy="2307837"/>
          </a:xfrm>
          <a:custGeom>
            <a:rect b="b" l="l" r="r" t="t"/>
            <a:pathLst>
              <a:path extrusionOk="0" h="2307837" w="3466353">
                <a:moveTo>
                  <a:pt x="110338" y="0"/>
                </a:moveTo>
                <a:lnTo>
                  <a:pt x="3356015" y="0"/>
                </a:lnTo>
                <a:cubicBezTo>
                  <a:pt x="3416953" y="0"/>
                  <a:pt x="3466353" y="49400"/>
                  <a:pt x="3466353" y="110338"/>
                </a:cubicBezTo>
                <a:lnTo>
                  <a:pt x="3466353" y="2197499"/>
                </a:lnTo>
                <a:cubicBezTo>
                  <a:pt x="3466353" y="2258437"/>
                  <a:pt x="3416953" y="2307837"/>
                  <a:pt x="3356015" y="2307837"/>
                </a:cubicBezTo>
                <a:lnTo>
                  <a:pt x="110338" y="2307837"/>
                </a:lnTo>
                <a:cubicBezTo>
                  <a:pt x="49400" y="2307837"/>
                  <a:pt x="0" y="2258437"/>
                  <a:pt x="0" y="2197499"/>
                </a:cubicBezTo>
                <a:lnTo>
                  <a:pt x="0" y="110338"/>
                </a:lnTo>
                <a:cubicBezTo>
                  <a:pt x="0" y="49441"/>
                  <a:pt x="49441" y="0"/>
                  <a:pt x="110338" y="0"/>
                </a:cubicBezTo>
                <a:close/>
              </a:path>
            </a:pathLst>
          </a:custGeom>
          <a:solidFill>
            <a:srgbClr val="0F172A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7"/>
          <p:cNvSpPr/>
          <p:nvPr/>
        </p:nvSpPr>
        <p:spPr>
          <a:xfrm>
            <a:off x="4392993" y="3172127"/>
            <a:ext cx="186190" cy="165502"/>
          </a:xfrm>
          <a:custGeom>
            <a:rect b="b" l="l" r="r" t="t"/>
            <a:pathLst>
              <a:path extrusionOk="0" h="165502" w="186190">
                <a:moveTo>
                  <a:pt x="15516" y="63292"/>
                </a:moveTo>
                <a:lnTo>
                  <a:pt x="83139" y="91123"/>
                </a:lnTo>
                <a:cubicBezTo>
                  <a:pt x="86307" y="92416"/>
                  <a:pt x="89669" y="93095"/>
                  <a:pt x="93095" y="93095"/>
                </a:cubicBezTo>
                <a:cubicBezTo>
                  <a:pt x="96521" y="93095"/>
                  <a:pt x="99883" y="92416"/>
                  <a:pt x="103051" y="91123"/>
                </a:cubicBezTo>
                <a:lnTo>
                  <a:pt x="181406" y="58863"/>
                </a:lnTo>
                <a:cubicBezTo>
                  <a:pt x="184315" y="57667"/>
                  <a:pt x="186190" y="54855"/>
                  <a:pt x="186190" y="51719"/>
                </a:cubicBezTo>
                <a:cubicBezTo>
                  <a:pt x="186190" y="48584"/>
                  <a:pt x="184315" y="45772"/>
                  <a:pt x="181406" y="44576"/>
                </a:cubicBezTo>
                <a:lnTo>
                  <a:pt x="103051" y="12316"/>
                </a:lnTo>
                <a:cubicBezTo>
                  <a:pt x="99883" y="11023"/>
                  <a:pt x="96521" y="10344"/>
                  <a:pt x="93095" y="10344"/>
                </a:cubicBezTo>
                <a:cubicBezTo>
                  <a:pt x="89669" y="10344"/>
                  <a:pt x="86307" y="11023"/>
                  <a:pt x="83139" y="12316"/>
                </a:cubicBezTo>
                <a:lnTo>
                  <a:pt x="4784" y="44576"/>
                </a:lnTo>
                <a:cubicBezTo>
                  <a:pt x="1875" y="45772"/>
                  <a:pt x="0" y="48584"/>
                  <a:pt x="0" y="51719"/>
                </a:cubicBezTo>
                <a:lnTo>
                  <a:pt x="0" y="147400"/>
                </a:lnTo>
                <a:cubicBezTo>
                  <a:pt x="0" y="151700"/>
                  <a:pt x="3459" y="155158"/>
                  <a:pt x="7758" y="155158"/>
                </a:cubicBezTo>
                <a:cubicBezTo>
                  <a:pt x="12057" y="155158"/>
                  <a:pt x="15516" y="151700"/>
                  <a:pt x="15516" y="147400"/>
                </a:cubicBezTo>
                <a:lnTo>
                  <a:pt x="15516" y="63292"/>
                </a:lnTo>
                <a:close/>
                <a:moveTo>
                  <a:pt x="31032" y="86468"/>
                </a:moveTo>
                <a:lnTo>
                  <a:pt x="31032" y="124127"/>
                </a:lnTo>
                <a:cubicBezTo>
                  <a:pt x="31032" y="141259"/>
                  <a:pt x="58831" y="155158"/>
                  <a:pt x="93095" y="155158"/>
                </a:cubicBezTo>
                <a:cubicBezTo>
                  <a:pt x="127359" y="155158"/>
                  <a:pt x="155158" y="141259"/>
                  <a:pt x="155158" y="124127"/>
                </a:cubicBezTo>
                <a:lnTo>
                  <a:pt x="155158" y="86436"/>
                </a:lnTo>
                <a:lnTo>
                  <a:pt x="108966" y="105475"/>
                </a:lnTo>
                <a:cubicBezTo>
                  <a:pt x="103924" y="107544"/>
                  <a:pt x="98558" y="108611"/>
                  <a:pt x="93095" y="108611"/>
                </a:cubicBezTo>
                <a:cubicBezTo>
                  <a:pt x="87632" y="108611"/>
                  <a:pt x="82266" y="107544"/>
                  <a:pt x="77224" y="105475"/>
                </a:cubicBezTo>
                <a:lnTo>
                  <a:pt x="31032" y="86436"/>
                </a:lnTo>
                <a:close/>
              </a:path>
            </a:pathLst>
          </a:cu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"/>
          <p:cNvSpPr/>
          <p:nvPr/>
        </p:nvSpPr>
        <p:spPr>
          <a:xfrm>
            <a:off x="4660785" y="3126154"/>
            <a:ext cx="1802136" cy="257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3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Связь с IT-обучением</a:t>
            </a:r>
            <a:endParaRPr b="0" i="0" sz="1600" u="none" cap="none" strike="noStrike"/>
          </a:p>
        </p:txBody>
      </p:sp>
      <p:sp>
        <p:nvSpPr>
          <p:cNvPr id="130" name="Google Shape;130;p7"/>
          <p:cNvSpPr/>
          <p:nvPr/>
        </p:nvSpPr>
        <p:spPr>
          <a:xfrm>
            <a:off x="4380351" y="3457158"/>
            <a:ext cx="3236489" cy="16734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8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Игра развивает понимание DevOps-процессов, работу с инструментами, </a:t>
            </a:r>
            <a:r>
              <a:rPr b="1" i="0" lang="en-US" sz="1158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системное мышление</a:t>
            </a:r>
            <a:r>
              <a:rPr b="0" i="0" lang="en-US" sz="1158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и навык принятия решений. За счет практики и мгновенной обратной связи обучение происходит быстрее и нагляднее, чем при изучении теории.</a:t>
            </a:r>
            <a:endParaRPr b="0" i="0" sz="1600" u="none" cap="none" strike="noStrike"/>
          </a:p>
        </p:txBody>
      </p:sp>
      <p:sp>
        <p:nvSpPr>
          <p:cNvPr id="131" name="Google Shape;131;p7"/>
          <p:cNvSpPr/>
          <p:nvPr/>
        </p:nvSpPr>
        <p:spPr>
          <a:xfrm>
            <a:off x="372380" y="5742009"/>
            <a:ext cx="7557937" cy="1112543"/>
          </a:xfrm>
          <a:custGeom>
            <a:rect b="b" l="l" r="r" t="t"/>
            <a:pathLst>
              <a:path extrusionOk="0" h="1112543" w="7557937">
                <a:moveTo>
                  <a:pt x="147112" y="0"/>
                </a:moveTo>
                <a:lnTo>
                  <a:pt x="7410825" y="0"/>
                </a:lnTo>
                <a:cubicBezTo>
                  <a:pt x="7492073" y="0"/>
                  <a:pt x="7557937" y="65864"/>
                  <a:pt x="7557937" y="147112"/>
                </a:cubicBezTo>
                <a:lnTo>
                  <a:pt x="7557937" y="965431"/>
                </a:lnTo>
                <a:cubicBezTo>
                  <a:pt x="7557937" y="1046679"/>
                  <a:pt x="7492073" y="1112543"/>
                  <a:pt x="7410825" y="1112543"/>
                </a:cubicBezTo>
                <a:lnTo>
                  <a:pt x="147112" y="1112543"/>
                </a:lnTo>
                <a:cubicBezTo>
                  <a:pt x="65918" y="1112543"/>
                  <a:pt x="0" y="1046625"/>
                  <a:pt x="0" y="965431"/>
                </a:cubicBezTo>
                <a:lnTo>
                  <a:pt x="0" y="147112"/>
                </a:lnTo>
                <a:cubicBezTo>
                  <a:pt x="0" y="65918"/>
                  <a:pt x="65918" y="0"/>
                  <a:pt x="147112" y="0"/>
                </a:cubicBezTo>
                <a:close/>
              </a:path>
            </a:pathLst>
          </a:custGeom>
          <a:gradFill>
            <a:gsLst>
              <a:gs pos="0">
                <a:srgbClr val="10B981">
                  <a:alpha val="20000"/>
                </a:srgbClr>
              </a:gs>
              <a:gs pos="100000">
                <a:srgbClr val="0F172A"/>
              </a:gs>
            </a:gsLst>
            <a:lin ang="2700000" scaled="0"/>
          </a:gradFill>
          <a:ln cap="flat" cmpd="sng" w="12700">
            <a:solidFill>
              <a:srgbClr val="10B981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7"/>
          <p:cNvSpPr/>
          <p:nvPr/>
        </p:nvSpPr>
        <p:spPr>
          <a:xfrm>
            <a:off x="547077" y="6187946"/>
            <a:ext cx="220670" cy="220670"/>
          </a:xfrm>
          <a:custGeom>
            <a:rect b="b" l="l" r="r" t="t"/>
            <a:pathLst>
              <a:path extrusionOk="0" h="220670" w="220670">
                <a:moveTo>
                  <a:pt x="62193" y="0"/>
                </a:moveTo>
                <a:lnTo>
                  <a:pt x="158736" y="0"/>
                </a:lnTo>
                <a:cubicBezTo>
                  <a:pt x="170157" y="0"/>
                  <a:pt x="179467" y="9396"/>
                  <a:pt x="179036" y="20774"/>
                </a:cubicBezTo>
                <a:cubicBezTo>
                  <a:pt x="178949" y="23058"/>
                  <a:pt x="178863" y="25343"/>
                  <a:pt x="178734" y="27584"/>
                </a:cubicBezTo>
                <a:lnTo>
                  <a:pt x="200111" y="27584"/>
                </a:lnTo>
                <a:cubicBezTo>
                  <a:pt x="211360" y="27584"/>
                  <a:pt x="221273" y="36893"/>
                  <a:pt x="220411" y="49047"/>
                </a:cubicBezTo>
                <a:cubicBezTo>
                  <a:pt x="217179" y="93742"/>
                  <a:pt x="194336" y="118308"/>
                  <a:pt x="169554" y="131152"/>
                </a:cubicBezTo>
                <a:cubicBezTo>
                  <a:pt x="162744" y="134686"/>
                  <a:pt x="155805" y="137315"/>
                  <a:pt x="149211" y="139255"/>
                </a:cubicBezTo>
                <a:cubicBezTo>
                  <a:pt x="140505" y="151581"/>
                  <a:pt x="131454" y="158089"/>
                  <a:pt x="124256" y="161580"/>
                </a:cubicBezTo>
                <a:lnTo>
                  <a:pt x="124256" y="193086"/>
                </a:lnTo>
                <a:lnTo>
                  <a:pt x="151840" y="193086"/>
                </a:lnTo>
                <a:cubicBezTo>
                  <a:pt x="159468" y="193086"/>
                  <a:pt x="165632" y="199249"/>
                  <a:pt x="165632" y="206878"/>
                </a:cubicBezTo>
                <a:cubicBezTo>
                  <a:pt x="165632" y="214506"/>
                  <a:pt x="159468" y="220670"/>
                  <a:pt x="151840" y="220670"/>
                </a:cubicBezTo>
                <a:lnTo>
                  <a:pt x="69089" y="220670"/>
                </a:lnTo>
                <a:cubicBezTo>
                  <a:pt x="61460" y="220670"/>
                  <a:pt x="55297" y="214506"/>
                  <a:pt x="55297" y="206878"/>
                </a:cubicBezTo>
                <a:cubicBezTo>
                  <a:pt x="55297" y="199249"/>
                  <a:pt x="61460" y="193086"/>
                  <a:pt x="69089" y="193086"/>
                </a:cubicBezTo>
                <a:lnTo>
                  <a:pt x="96672" y="193086"/>
                </a:lnTo>
                <a:lnTo>
                  <a:pt x="96672" y="161580"/>
                </a:lnTo>
                <a:cubicBezTo>
                  <a:pt x="89776" y="158262"/>
                  <a:pt x="81200" y="152098"/>
                  <a:pt x="72838" y="140763"/>
                </a:cubicBezTo>
                <a:cubicBezTo>
                  <a:pt x="64908" y="138694"/>
                  <a:pt x="56288" y="135548"/>
                  <a:pt x="47884" y="130807"/>
                </a:cubicBezTo>
                <a:cubicBezTo>
                  <a:pt x="24567" y="117748"/>
                  <a:pt x="3534" y="93138"/>
                  <a:pt x="517" y="48961"/>
                </a:cubicBezTo>
                <a:cubicBezTo>
                  <a:pt x="-302" y="36850"/>
                  <a:pt x="9568" y="27541"/>
                  <a:pt x="20817" y="27541"/>
                </a:cubicBezTo>
                <a:lnTo>
                  <a:pt x="42194" y="27541"/>
                </a:lnTo>
                <a:cubicBezTo>
                  <a:pt x="42065" y="25299"/>
                  <a:pt x="41979" y="23058"/>
                  <a:pt x="41893" y="20731"/>
                </a:cubicBezTo>
                <a:cubicBezTo>
                  <a:pt x="41462" y="9310"/>
                  <a:pt x="50771" y="-43"/>
                  <a:pt x="62193" y="-43"/>
                </a:cubicBezTo>
                <a:close/>
                <a:moveTo>
                  <a:pt x="43746" y="48271"/>
                </a:moveTo>
                <a:lnTo>
                  <a:pt x="21162" y="48271"/>
                </a:lnTo>
                <a:cubicBezTo>
                  <a:pt x="23834" y="84777"/>
                  <a:pt x="40600" y="103051"/>
                  <a:pt x="57883" y="112748"/>
                </a:cubicBezTo>
                <a:cubicBezTo>
                  <a:pt x="51676" y="96672"/>
                  <a:pt x="46548" y="75683"/>
                  <a:pt x="43746" y="48271"/>
                </a:cubicBezTo>
                <a:close/>
                <a:moveTo>
                  <a:pt x="163778" y="110680"/>
                </a:moveTo>
                <a:cubicBezTo>
                  <a:pt x="181234" y="100422"/>
                  <a:pt x="197008" y="82191"/>
                  <a:pt x="199680" y="48271"/>
                </a:cubicBezTo>
                <a:lnTo>
                  <a:pt x="177139" y="48271"/>
                </a:lnTo>
                <a:cubicBezTo>
                  <a:pt x="174467" y="74519"/>
                  <a:pt x="169640" y="94905"/>
                  <a:pt x="163778" y="110680"/>
                </a:cubicBezTo>
                <a:close/>
              </a:path>
            </a:pathLst>
          </a:cu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7"/>
          <p:cNvSpPr/>
          <p:nvPr/>
        </p:nvSpPr>
        <p:spPr>
          <a:xfrm>
            <a:off x="860267" y="5930498"/>
            <a:ext cx="6960290" cy="257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3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Результат</a:t>
            </a:r>
            <a:endParaRPr b="0" i="0" sz="1600" u="none" cap="none" strike="noStrike"/>
          </a:p>
        </p:txBody>
      </p:sp>
      <p:sp>
        <p:nvSpPr>
          <p:cNvPr id="134" name="Google Shape;134;p7"/>
          <p:cNvSpPr/>
          <p:nvPr/>
        </p:nvSpPr>
        <p:spPr>
          <a:xfrm>
            <a:off x="860267" y="6224724"/>
            <a:ext cx="6951095" cy="44133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8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Пользователь получает практическое понимание профессии, осознанно принимает решение о карьере и понимает свою роль в IT-экосистеме.</a:t>
            </a:r>
            <a:endParaRPr b="0" i="0" sz="1600" u="none" cap="none" strike="noStrike"/>
          </a:p>
        </p:txBody>
      </p:sp>
      <p:sp>
        <p:nvSpPr>
          <p:cNvPr id="135" name="Google Shape;135;p7"/>
          <p:cNvSpPr/>
          <p:nvPr/>
        </p:nvSpPr>
        <p:spPr>
          <a:xfrm>
            <a:off x="8158457" y="1530896"/>
            <a:ext cx="3659439" cy="5323656"/>
          </a:xfrm>
          <a:custGeom>
            <a:rect b="b" l="l" r="r" t="t"/>
            <a:pathLst>
              <a:path extrusionOk="0" h="5323656" w="3659439">
                <a:moveTo>
                  <a:pt x="147109" y="0"/>
                </a:moveTo>
                <a:lnTo>
                  <a:pt x="3512329" y="0"/>
                </a:lnTo>
                <a:cubicBezTo>
                  <a:pt x="3593576" y="0"/>
                  <a:pt x="3659439" y="65863"/>
                  <a:pt x="3659439" y="147109"/>
                </a:cubicBezTo>
                <a:lnTo>
                  <a:pt x="3659439" y="5176547"/>
                </a:lnTo>
                <a:cubicBezTo>
                  <a:pt x="3659439" y="5257793"/>
                  <a:pt x="3593576" y="5323656"/>
                  <a:pt x="3512329" y="5323656"/>
                </a:cubicBezTo>
                <a:lnTo>
                  <a:pt x="147109" y="5323656"/>
                </a:lnTo>
                <a:cubicBezTo>
                  <a:pt x="65863" y="5323656"/>
                  <a:pt x="0" y="5257793"/>
                  <a:pt x="0" y="5176547"/>
                </a:cubicBezTo>
                <a:lnTo>
                  <a:pt x="0" y="147109"/>
                </a:lnTo>
                <a:cubicBezTo>
                  <a:pt x="0" y="65918"/>
                  <a:pt x="65918" y="0"/>
                  <a:pt x="147109" y="0"/>
                </a:cubicBezTo>
                <a:close/>
              </a:path>
            </a:pathLst>
          </a:custGeom>
          <a:gradFill>
            <a:gsLst>
              <a:gs pos="0">
                <a:srgbClr val="1E293B"/>
              </a:gs>
              <a:gs pos="100000">
                <a:srgbClr val="0F172A"/>
              </a:gs>
            </a:gsLst>
            <a:lin ang="2700000" scaled="0"/>
          </a:gra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https://kimi-web-img.moonshot.cn/img/img.freepik.com/fe2c66b457cbf04f12fbaf4768b51b48afe737a0.jpg" id="136" name="Google Shape;136;p7"/>
          <p:cNvPicPr preferRelativeResize="0"/>
          <p:nvPr/>
        </p:nvPicPr>
        <p:blipFill rotWithShape="1">
          <a:blip r:embed="rId3">
            <a:alphaModFix amt="80000"/>
          </a:blip>
          <a:srcRect b="18588" l="0" r="0" t="18587"/>
          <a:stretch/>
        </p:blipFill>
        <p:spPr>
          <a:xfrm>
            <a:off x="8383724" y="2436561"/>
            <a:ext cx="3208905" cy="1765357"/>
          </a:xfrm>
          <a:prstGeom prst="roundRect">
            <a:avLst>
              <a:gd fmla="val 6250" name="adj"/>
            </a:avLst>
          </a:prstGeom>
          <a:noFill/>
          <a:ln>
            <a:noFill/>
          </a:ln>
        </p:spPr>
      </p:pic>
      <p:sp>
        <p:nvSpPr>
          <p:cNvPr id="137" name="Google Shape;137;p7"/>
          <p:cNvSpPr/>
          <p:nvPr/>
        </p:nvSpPr>
        <p:spPr>
          <a:xfrm>
            <a:off x="8388321" y="4353629"/>
            <a:ext cx="3199710" cy="450534"/>
          </a:xfrm>
          <a:custGeom>
            <a:rect b="b" l="l" r="r" t="t"/>
            <a:pathLst>
              <a:path extrusionOk="0" h="450534" w="3199710">
                <a:moveTo>
                  <a:pt x="73559" y="0"/>
                </a:moveTo>
                <a:lnTo>
                  <a:pt x="3126152" y="0"/>
                </a:lnTo>
                <a:cubicBezTo>
                  <a:pt x="3166750" y="0"/>
                  <a:pt x="3199710" y="32961"/>
                  <a:pt x="3199710" y="73559"/>
                </a:cubicBezTo>
                <a:lnTo>
                  <a:pt x="3199710" y="376975"/>
                </a:lnTo>
                <a:cubicBezTo>
                  <a:pt x="3199710" y="417601"/>
                  <a:pt x="3166777" y="450534"/>
                  <a:pt x="3126152" y="450534"/>
                </a:cubicBezTo>
                <a:lnTo>
                  <a:pt x="73559" y="450534"/>
                </a:lnTo>
                <a:cubicBezTo>
                  <a:pt x="32961" y="450534"/>
                  <a:pt x="0" y="417573"/>
                  <a:pt x="0" y="376975"/>
                </a:cubicBezTo>
                <a:lnTo>
                  <a:pt x="0" y="73559"/>
                </a:lnTo>
                <a:cubicBezTo>
                  <a:pt x="0" y="32961"/>
                  <a:pt x="32961" y="0"/>
                  <a:pt x="73559" y="0"/>
                </a:cubicBezTo>
                <a:close/>
              </a:path>
            </a:pathLst>
          </a:custGeom>
          <a:solidFill>
            <a:srgbClr val="0F172A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7"/>
          <p:cNvSpPr/>
          <p:nvPr/>
        </p:nvSpPr>
        <p:spPr>
          <a:xfrm>
            <a:off x="8526240" y="4496145"/>
            <a:ext cx="165502" cy="165502"/>
          </a:xfrm>
          <a:custGeom>
            <a:rect b="b" l="l" r="r" t="t"/>
            <a:pathLst>
              <a:path extrusionOk="0" h="165502" w="165502">
                <a:moveTo>
                  <a:pt x="82751" y="165502"/>
                </a:moveTo>
                <a:cubicBezTo>
                  <a:pt x="128423" y="165502"/>
                  <a:pt x="165502" y="128423"/>
                  <a:pt x="165502" y="82751"/>
                </a:cubicBezTo>
                <a:cubicBezTo>
                  <a:pt x="165502" y="37080"/>
                  <a:pt x="128423" y="0"/>
                  <a:pt x="82751" y="0"/>
                </a:cubicBezTo>
                <a:cubicBezTo>
                  <a:pt x="37080" y="0"/>
                  <a:pt x="0" y="37080"/>
                  <a:pt x="0" y="82751"/>
                </a:cubicBezTo>
                <a:cubicBezTo>
                  <a:pt x="0" y="128423"/>
                  <a:pt x="37080" y="165502"/>
                  <a:pt x="82751" y="165502"/>
                </a:cubicBezTo>
                <a:close/>
                <a:moveTo>
                  <a:pt x="110033" y="68755"/>
                </a:moveTo>
                <a:lnTo>
                  <a:pt x="84173" y="110130"/>
                </a:lnTo>
                <a:cubicBezTo>
                  <a:pt x="82816" y="112296"/>
                  <a:pt x="80488" y="113654"/>
                  <a:pt x="77935" y="113783"/>
                </a:cubicBezTo>
                <a:cubicBezTo>
                  <a:pt x="75381" y="113912"/>
                  <a:pt x="72924" y="112748"/>
                  <a:pt x="71405" y="110680"/>
                </a:cubicBezTo>
                <a:lnTo>
                  <a:pt x="55889" y="89992"/>
                </a:lnTo>
                <a:cubicBezTo>
                  <a:pt x="53303" y="86565"/>
                  <a:pt x="54015" y="81717"/>
                  <a:pt x="57441" y="79131"/>
                </a:cubicBezTo>
                <a:cubicBezTo>
                  <a:pt x="60867" y="76545"/>
                  <a:pt x="65716" y="77256"/>
                  <a:pt x="68302" y="80682"/>
                </a:cubicBezTo>
                <a:lnTo>
                  <a:pt x="77030" y="92319"/>
                </a:lnTo>
                <a:lnTo>
                  <a:pt x="96877" y="60544"/>
                </a:lnTo>
                <a:cubicBezTo>
                  <a:pt x="99140" y="56924"/>
                  <a:pt x="103924" y="55792"/>
                  <a:pt x="107576" y="58087"/>
                </a:cubicBezTo>
                <a:cubicBezTo>
                  <a:pt x="111229" y="60382"/>
                  <a:pt x="112328" y="65134"/>
                  <a:pt x="110033" y="68787"/>
                </a:cubicBezTo>
                <a:close/>
              </a:path>
            </a:pathLst>
          </a:cu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"/>
          <p:cNvSpPr/>
          <p:nvPr/>
        </p:nvSpPr>
        <p:spPr>
          <a:xfrm>
            <a:off x="8820466" y="4468561"/>
            <a:ext cx="1857303" cy="2206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8" u="none" cap="none" strike="noStrike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Практическое понимание</a:t>
            </a:r>
            <a:endParaRPr b="0" i="0" sz="1600" u="none" cap="none" strike="noStrike"/>
          </a:p>
        </p:txBody>
      </p:sp>
      <p:sp>
        <p:nvSpPr>
          <p:cNvPr id="140" name="Google Shape;140;p7"/>
          <p:cNvSpPr/>
          <p:nvPr/>
        </p:nvSpPr>
        <p:spPr>
          <a:xfrm>
            <a:off x="8388321" y="4923692"/>
            <a:ext cx="3199710" cy="450534"/>
          </a:xfrm>
          <a:custGeom>
            <a:rect b="b" l="l" r="r" t="t"/>
            <a:pathLst>
              <a:path extrusionOk="0" h="450534" w="3199710">
                <a:moveTo>
                  <a:pt x="73559" y="0"/>
                </a:moveTo>
                <a:lnTo>
                  <a:pt x="3126152" y="0"/>
                </a:lnTo>
                <a:cubicBezTo>
                  <a:pt x="3166750" y="0"/>
                  <a:pt x="3199710" y="32961"/>
                  <a:pt x="3199710" y="73559"/>
                </a:cubicBezTo>
                <a:lnTo>
                  <a:pt x="3199710" y="376975"/>
                </a:lnTo>
                <a:cubicBezTo>
                  <a:pt x="3199710" y="417601"/>
                  <a:pt x="3166777" y="450534"/>
                  <a:pt x="3126152" y="450534"/>
                </a:cubicBezTo>
                <a:lnTo>
                  <a:pt x="73559" y="450534"/>
                </a:lnTo>
                <a:cubicBezTo>
                  <a:pt x="32961" y="450534"/>
                  <a:pt x="0" y="417573"/>
                  <a:pt x="0" y="376975"/>
                </a:cubicBezTo>
                <a:lnTo>
                  <a:pt x="0" y="73559"/>
                </a:lnTo>
                <a:cubicBezTo>
                  <a:pt x="0" y="32961"/>
                  <a:pt x="32961" y="0"/>
                  <a:pt x="73559" y="0"/>
                </a:cubicBezTo>
                <a:close/>
              </a:path>
            </a:pathLst>
          </a:custGeom>
          <a:solidFill>
            <a:srgbClr val="0F172A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7"/>
          <p:cNvSpPr/>
          <p:nvPr/>
        </p:nvSpPr>
        <p:spPr>
          <a:xfrm>
            <a:off x="8526240" y="5066208"/>
            <a:ext cx="165502" cy="165502"/>
          </a:xfrm>
          <a:custGeom>
            <a:rect b="b" l="l" r="r" t="t"/>
            <a:pathLst>
              <a:path extrusionOk="0" h="165502" w="165502">
                <a:moveTo>
                  <a:pt x="82751" y="165502"/>
                </a:moveTo>
                <a:cubicBezTo>
                  <a:pt x="128423" y="165502"/>
                  <a:pt x="165502" y="128423"/>
                  <a:pt x="165502" y="82751"/>
                </a:cubicBezTo>
                <a:cubicBezTo>
                  <a:pt x="165502" y="37080"/>
                  <a:pt x="128423" y="0"/>
                  <a:pt x="82751" y="0"/>
                </a:cubicBezTo>
                <a:cubicBezTo>
                  <a:pt x="37080" y="0"/>
                  <a:pt x="0" y="37080"/>
                  <a:pt x="0" y="82751"/>
                </a:cubicBezTo>
                <a:cubicBezTo>
                  <a:pt x="0" y="128423"/>
                  <a:pt x="37080" y="165502"/>
                  <a:pt x="82751" y="165502"/>
                </a:cubicBezTo>
                <a:close/>
                <a:moveTo>
                  <a:pt x="110033" y="68755"/>
                </a:moveTo>
                <a:lnTo>
                  <a:pt x="84173" y="110130"/>
                </a:lnTo>
                <a:cubicBezTo>
                  <a:pt x="82816" y="112296"/>
                  <a:pt x="80488" y="113654"/>
                  <a:pt x="77935" y="113783"/>
                </a:cubicBezTo>
                <a:cubicBezTo>
                  <a:pt x="75381" y="113912"/>
                  <a:pt x="72924" y="112748"/>
                  <a:pt x="71405" y="110680"/>
                </a:cubicBezTo>
                <a:lnTo>
                  <a:pt x="55889" y="89992"/>
                </a:lnTo>
                <a:cubicBezTo>
                  <a:pt x="53303" y="86565"/>
                  <a:pt x="54015" y="81717"/>
                  <a:pt x="57441" y="79131"/>
                </a:cubicBezTo>
                <a:cubicBezTo>
                  <a:pt x="60867" y="76545"/>
                  <a:pt x="65716" y="77256"/>
                  <a:pt x="68302" y="80682"/>
                </a:cubicBezTo>
                <a:lnTo>
                  <a:pt x="77030" y="92319"/>
                </a:lnTo>
                <a:lnTo>
                  <a:pt x="96877" y="60544"/>
                </a:lnTo>
                <a:cubicBezTo>
                  <a:pt x="99140" y="56924"/>
                  <a:pt x="103924" y="55792"/>
                  <a:pt x="107576" y="58087"/>
                </a:cubicBezTo>
                <a:cubicBezTo>
                  <a:pt x="111229" y="60382"/>
                  <a:pt x="112328" y="65134"/>
                  <a:pt x="110033" y="68787"/>
                </a:cubicBezTo>
                <a:close/>
              </a:path>
            </a:pathLst>
          </a:cu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7"/>
          <p:cNvSpPr/>
          <p:nvPr/>
        </p:nvSpPr>
        <p:spPr>
          <a:xfrm>
            <a:off x="8820466" y="5038624"/>
            <a:ext cx="1434353" cy="2206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8" u="none" cap="none" strike="noStrike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Осознанный выбор</a:t>
            </a:r>
            <a:endParaRPr b="0" i="0" sz="1600" u="none" cap="none" strike="noStrike"/>
          </a:p>
        </p:txBody>
      </p:sp>
      <p:sp>
        <p:nvSpPr>
          <p:cNvPr id="143" name="Google Shape;143;p7"/>
          <p:cNvSpPr/>
          <p:nvPr/>
        </p:nvSpPr>
        <p:spPr>
          <a:xfrm>
            <a:off x="8388321" y="5493756"/>
            <a:ext cx="3199710" cy="450534"/>
          </a:xfrm>
          <a:custGeom>
            <a:rect b="b" l="l" r="r" t="t"/>
            <a:pathLst>
              <a:path extrusionOk="0" h="450534" w="3199710">
                <a:moveTo>
                  <a:pt x="73559" y="0"/>
                </a:moveTo>
                <a:lnTo>
                  <a:pt x="3126152" y="0"/>
                </a:lnTo>
                <a:cubicBezTo>
                  <a:pt x="3166750" y="0"/>
                  <a:pt x="3199710" y="32961"/>
                  <a:pt x="3199710" y="73559"/>
                </a:cubicBezTo>
                <a:lnTo>
                  <a:pt x="3199710" y="376975"/>
                </a:lnTo>
                <a:cubicBezTo>
                  <a:pt x="3199710" y="417601"/>
                  <a:pt x="3166777" y="450534"/>
                  <a:pt x="3126152" y="450534"/>
                </a:cubicBezTo>
                <a:lnTo>
                  <a:pt x="73559" y="450534"/>
                </a:lnTo>
                <a:cubicBezTo>
                  <a:pt x="32961" y="450534"/>
                  <a:pt x="0" y="417573"/>
                  <a:pt x="0" y="376975"/>
                </a:cubicBezTo>
                <a:lnTo>
                  <a:pt x="0" y="73559"/>
                </a:lnTo>
                <a:cubicBezTo>
                  <a:pt x="0" y="32961"/>
                  <a:pt x="32961" y="0"/>
                  <a:pt x="73559" y="0"/>
                </a:cubicBezTo>
                <a:close/>
              </a:path>
            </a:pathLst>
          </a:custGeom>
          <a:solidFill>
            <a:srgbClr val="0F172A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7"/>
          <p:cNvSpPr/>
          <p:nvPr/>
        </p:nvSpPr>
        <p:spPr>
          <a:xfrm>
            <a:off x="8526240" y="5636271"/>
            <a:ext cx="165502" cy="165502"/>
          </a:xfrm>
          <a:custGeom>
            <a:rect b="b" l="l" r="r" t="t"/>
            <a:pathLst>
              <a:path extrusionOk="0" h="165502" w="165502">
                <a:moveTo>
                  <a:pt x="82751" y="165502"/>
                </a:moveTo>
                <a:cubicBezTo>
                  <a:pt x="128423" y="165502"/>
                  <a:pt x="165502" y="128423"/>
                  <a:pt x="165502" y="82751"/>
                </a:cubicBezTo>
                <a:cubicBezTo>
                  <a:pt x="165502" y="37080"/>
                  <a:pt x="128423" y="0"/>
                  <a:pt x="82751" y="0"/>
                </a:cubicBezTo>
                <a:cubicBezTo>
                  <a:pt x="37080" y="0"/>
                  <a:pt x="0" y="37080"/>
                  <a:pt x="0" y="82751"/>
                </a:cubicBezTo>
                <a:cubicBezTo>
                  <a:pt x="0" y="128423"/>
                  <a:pt x="37080" y="165502"/>
                  <a:pt x="82751" y="165502"/>
                </a:cubicBezTo>
                <a:close/>
                <a:moveTo>
                  <a:pt x="110033" y="68755"/>
                </a:moveTo>
                <a:lnTo>
                  <a:pt x="84173" y="110130"/>
                </a:lnTo>
                <a:cubicBezTo>
                  <a:pt x="82816" y="112296"/>
                  <a:pt x="80488" y="113654"/>
                  <a:pt x="77935" y="113783"/>
                </a:cubicBezTo>
                <a:cubicBezTo>
                  <a:pt x="75381" y="113912"/>
                  <a:pt x="72924" y="112748"/>
                  <a:pt x="71405" y="110680"/>
                </a:cubicBezTo>
                <a:lnTo>
                  <a:pt x="55889" y="89992"/>
                </a:lnTo>
                <a:cubicBezTo>
                  <a:pt x="53303" y="86565"/>
                  <a:pt x="54015" y="81717"/>
                  <a:pt x="57441" y="79131"/>
                </a:cubicBezTo>
                <a:cubicBezTo>
                  <a:pt x="60867" y="76545"/>
                  <a:pt x="65716" y="77256"/>
                  <a:pt x="68302" y="80682"/>
                </a:cubicBezTo>
                <a:lnTo>
                  <a:pt x="77030" y="92319"/>
                </a:lnTo>
                <a:lnTo>
                  <a:pt x="96877" y="60544"/>
                </a:lnTo>
                <a:cubicBezTo>
                  <a:pt x="99140" y="56924"/>
                  <a:pt x="103924" y="55792"/>
                  <a:pt x="107576" y="58087"/>
                </a:cubicBezTo>
                <a:cubicBezTo>
                  <a:pt x="111229" y="60382"/>
                  <a:pt x="112328" y="65134"/>
                  <a:pt x="110033" y="68787"/>
                </a:cubicBezTo>
                <a:close/>
              </a:path>
            </a:pathLst>
          </a:cu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7"/>
          <p:cNvSpPr/>
          <p:nvPr/>
        </p:nvSpPr>
        <p:spPr>
          <a:xfrm>
            <a:off x="8820466" y="5608688"/>
            <a:ext cx="1553882" cy="2206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8" u="none" cap="none" strike="noStrike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Роль в IT-экосистеме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8"/>
          <p:cNvSpPr/>
          <p:nvPr/>
        </p:nvSpPr>
        <p:spPr>
          <a:xfrm>
            <a:off x="326644" y="326644"/>
            <a:ext cx="11604040" cy="1959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29" u="none" cap="none" strike="noStrike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СООТВЕТСТВИЕ ТРЕБОВАНИЯМ</a:t>
            </a:r>
            <a:endParaRPr b="0" i="0" sz="1600" u="none" cap="none" strike="noStrike"/>
          </a:p>
        </p:txBody>
      </p:sp>
      <p:sp>
        <p:nvSpPr>
          <p:cNvPr id="152" name="Google Shape;152;p8"/>
          <p:cNvSpPr/>
          <p:nvPr/>
        </p:nvSpPr>
        <p:spPr>
          <a:xfrm>
            <a:off x="326644" y="587960"/>
            <a:ext cx="11734698" cy="39197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86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Отвечаем требованиям заказчика</a:t>
            </a:r>
            <a:endParaRPr b="0" i="0" sz="1600" u="none" cap="none" strike="noStrike"/>
          </a:p>
        </p:txBody>
      </p:sp>
      <p:sp>
        <p:nvSpPr>
          <p:cNvPr id="153" name="Google Shape;153;p8"/>
          <p:cNvSpPr/>
          <p:nvPr/>
        </p:nvSpPr>
        <p:spPr>
          <a:xfrm>
            <a:off x="326644" y="1110591"/>
            <a:ext cx="783946" cy="48997"/>
          </a:xfrm>
          <a:custGeom>
            <a:rect b="b" l="l" r="r" t="t"/>
            <a:pathLst>
              <a:path extrusionOk="0" h="48997" w="783946">
                <a:moveTo>
                  <a:pt x="0" y="0"/>
                </a:moveTo>
                <a:lnTo>
                  <a:pt x="783946" y="0"/>
                </a:lnTo>
                <a:lnTo>
                  <a:pt x="783946" y="48997"/>
                </a:lnTo>
                <a:lnTo>
                  <a:pt x="0" y="48997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3B82F6"/>
              </a:gs>
              <a:gs pos="100000">
                <a:srgbClr val="22D3EE"/>
              </a:gs>
            </a:gsLst>
            <a:lin ang="0" scaled="0"/>
          </a:gradFill>
          <a:ln>
            <a:noFill/>
          </a:ln>
        </p:spPr>
      </p:sp>
      <p:sp>
        <p:nvSpPr>
          <p:cNvPr id="154" name="Google Shape;154;p8"/>
          <p:cNvSpPr/>
          <p:nvPr/>
        </p:nvSpPr>
        <p:spPr>
          <a:xfrm>
            <a:off x="330727" y="1359657"/>
            <a:ext cx="5667279" cy="2164019"/>
          </a:xfrm>
          <a:custGeom>
            <a:rect b="b" l="l" r="r" t="t"/>
            <a:pathLst>
              <a:path extrusionOk="0" h="2164019" w="5667279">
                <a:moveTo>
                  <a:pt x="130663" y="0"/>
                </a:moveTo>
                <a:lnTo>
                  <a:pt x="5536616" y="0"/>
                </a:lnTo>
                <a:cubicBezTo>
                  <a:pt x="5608779" y="0"/>
                  <a:pt x="5667279" y="58500"/>
                  <a:pt x="5667279" y="130663"/>
                </a:cubicBezTo>
                <a:lnTo>
                  <a:pt x="5667279" y="2033355"/>
                </a:lnTo>
                <a:cubicBezTo>
                  <a:pt x="5667279" y="2105519"/>
                  <a:pt x="5608779" y="2164019"/>
                  <a:pt x="5536616" y="2164019"/>
                </a:cubicBezTo>
                <a:lnTo>
                  <a:pt x="130663" y="2164019"/>
                </a:lnTo>
                <a:cubicBezTo>
                  <a:pt x="58500" y="2164019"/>
                  <a:pt x="0" y="2105519"/>
                  <a:pt x="0" y="2033355"/>
                </a:cubicBezTo>
                <a:lnTo>
                  <a:pt x="0" y="130663"/>
                </a:lnTo>
                <a:cubicBezTo>
                  <a:pt x="0" y="58548"/>
                  <a:pt x="58548" y="0"/>
                  <a:pt x="130663" y="0"/>
                </a:cubicBezTo>
                <a:close/>
              </a:path>
            </a:pathLst>
          </a:custGeom>
          <a:gradFill>
            <a:gsLst>
              <a:gs pos="0">
                <a:srgbClr val="1E293B"/>
              </a:gs>
              <a:gs pos="100000">
                <a:srgbClr val="0F172A"/>
              </a:gs>
            </a:gsLst>
            <a:lin ang="2700000" scaled="0"/>
          </a:gra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8"/>
          <p:cNvSpPr/>
          <p:nvPr/>
        </p:nvSpPr>
        <p:spPr>
          <a:xfrm>
            <a:off x="530797" y="1559727"/>
            <a:ext cx="391973" cy="391973"/>
          </a:xfrm>
          <a:custGeom>
            <a:rect b="b" l="l" r="r" t="t"/>
            <a:pathLst>
              <a:path extrusionOk="0" h="391973" w="391973">
                <a:moveTo>
                  <a:pt x="97993" y="0"/>
                </a:moveTo>
                <a:lnTo>
                  <a:pt x="293980" y="0"/>
                </a:lnTo>
                <a:cubicBezTo>
                  <a:pt x="348064" y="0"/>
                  <a:pt x="391973" y="43909"/>
                  <a:pt x="391973" y="97993"/>
                </a:cubicBezTo>
                <a:lnTo>
                  <a:pt x="391973" y="293980"/>
                </a:lnTo>
                <a:cubicBezTo>
                  <a:pt x="391973" y="348064"/>
                  <a:pt x="348064" y="391973"/>
                  <a:pt x="293980" y="391973"/>
                </a:cubicBezTo>
                <a:lnTo>
                  <a:pt x="97993" y="391973"/>
                </a:lnTo>
                <a:cubicBezTo>
                  <a:pt x="43909" y="391973"/>
                  <a:pt x="0" y="348064"/>
                  <a:pt x="0" y="293980"/>
                </a:cubicBezTo>
                <a:lnTo>
                  <a:pt x="0" y="97993"/>
                </a:lnTo>
                <a:cubicBezTo>
                  <a:pt x="0" y="43909"/>
                  <a:pt x="43909" y="0"/>
                  <a:pt x="97993" y="0"/>
                </a:cubicBezTo>
                <a:close/>
              </a:path>
            </a:pathLst>
          </a:custGeom>
          <a:gradFill>
            <a:gsLst>
              <a:gs pos="0">
                <a:srgbClr val="3B82F6"/>
              </a:gs>
              <a:gs pos="100000">
                <a:srgbClr val="22D3EE"/>
              </a:gs>
            </a:gsLst>
            <a:lin ang="27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8"/>
          <p:cNvSpPr/>
          <p:nvPr/>
        </p:nvSpPr>
        <p:spPr>
          <a:xfrm>
            <a:off x="655330" y="1674052"/>
            <a:ext cx="142907" cy="163322"/>
          </a:xfrm>
          <a:custGeom>
            <a:rect b="b" l="l" r="r" t="t"/>
            <a:pathLst>
              <a:path extrusionOk="0" h="163322" w="142907">
                <a:moveTo>
                  <a:pt x="108073" y="-3158"/>
                </a:moveTo>
                <a:cubicBezTo>
                  <a:pt x="111869" y="-415"/>
                  <a:pt x="113273" y="4562"/>
                  <a:pt x="111550" y="8900"/>
                </a:cubicBezTo>
                <a:lnTo>
                  <a:pt x="86542" y="71453"/>
                </a:lnTo>
                <a:lnTo>
                  <a:pt x="132699" y="71453"/>
                </a:lnTo>
                <a:cubicBezTo>
                  <a:pt x="137006" y="71453"/>
                  <a:pt x="140833" y="74133"/>
                  <a:pt x="142301" y="78184"/>
                </a:cubicBezTo>
                <a:cubicBezTo>
                  <a:pt x="143768" y="82235"/>
                  <a:pt x="142524" y="86765"/>
                  <a:pt x="139239" y="89508"/>
                </a:cubicBezTo>
                <a:lnTo>
                  <a:pt x="47370" y="166065"/>
                </a:lnTo>
                <a:cubicBezTo>
                  <a:pt x="43765" y="169064"/>
                  <a:pt x="38630" y="169223"/>
                  <a:pt x="34834" y="166480"/>
                </a:cubicBezTo>
                <a:cubicBezTo>
                  <a:pt x="31038" y="163737"/>
                  <a:pt x="29634" y="158761"/>
                  <a:pt x="31357" y="154422"/>
                </a:cubicBezTo>
                <a:lnTo>
                  <a:pt x="56365" y="91869"/>
                </a:lnTo>
                <a:lnTo>
                  <a:pt x="10208" y="91869"/>
                </a:lnTo>
                <a:cubicBezTo>
                  <a:pt x="5901" y="91869"/>
                  <a:pt x="2073" y="89189"/>
                  <a:pt x="606" y="85138"/>
                </a:cubicBezTo>
                <a:cubicBezTo>
                  <a:pt x="-861" y="81087"/>
                  <a:pt x="383" y="76557"/>
                  <a:pt x="3668" y="73814"/>
                </a:cubicBezTo>
                <a:lnTo>
                  <a:pt x="95537" y="-2743"/>
                </a:lnTo>
                <a:cubicBezTo>
                  <a:pt x="99142" y="-5742"/>
                  <a:pt x="104277" y="-5901"/>
                  <a:pt x="108073" y="-315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8"/>
          <p:cNvSpPr/>
          <p:nvPr/>
        </p:nvSpPr>
        <p:spPr>
          <a:xfrm>
            <a:off x="1020764" y="1641388"/>
            <a:ext cx="2270178" cy="2286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86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Мгновенная обратная связь</a:t>
            </a:r>
            <a:endParaRPr b="0" i="0" sz="1600" u="none" cap="none" strike="noStrike"/>
          </a:p>
        </p:txBody>
      </p:sp>
      <p:sp>
        <p:nvSpPr>
          <p:cNvPr id="158" name="Google Shape;158;p8"/>
          <p:cNvSpPr/>
          <p:nvPr/>
        </p:nvSpPr>
        <p:spPr>
          <a:xfrm>
            <a:off x="534880" y="2086441"/>
            <a:ext cx="5258974" cy="530797"/>
          </a:xfrm>
          <a:custGeom>
            <a:rect b="b" l="l" r="r" t="t"/>
            <a:pathLst>
              <a:path extrusionOk="0" h="530797" w="5258974">
                <a:moveTo>
                  <a:pt x="97996" y="0"/>
                </a:moveTo>
                <a:lnTo>
                  <a:pt x="5160978" y="0"/>
                </a:lnTo>
                <a:cubicBezTo>
                  <a:pt x="5215100" y="0"/>
                  <a:pt x="5258974" y="43874"/>
                  <a:pt x="5258974" y="97996"/>
                </a:cubicBezTo>
                <a:lnTo>
                  <a:pt x="5258974" y="432801"/>
                </a:lnTo>
                <a:cubicBezTo>
                  <a:pt x="5258974" y="486923"/>
                  <a:pt x="5215100" y="530797"/>
                  <a:pt x="5160978" y="530797"/>
                </a:cubicBezTo>
                <a:lnTo>
                  <a:pt x="97996" y="530797"/>
                </a:lnTo>
                <a:cubicBezTo>
                  <a:pt x="43910" y="530797"/>
                  <a:pt x="0" y="486887"/>
                  <a:pt x="0" y="432801"/>
                </a:cubicBezTo>
                <a:lnTo>
                  <a:pt x="0" y="97996"/>
                </a:lnTo>
                <a:cubicBezTo>
                  <a:pt x="0" y="43910"/>
                  <a:pt x="43910" y="0"/>
                  <a:pt x="97996" y="0"/>
                </a:cubicBezTo>
                <a:close/>
              </a:path>
            </a:pathLst>
          </a:custGeom>
          <a:solidFill>
            <a:srgbClr val="0F172A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8"/>
          <p:cNvSpPr/>
          <p:nvPr/>
        </p:nvSpPr>
        <p:spPr>
          <a:xfrm>
            <a:off x="669621" y="2221182"/>
            <a:ext cx="5054821" cy="1959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29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Требование:</a:t>
            </a:r>
            <a:r>
              <a:rPr b="0" i="0" lang="en-US" sz="1029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"Мгновенная обучающая обратная связь после каждого действия"</a:t>
            </a:r>
            <a:endParaRPr b="0" i="0" sz="1600" u="none" cap="none" strike="noStrike"/>
          </a:p>
        </p:txBody>
      </p:sp>
      <p:sp>
        <p:nvSpPr>
          <p:cNvPr id="160" name="Google Shape;160;p8"/>
          <p:cNvSpPr/>
          <p:nvPr/>
        </p:nvSpPr>
        <p:spPr>
          <a:xfrm>
            <a:off x="534880" y="2723397"/>
            <a:ext cx="5258974" cy="465468"/>
          </a:xfrm>
          <a:custGeom>
            <a:rect b="b" l="l" r="r" t="t"/>
            <a:pathLst>
              <a:path extrusionOk="0" h="465468" w="5258974">
                <a:moveTo>
                  <a:pt x="97995" y="0"/>
                </a:moveTo>
                <a:lnTo>
                  <a:pt x="5160979" y="0"/>
                </a:lnTo>
                <a:cubicBezTo>
                  <a:pt x="5215100" y="0"/>
                  <a:pt x="5258974" y="43874"/>
                  <a:pt x="5258974" y="97995"/>
                </a:cubicBezTo>
                <a:lnTo>
                  <a:pt x="5258974" y="367473"/>
                </a:lnTo>
                <a:cubicBezTo>
                  <a:pt x="5258974" y="421594"/>
                  <a:pt x="5215100" y="465468"/>
                  <a:pt x="5160979" y="465468"/>
                </a:cubicBezTo>
                <a:lnTo>
                  <a:pt x="97995" y="465468"/>
                </a:lnTo>
                <a:cubicBezTo>
                  <a:pt x="43910" y="465468"/>
                  <a:pt x="0" y="421558"/>
                  <a:pt x="0" y="367473"/>
                </a:cubicBezTo>
                <a:lnTo>
                  <a:pt x="0" y="97995"/>
                </a:lnTo>
                <a:cubicBezTo>
                  <a:pt x="0" y="43910"/>
                  <a:pt x="43910" y="0"/>
                  <a:pt x="97995" y="0"/>
                </a:cubicBezTo>
                <a:close/>
              </a:path>
            </a:pathLst>
          </a:custGeom>
          <a:gradFill>
            <a:gsLst>
              <a:gs pos="0">
                <a:srgbClr val="3B82F6">
                  <a:alpha val="20000"/>
                </a:srgbClr>
              </a:gs>
              <a:gs pos="100000">
                <a:srgbClr val="22D3EE">
                  <a:alpha val="20000"/>
                </a:srgbClr>
              </a:gs>
            </a:gsLst>
            <a:lin ang="0" scaled="0"/>
          </a:gradFill>
          <a:ln cap="flat" cmpd="sng" w="12700">
            <a:solidFill>
              <a:srgbClr val="3B82F6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8"/>
          <p:cNvSpPr/>
          <p:nvPr/>
        </p:nvSpPr>
        <p:spPr>
          <a:xfrm>
            <a:off x="669621" y="2858138"/>
            <a:ext cx="5054821" cy="1959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29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Решение:</a:t>
            </a:r>
            <a:r>
              <a:rPr b="0" i="0" lang="en-US" sz="1029" u="none" cap="none" strike="noStrike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После каждого решения — объяснение последствий и советы</a:t>
            </a:r>
            <a:endParaRPr b="0" i="0" sz="1600" u="none" cap="none" strike="noStrike"/>
          </a:p>
        </p:txBody>
      </p:sp>
      <p:sp>
        <p:nvSpPr>
          <p:cNvPr id="162" name="Google Shape;162;p8"/>
          <p:cNvSpPr/>
          <p:nvPr/>
        </p:nvSpPr>
        <p:spPr>
          <a:xfrm>
            <a:off x="330727" y="3727829"/>
            <a:ext cx="5667279" cy="2164019"/>
          </a:xfrm>
          <a:custGeom>
            <a:rect b="b" l="l" r="r" t="t"/>
            <a:pathLst>
              <a:path extrusionOk="0" h="2164019" w="5667279">
                <a:moveTo>
                  <a:pt x="130663" y="0"/>
                </a:moveTo>
                <a:lnTo>
                  <a:pt x="5536616" y="0"/>
                </a:lnTo>
                <a:cubicBezTo>
                  <a:pt x="5608779" y="0"/>
                  <a:pt x="5667279" y="58500"/>
                  <a:pt x="5667279" y="130663"/>
                </a:cubicBezTo>
                <a:lnTo>
                  <a:pt x="5667279" y="2033355"/>
                </a:lnTo>
                <a:cubicBezTo>
                  <a:pt x="5667279" y="2105519"/>
                  <a:pt x="5608779" y="2164019"/>
                  <a:pt x="5536616" y="2164019"/>
                </a:cubicBezTo>
                <a:lnTo>
                  <a:pt x="130663" y="2164019"/>
                </a:lnTo>
                <a:cubicBezTo>
                  <a:pt x="58500" y="2164019"/>
                  <a:pt x="0" y="2105519"/>
                  <a:pt x="0" y="2033355"/>
                </a:cubicBezTo>
                <a:lnTo>
                  <a:pt x="0" y="130663"/>
                </a:lnTo>
                <a:cubicBezTo>
                  <a:pt x="0" y="58548"/>
                  <a:pt x="58548" y="0"/>
                  <a:pt x="130663" y="0"/>
                </a:cubicBezTo>
                <a:close/>
              </a:path>
            </a:pathLst>
          </a:custGeom>
          <a:gradFill>
            <a:gsLst>
              <a:gs pos="0">
                <a:srgbClr val="1E293B"/>
              </a:gs>
              <a:gs pos="100000">
                <a:srgbClr val="0F172A"/>
              </a:gs>
            </a:gsLst>
            <a:lin ang="2700000" scaled="0"/>
          </a:gra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8"/>
          <p:cNvSpPr/>
          <p:nvPr/>
        </p:nvSpPr>
        <p:spPr>
          <a:xfrm>
            <a:off x="530797" y="3927898"/>
            <a:ext cx="391973" cy="391973"/>
          </a:xfrm>
          <a:custGeom>
            <a:rect b="b" l="l" r="r" t="t"/>
            <a:pathLst>
              <a:path extrusionOk="0" h="391973" w="391973">
                <a:moveTo>
                  <a:pt x="97993" y="0"/>
                </a:moveTo>
                <a:lnTo>
                  <a:pt x="293980" y="0"/>
                </a:lnTo>
                <a:cubicBezTo>
                  <a:pt x="348064" y="0"/>
                  <a:pt x="391973" y="43909"/>
                  <a:pt x="391973" y="97993"/>
                </a:cubicBezTo>
                <a:lnTo>
                  <a:pt x="391973" y="293980"/>
                </a:lnTo>
                <a:cubicBezTo>
                  <a:pt x="391973" y="348064"/>
                  <a:pt x="348064" y="391973"/>
                  <a:pt x="293980" y="391973"/>
                </a:cubicBezTo>
                <a:lnTo>
                  <a:pt x="97993" y="391973"/>
                </a:lnTo>
                <a:cubicBezTo>
                  <a:pt x="43909" y="391973"/>
                  <a:pt x="0" y="348064"/>
                  <a:pt x="0" y="293980"/>
                </a:cubicBezTo>
                <a:lnTo>
                  <a:pt x="0" y="97993"/>
                </a:lnTo>
                <a:cubicBezTo>
                  <a:pt x="0" y="43909"/>
                  <a:pt x="43909" y="0"/>
                  <a:pt x="97993" y="0"/>
                </a:cubicBezTo>
                <a:close/>
              </a:path>
            </a:pathLst>
          </a:custGeom>
          <a:gradFill>
            <a:gsLst>
              <a:gs pos="0">
                <a:srgbClr val="10B981"/>
              </a:gs>
              <a:gs pos="100000">
                <a:srgbClr val="22D3EE"/>
              </a:gs>
            </a:gsLst>
            <a:lin ang="27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8"/>
          <p:cNvSpPr/>
          <p:nvPr/>
        </p:nvSpPr>
        <p:spPr>
          <a:xfrm>
            <a:off x="655330" y="4042224"/>
            <a:ext cx="142907" cy="163322"/>
          </a:xfrm>
          <a:custGeom>
            <a:rect b="b" l="l" r="r" t="t"/>
            <a:pathLst>
              <a:path extrusionOk="0" h="163322" w="142907">
                <a:moveTo>
                  <a:pt x="29092" y="11771"/>
                </a:moveTo>
                <a:cubicBezTo>
                  <a:pt x="25136" y="9602"/>
                  <a:pt x="20351" y="9697"/>
                  <a:pt x="16460" y="11994"/>
                </a:cubicBezTo>
                <a:cubicBezTo>
                  <a:pt x="12568" y="14291"/>
                  <a:pt x="10208" y="18469"/>
                  <a:pt x="10208" y="22967"/>
                </a:cubicBezTo>
                <a:lnTo>
                  <a:pt x="10208" y="140355"/>
                </a:lnTo>
                <a:cubicBezTo>
                  <a:pt x="10208" y="144853"/>
                  <a:pt x="12600" y="149031"/>
                  <a:pt x="16460" y="151328"/>
                </a:cubicBezTo>
                <a:cubicBezTo>
                  <a:pt x="20320" y="153625"/>
                  <a:pt x="25136" y="153721"/>
                  <a:pt x="29092" y="151551"/>
                </a:cubicBezTo>
                <a:lnTo>
                  <a:pt x="136272" y="92858"/>
                </a:lnTo>
                <a:cubicBezTo>
                  <a:pt x="140355" y="90625"/>
                  <a:pt x="142907" y="86318"/>
                  <a:pt x="142907" y="81661"/>
                </a:cubicBezTo>
                <a:cubicBezTo>
                  <a:pt x="142907" y="77004"/>
                  <a:pt x="140355" y="72698"/>
                  <a:pt x="136272" y="70465"/>
                </a:cubicBezTo>
                <a:lnTo>
                  <a:pt x="29092" y="1177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8"/>
          <p:cNvSpPr/>
          <p:nvPr/>
        </p:nvSpPr>
        <p:spPr>
          <a:xfrm>
            <a:off x="1020764" y="4009559"/>
            <a:ext cx="1780212" cy="2286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86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Запуск без установки</a:t>
            </a:r>
            <a:endParaRPr b="0" i="0" sz="1600" u="none" cap="none" strike="noStrike"/>
          </a:p>
        </p:txBody>
      </p:sp>
      <p:sp>
        <p:nvSpPr>
          <p:cNvPr id="166" name="Google Shape;166;p8"/>
          <p:cNvSpPr/>
          <p:nvPr/>
        </p:nvSpPr>
        <p:spPr>
          <a:xfrm>
            <a:off x="534880" y="4454612"/>
            <a:ext cx="5258974" cy="530797"/>
          </a:xfrm>
          <a:custGeom>
            <a:rect b="b" l="l" r="r" t="t"/>
            <a:pathLst>
              <a:path extrusionOk="0" h="530797" w="5258974">
                <a:moveTo>
                  <a:pt x="97996" y="0"/>
                </a:moveTo>
                <a:lnTo>
                  <a:pt x="5160978" y="0"/>
                </a:lnTo>
                <a:cubicBezTo>
                  <a:pt x="5215100" y="0"/>
                  <a:pt x="5258974" y="43874"/>
                  <a:pt x="5258974" y="97996"/>
                </a:cubicBezTo>
                <a:lnTo>
                  <a:pt x="5258974" y="432801"/>
                </a:lnTo>
                <a:cubicBezTo>
                  <a:pt x="5258974" y="486923"/>
                  <a:pt x="5215100" y="530797"/>
                  <a:pt x="5160978" y="530797"/>
                </a:cubicBezTo>
                <a:lnTo>
                  <a:pt x="97996" y="530797"/>
                </a:lnTo>
                <a:cubicBezTo>
                  <a:pt x="43910" y="530797"/>
                  <a:pt x="0" y="486887"/>
                  <a:pt x="0" y="432801"/>
                </a:cubicBezTo>
                <a:lnTo>
                  <a:pt x="0" y="97996"/>
                </a:lnTo>
                <a:cubicBezTo>
                  <a:pt x="0" y="43910"/>
                  <a:pt x="43910" y="0"/>
                  <a:pt x="97996" y="0"/>
                </a:cubicBezTo>
                <a:close/>
              </a:path>
            </a:pathLst>
          </a:custGeom>
          <a:solidFill>
            <a:srgbClr val="0F172A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8"/>
          <p:cNvSpPr/>
          <p:nvPr/>
        </p:nvSpPr>
        <p:spPr>
          <a:xfrm>
            <a:off x="669621" y="4589353"/>
            <a:ext cx="5054821" cy="1959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29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Требование:</a:t>
            </a:r>
            <a:r>
              <a:rPr b="0" i="0" lang="en-US" sz="1029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"Запуск без установки и дополнительных действий"</a:t>
            </a:r>
            <a:endParaRPr b="0" i="0" sz="1600" u="none" cap="none" strike="noStrike"/>
          </a:p>
        </p:txBody>
      </p:sp>
      <p:sp>
        <p:nvSpPr>
          <p:cNvPr id="168" name="Google Shape;168;p8"/>
          <p:cNvSpPr/>
          <p:nvPr/>
        </p:nvSpPr>
        <p:spPr>
          <a:xfrm>
            <a:off x="534880" y="5091569"/>
            <a:ext cx="5258974" cy="465468"/>
          </a:xfrm>
          <a:custGeom>
            <a:rect b="b" l="l" r="r" t="t"/>
            <a:pathLst>
              <a:path extrusionOk="0" h="465468" w="5258974">
                <a:moveTo>
                  <a:pt x="97995" y="0"/>
                </a:moveTo>
                <a:lnTo>
                  <a:pt x="5160979" y="0"/>
                </a:lnTo>
                <a:cubicBezTo>
                  <a:pt x="5215100" y="0"/>
                  <a:pt x="5258974" y="43874"/>
                  <a:pt x="5258974" y="97995"/>
                </a:cubicBezTo>
                <a:lnTo>
                  <a:pt x="5258974" y="367473"/>
                </a:lnTo>
                <a:cubicBezTo>
                  <a:pt x="5258974" y="421594"/>
                  <a:pt x="5215100" y="465468"/>
                  <a:pt x="5160979" y="465468"/>
                </a:cubicBezTo>
                <a:lnTo>
                  <a:pt x="97995" y="465468"/>
                </a:lnTo>
                <a:cubicBezTo>
                  <a:pt x="43910" y="465468"/>
                  <a:pt x="0" y="421558"/>
                  <a:pt x="0" y="367473"/>
                </a:cubicBezTo>
                <a:lnTo>
                  <a:pt x="0" y="97995"/>
                </a:lnTo>
                <a:cubicBezTo>
                  <a:pt x="0" y="43910"/>
                  <a:pt x="43910" y="0"/>
                  <a:pt x="97995" y="0"/>
                </a:cubicBezTo>
                <a:close/>
              </a:path>
            </a:pathLst>
          </a:custGeom>
          <a:gradFill>
            <a:gsLst>
              <a:gs pos="0">
                <a:srgbClr val="10B981">
                  <a:alpha val="20000"/>
                </a:srgbClr>
              </a:gs>
              <a:gs pos="100000">
                <a:srgbClr val="22D3EE">
                  <a:alpha val="20000"/>
                </a:srgbClr>
              </a:gs>
            </a:gsLst>
            <a:lin ang="0" scaled="0"/>
          </a:gradFill>
          <a:ln cap="flat" cmpd="sng" w="12700">
            <a:solidFill>
              <a:srgbClr val="10B981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8"/>
          <p:cNvSpPr/>
          <p:nvPr/>
        </p:nvSpPr>
        <p:spPr>
          <a:xfrm>
            <a:off x="669621" y="5226309"/>
            <a:ext cx="5054821" cy="1959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29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Решение:</a:t>
            </a:r>
            <a:r>
              <a:rPr b="0" i="0" lang="en-US" sz="1029" u="none" cap="none" strike="noStrike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Браузерная игра на GitHub Pages — открыл ссылку и играй мгновенно</a:t>
            </a:r>
            <a:endParaRPr b="0" i="0" sz="1600" u="none" cap="none" strike="noStrike"/>
          </a:p>
        </p:txBody>
      </p:sp>
      <p:sp>
        <p:nvSpPr>
          <p:cNvPr id="170" name="Google Shape;170;p8"/>
          <p:cNvSpPr/>
          <p:nvPr/>
        </p:nvSpPr>
        <p:spPr>
          <a:xfrm>
            <a:off x="6199352" y="1359657"/>
            <a:ext cx="5667279" cy="2164019"/>
          </a:xfrm>
          <a:custGeom>
            <a:rect b="b" l="l" r="r" t="t"/>
            <a:pathLst>
              <a:path extrusionOk="0" h="2164019" w="5667279">
                <a:moveTo>
                  <a:pt x="130663" y="0"/>
                </a:moveTo>
                <a:lnTo>
                  <a:pt x="5536616" y="0"/>
                </a:lnTo>
                <a:cubicBezTo>
                  <a:pt x="5608779" y="0"/>
                  <a:pt x="5667279" y="58500"/>
                  <a:pt x="5667279" y="130663"/>
                </a:cubicBezTo>
                <a:lnTo>
                  <a:pt x="5667279" y="2033355"/>
                </a:lnTo>
                <a:cubicBezTo>
                  <a:pt x="5667279" y="2105519"/>
                  <a:pt x="5608779" y="2164019"/>
                  <a:pt x="5536616" y="2164019"/>
                </a:cubicBezTo>
                <a:lnTo>
                  <a:pt x="130663" y="2164019"/>
                </a:lnTo>
                <a:cubicBezTo>
                  <a:pt x="58500" y="2164019"/>
                  <a:pt x="0" y="2105519"/>
                  <a:pt x="0" y="2033355"/>
                </a:cubicBezTo>
                <a:lnTo>
                  <a:pt x="0" y="130663"/>
                </a:lnTo>
                <a:cubicBezTo>
                  <a:pt x="0" y="58548"/>
                  <a:pt x="58548" y="0"/>
                  <a:pt x="130663" y="0"/>
                </a:cubicBezTo>
                <a:close/>
              </a:path>
            </a:pathLst>
          </a:custGeom>
          <a:gradFill>
            <a:gsLst>
              <a:gs pos="0">
                <a:srgbClr val="1E293B"/>
              </a:gs>
              <a:gs pos="100000">
                <a:srgbClr val="0F172A"/>
              </a:gs>
            </a:gsLst>
            <a:lin ang="2700000" scaled="0"/>
          </a:gra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8"/>
          <p:cNvSpPr/>
          <p:nvPr/>
        </p:nvSpPr>
        <p:spPr>
          <a:xfrm>
            <a:off x="6399422" y="1559727"/>
            <a:ext cx="391973" cy="391973"/>
          </a:xfrm>
          <a:custGeom>
            <a:rect b="b" l="l" r="r" t="t"/>
            <a:pathLst>
              <a:path extrusionOk="0" h="391973" w="391973">
                <a:moveTo>
                  <a:pt x="97993" y="0"/>
                </a:moveTo>
                <a:lnTo>
                  <a:pt x="293980" y="0"/>
                </a:lnTo>
                <a:cubicBezTo>
                  <a:pt x="348064" y="0"/>
                  <a:pt x="391973" y="43909"/>
                  <a:pt x="391973" y="97993"/>
                </a:cubicBezTo>
                <a:lnTo>
                  <a:pt x="391973" y="293980"/>
                </a:lnTo>
                <a:cubicBezTo>
                  <a:pt x="391973" y="348064"/>
                  <a:pt x="348064" y="391973"/>
                  <a:pt x="293980" y="391973"/>
                </a:cubicBezTo>
                <a:lnTo>
                  <a:pt x="97993" y="391973"/>
                </a:lnTo>
                <a:cubicBezTo>
                  <a:pt x="43909" y="391973"/>
                  <a:pt x="0" y="348064"/>
                  <a:pt x="0" y="293980"/>
                </a:cubicBezTo>
                <a:lnTo>
                  <a:pt x="0" y="97993"/>
                </a:lnTo>
                <a:cubicBezTo>
                  <a:pt x="0" y="43909"/>
                  <a:pt x="43909" y="0"/>
                  <a:pt x="97993" y="0"/>
                </a:cubicBezTo>
                <a:close/>
              </a:path>
            </a:pathLst>
          </a:custGeom>
          <a:gradFill>
            <a:gsLst>
              <a:gs pos="0">
                <a:srgbClr val="F59E0B"/>
              </a:gs>
              <a:gs pos="100000">
                <a:srgbClr val="EF4444"/>
              </a:gs>
            </a:gsLst>
            <a:lin ang="27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8"/>
          <p:cNvSpPr/>
          <p:nvPr/>
        </p:nvSpPr>
        <p:spPr>
          <a:xfrm>
            <a:off x="6503540" y="1674052"/>
            <a:ext cx="183737" cy="163322"/>
          </a:xfrm>
          <a:custGeom>
            <a:rect b="b" l="l" r="r" t="t"/>
            <a:pathLst>
              <a:path extrusionOk="0" h="163322" w="183737">
                <a:moveTo>
                  <a:pt x="61246" y="30623"/>
                </a:moveTo>
                <a:cubicBezTo>
                  <a:pt x="61246" y="13717"/>
                  <a:pt x="74962" y="0"/>
                  <a:pt x="91869" y="0"/>
                </a:cubicBezTo>
                <a:cubicBezTo>
                  <a:pt x="108775" y="0"/>
                  <a:pt x="122492" y="13717"/>
                  <a:pt x="122492" y="30623"/>
                </a:cubicBezTo>
                <a:lnTo>
                  <a:pt x="122492" y="31771"/>
                </a:lnTo>
                <a:cubicBezTo>
                  <a:pt x="122492" y="36779"/>
                  <a:pt x="118440" y="40831"/>
                  <a:pt x="113432" y="40831"/>
                </a:cubicBezTo>
                <a:lnTo>
                  <a:pt x="70337" y="40831"/>
                </a:lnTo>
                <a:cubicBezTo>
                  <a:pt x="65329" y="40831"/>
                  <a:pt x="61278" y="36779"/>
                  <a:pt x="61278" y="31771"/>
                </a:cubicBezTo>
                <a:lnTo>
                  <a:pt x="61278" y="30623"/>
                </a:lnTo>
                <a:close/>
                <a:moveTo>
                  <a:pt x="171488" y="34706"/>
                </a:moveTo>
                <a:cubicBezTo>
                  <a:pt x="174870" y="39204"/>
                  <a:pt x="173944" y="45615"/>
                  <a:pt x="169447" y="48997"/>
                </a:cubicBezTo>
                <a:lnTo>
                  <a:pt x="138250" y="72379"/>
                </a:lnTo>
                <a:cubicBezTo>
                  <a:pt x="139940" y="75218"/>
                  <a:pt x="141216" y="78344"/>
                  <a:pt x="142014" y="81661"/>
                </a:cubicBezTo>
                <a:lnTo>
                  <a:pt x="173530" y="81661"/>
                </a:lnTo>
                <a:cubicBezTo>
                  <a:pt x="179176" y="81661"/>
                  <a:pt x="183737" y="86223"/>
                  <a:pt x="183737" y="91869"/>
                </a:cubicBezTo>
                <a:cubicBezTo>
                  <a:pt x="183737" y="97515"/>
                  <a:pt x="179176" y="102076"/>
                  <a:pt x="173530" y="102076"/>
                </a:cubicBezTo>
                <a:lnTo>
                  <a:pt x="142907" y="102076"/>
                </a:lnTo>
                <a:lnTo>
                  <a:pt x="142907" y="112284"/>
                </a:lnTo>
                <a:cubicBezTo>
                  <a:pt x="142907" y="113113"/>
                  <a:pt x="142875" y="113975"/>
                  <a:pt x="142843" y="114804"/>
                </a:cubicBezTo>
                <a:lnTo>
                  <a:pt x="169447" y="134741"/>
                </a:lnTo>
                <a:cubicBezTo>
                  <a:pt x="173944" y="138122"/>
                  <a:pt x="174870" y="144534"/>
                  <a:pt x="171488" y="149031"/>
                </a:cubicBezTo>
                <a:cubicBezTo>
                  <a:pt x="168107" y="153529"/>
                  <a:pt x="161695" y="154454"/>
                  <a:pt x="157198" y="151073"/>
                </a:cubicBezTo>
                <a:lnTo>
                  <a:pt x="137069" y="135985"/>
                </a:lnTo>
                <a:cubicBezTo>
                  <a:pt x="129669" y="150084"/>
                  <a:pt x="115857" y="160292"/>
                  <a:pt x="99524" y="162748"/>
                </a:cubicBezTo>
                <a:lnTo>
                  <a:pt x="99524" y="89317"/>
                </a:lnTo>
                <a:cubicBezTo>
                  <a:pt x="99524" y="85074"/>
                  <a:pt x="96111" y="81661"/>
                  <a:pt x="91869" y="81661"/>
                </a:cubicBezTo>
                <a:cubicBezTo>
                  <a:pt x="87626" y="81661"/>
                  <a:pt x="84213" y="85074"/>
                  <a:pt x="84213" y="89317"/>
                </a:cubicBezTo>
                <a:lnTo>
                  <a:pt x="84213" y="162748"/>
                </a:lnTo>
                <a:cubicBezTo>
                  <a:pt x="67881" y="160292"/>
                  <a:pt x="54069" y="150084"/>
                  <a:pt x="46668" y="135985"/>
                </a:cubicBezTo>
                <a:lnTo>
                  <a:pt x="26540" y="151073"/>
                </a:lnTo>
                <a:cubicBezTo>
                  <a:pt x="22042" y="154454"/>
                  <a:pt x="15630" y="153529"/>
                  <a:pt x="12249" y="149031"/>
                </a:cubicBezTo>
                <a:cubicBezTo>
                  <a:pt x="8868" y="144534"/>
                  <a:pt x="9793" y="138122"/>
                  <a:pt x="14291" y="134741"/>
                </a:cubicBezTo>
                <a:lnTo>
                  <a:pt x="40894" y="114804"/>
                </a:lnTo>
                <a:cubicBezTo>
                  <a:pt x="40862" y="113975"/>
                  <a:pt x="40831" y="113145"/>
                  <a:pt x="40831" y="112284"/>
                </a:cubicBezTo>
                <a:lnTo>
                  <a:pt x="40831" y="102076"/>
                </a:lnTo>
                <a:lnTo>
                  <a:pt x="10208" y="102076"/>
                </a:lnTo>
                <a:cubicBezTo>
                  <a:pt x="4562" y="102076"/>
                  <a:pt x="0" y="97515"/>
                  <a:pt x="0" y="91869"/>
                </a:cubicBezTo>
                <a:cubicBezTo>
                  <a:pt x="0" y="86223"/>
                  <a:pt x="4562" y="81661"/>
                  <a:pt x="10208" y="81661"/>
                </a:cubicBezTo>
                <a:lnTo>
                  <a:pt x="41724" y="81661"/>
                </a:lnTo>
                <a:cubicBezTo>
                  <a:pt x="42521" y="78344"/>
                  <a:pt x="43797" y="75218"/>
                  <a:pt x="45488" y="72379"/>
                </a:cubicBezTo>
                <a:lnTo>
                  <a:pt x="14291" y="48997"/>
                </a:lnTo>
                <a:cubicBezTo>
                  <a:pt x="9793" y="45615"/>
                  <a:pt x="8868" y="39204"/>
                  <a:pt x="12249" y="34706"/>
                </a:cubicBezTo>
                <a:cubicBezTo>
                  <a:pt x="15630" y="30208"/>
                  <a:pt x="22042" y="29283"/>
                  <a:pt x="26540" y="32664"/>
                </a:cubicBezTo>
                <a:lnTo>
                  <a:pt x="61246" y="58694"/>
                </a:lnTo>
                <a:cubicBezTo>
                  <a:pt x="65169" y="57067"/>
                  <a:pt x="69476" y="56142"/>
                  <a:pt x="74005" y="56142"/>
                </a:cubicBezTo>
                <a:lnTo>
                  <a:pt x="109732" y="56142"/>
                </a:lnTo>
                <a:cubicBezTo>
                  <a:pt x="114262" y="56142"/>
                  <a:pt x="118568" y="57035"/>
                  <a:pt x="122492" y="58694"/>
                </a:cubicBezTo>
                <a:lnTo>
                  <a:pt x="157198" y="32664"/>
                </a:lnTo>
                <a:cubicBezTo>
                  <a:pt x="161695" y="29283"/>
                  <a:pt x="168107" y="30208"/>
                  <a:pt x="171488" y="3470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8"/>
          <p:cNvSpPr/>
          <p:nvPr/>
        </p:nvSpPr>
        <p:spPr>
          <a:xfrm>
            <a:off x="6889388" y="1641388"/>
            <a:ext cx="1584225" cy="2286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86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Песочница ошибок</a:t>
            </a:r>
            <a:endParaRPr b="0" i="0" sz="1600" u="none" cap="none" strike="noStrike"/>
          </a:p>
        </p:txBody>
      </p:sp>
      <p:sp>
        <p:nvSpPr>
          <p:cNvPr id="174" name="Google Shape;174;p8"/>
          <p:cNvSpPr/>
          <p:nvPr/>
        </p:nvSpPr>
        <p:spPr>
          <a:xfrm>
            <a:off x="6403505" y="2086441"/>
            <a:ext cx="5258974" cy="530797"/>
          </a:xfrm>
          <a:custGeom>
            <a:rect b="b" l="l" r="r" t="t"/>
            <a:pathLst>
              <a:path extrusionOk="0" h="530797" w="5258974">
                <a:moveTo>
                  <a:pt x="97996" y="0"/>
                </a:moveTo>
                <a:lnTo>
                  <a:pt x="5160978" y="0"/>
                </a:lnTo>
                <a:cubicBezTo>
                  <a:pt x="5215100" y="0"/>
                  <a:pt x="5258974" y="43874"/>
                  <a:pt x="5258974" y="97996"/>
                </a:cubicBezTo>
                <a:lnTo>
                  <a:pt x="5258974" y="432801"/>
                </a:lnTo>
                <a:cubicBezTo>
                  <a:pt x="5258974" y="486923"/>
                  <a:pt x="5215100" y="530797"/>
                  <a:pt x="5160978" y="530797"/>
                </a:cubicBezTo>
                <a:lnTo>
                  <a:pt x="97996" y="530797"/>
                </a:lnTo>
                <a:cubicBezTo>
                  <a:pt x="43910" y="530797"/>
                  <a:pt x="0" y="486887"/>
                  <a:pt x="0" y="432801"/>
                </a:cubicBezTo>
                <a:lnTo>
                  <a:pt x="0" y="97996"/>
                </a:lnTo>
                <a:cubicBezTo>
                  <a:pt x="0" y="43910"/>
                  <a:pt x="43910" y="0"/>
                  <a:pt x="97996" y="0"/>
                </a:cubicBezTo>
                <a:close/>
              </a:path>
            </a:pathLst>
          </a:custGeom>
          <a:solidFill>
            <a:srgbClr val="0F172A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8"/>
          <p:cNvSpPr/>
          <p:nvPr/>
        </p:nvSpPr>
        <p:spPr>
          <a:xfrm>
            <a:off x="6538246" y="2221182"/>
            <a:ext cx="5054821" cy="1959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29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Требование:</a:t>
            </a:r>
            <a:r>
              <a:rPr b="0" i="0" lang="en-US" sz="1029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"Режим 'Песочница ошибок' (разбор и повторение ошибок)"</a:t>
            </a:r>
            <a:endParaRPr b="0" i="0" sz="1600" u="none" cap="none" strike="noStrike"/>
          </a:p>
        </p:txBody>
      </p:sp>
      <p:sp>
        <p:nvSpPr>
          <p:cNvPr id="176" name="Google Shape;176;p8"/>
          <p:cNvSpPr/>
          <p:nvPr/>
        </p:nvSpPr>
        <p:spPr>
          <a:xfrm>
            <a:off x="6403505" y="2723397"/>
            <a:ext cx="5258974" cy="465468"/>
          </a:xfrm>
          <a:custGeom>
            <a:rect b="b" l="l" r="r" t="t"/>
            <a:pathLst>
              <a:path extrusionOk="0" h="465468" w="5258974">
                <a:moveTo>
                  <a:pt x="97995" y="0"/>
                </a:moveTo>
                <a:lnTo>
                  <a:pt x="5160979" y="0"/>
                </a:lnTo>
                <a:cubicBezTo>
                  <a:pt x="5215100" y="0"/>
                  <a:pt x="5258974" y="43874"/>
                  <a:pt x="5258974" y="97995"/>
                </a:cubicBezTo>
                <a:lnTo>
                  <a:pt x="5258974" y="367473"/>
                </a:lnTo>
                <a:cubicBezTo>
                  <a:pt x="5258974" y="421594"/>
                  <a:pt x="5215100" y="465468"/>
                  <a:pt x="5160979" y="465468"/>
                </a:cubicBezTo>
                <a:lnTo>
                  <a:pt x="97995" y="465468"/>
                </a:lnTo>
                <a:cubicBezTo>
                  <a:pt x="43910" y="465468"/>
                  <a:pt x="0" y="421558"/>
                  <a:pt x="0" y="367473"/>
                </a:cubicBezTo>
                <a:lnTo>
                  <a:pt x="0" y="97995"/>
                </a:lnTo>
                <a:cubicBezTo>
                  <a:pt x="0" y="43910"/>
                  <a:pt x="43910" y="0"/>
                  <a:pt x="97995" y="0"/>
                </a:cubicBezTo>
                <a:close/>
              </a:path>
            </a:pathLst>
          </a:custGeom>
          <a:gradFill>
            <a:gsLst>
              <a:gs pos="0">
                <a:srgbClr val="F59E0B">
                  <a:alpha val="20000"/>
                </a:srgbClr>
              </a:gs>
              <a:gs pos="100000">
                <a:srgbClr val="EF4444">
                  <a:alpha val="20000"/>
                </a:srgbClr>
              </a:gs>
            </a:gsLst>
            <a:lin ang="0" scaled="0"/>
          </a:gradFill>
          <a:ln cap="flat" cmpd="sng" w="12700">
            <a:solidFill>
              <a:srgbClr val="F59E0B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8"/>
          <p:cNvSpPr/>
          <p:nvPr/>
        </p:nvSpPr>
        <p:spPr>
          <a:xfrm>
            <a:off x="6538246" y="2858138"/>
            <a:ext cx="5054821" cy="1959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29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Решение:</a:t>
            </a:r>
            <a:r>
              <a:rPr b="0" i="0" lang="en-US" sz="1029" u="none" cap="none" strike="noStrike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Режим разбора ошибок с возможностью переиграть сценарий</a:t>
            </a:r>
            <a:endParaRPr b="0" i="0" sz="1600" u="none" cap="none" strike="noStrike"/>
          </a:p>
        </p:txBody>
      </p:sp>
      <p:sp>
        <p:nvSpPr>
          <p:cNvPr id="178" name="Google Shape;178;p8"/>
          <p:cNvSpPr/>
          <p:nvPr/>
        </p:nvSpPr>
        <p:spPr>
          <a:xfrm>
            <a:off x="6199352" y="3727829"/>
            <a:ext cx="5667279" cy="2164019"/>
          </a:xfrm>
          <a:custGeom>
            <a:rect b="b" l="l" r="r" t="t"/>
            <a:pathLst>
              <a:path extrusionOk="0" h="2164019" w="5667279">
                <a:moveTo>
                  <a:pt x="130663" y="0"/>
                </a:moveTo>
                <a:lnTo>
                  <a:pt x="5536616" y="0"/>
                </a:lnTo>
                <a:cubicBezTo>
                  <a:pt x="5608779" y="0"/>
                  <a:pt x="5667279" y="58500"/>
                  <a:pt x="5667279" y="130663"/>
                </a:cubicBezTo>
                <a:lnTo>
                  <a:pt x="5667279" y="2033355"/>
                </a:lnTo>
                <a:cubicBezTo>
                  <a:pt x="5667279" y="2105519"/>
                  <a:pt x="5608779" y="2164019"/>
                  <a:pt x="5536616" y="2164019"/>
                </a:cubicBezTo>
                <a:lnTo>
                  <a:pt x="130663" y="2164019"/>
                </a:lnTo>
                <a:cubicBezTo>
                  <a:pt x="58500" y="2164019"/>
                  <a:pt x="0" y="2105519"/>
                  <a:pt x="0" y="2033355"/>
                </a:cubicBezTo>
                <a:lnTo>
                  <a:pt x="0" y="130663"/>
                </a:lnTo>
                <a:cubicBezTo>
                  <a:pt x="0" y="58548"/>
                  <a:pt x="58548" y="0"/>
                  <a:pt x="130663" y="0"/>
                </a:cubicBezTo>
                <a:close/>
              </a:path>
            </a:pathLst>
          </a:custGeom>
          <a:gradFill>
            <a:gsLst>
              <a:gs pos="0">
                <a:srgbClr val="1E293B"/>
              </a:gs>
              <a:gs pos="100000">
                <a:srgbClr val="0F172A"/>
              </a:gs>
            </a:gsLst>
            <a:lin ang="2700000" scaled="0"/>
          </a:gra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8"/>
          <p:cNvSpPr/>
          <p:nvPr/>
        </p:nvSpPr>
        <p:spPr>
          <a:xfrm>
            <a:off x="6399422" y="3927898"/>
            <a:ext cx="391973" cy="391973"/>
          </a:xfrm>
          <a:custGeom>
            <a:rect b="b" l="l" r="r" t="t"/>
            <a:pathLst>
              <a:path extrusionOk="0" h="391973" w="391973">
                <a:moveTo>
                  <a:pt x="97993" y="0"/>
                </a:moveTo>
                <a:lnTo>
                  <a:pt x="293980" y="0"/>
                </a:lnTo>
                <a:cubicBezTo>
                  <a:pt x="348064" y="0"/>
                  <a:pt x="391973" y="43909"/>
                  <a:pt x="391973" y="97993"/>
                </a:cubicBezTo>
                <a:lnTo>
                  <a:pt x="391973" y="293980"/>
                </a:lnTo>
                <a:cubicBezTo>
                  <a:pt x="391973" y="348064"/>
                  <a:pt x="348064" y="391973"/>
                  <a:pt x="293980" y="391973"/>
                </a:cubicBezTo>
                <a:lnTo>
                  <a:pt x="97993" y="391973"/>
                </a:lnTo>
                <a:cubicBezTo>
                  <a:pt x="43909" y="391973"/>
                  <a:pt x="0" y="348064"/>
                  <a:pt x="0" y="293980"/>
                </a:cubicBezTo>
                <a:lnTo>
                  <a:pt x="0" y="97993"/>
                </a:lnTo>
                <a:cubicBezTo>
                  <a:pt x="0" y="43909"/>
                  <a:pt x="43909" y="0"/>
                  <a:pt x="97993" y="0"/>
                </a:cubicBezTo>
                <a:close/>
              </a:path>
            </a:pathLst>
          </a:custGeom>
          <a:gradFill>
            <a:gsLst>
              <a:gs pos="0">
                <a:srgbClr val="8B5CF6"/>
              </a:gs>
              <a:gs pos="100000">
                <a:srgbClr val="3B82F6"/>
              </a:gs>
            </a:gsLst>
            <a:lin ang="27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8"/>
          <p:cNvSpPr/>
          <p:nvPr/>
        </p:nvSpPr>
        <p:spPr>
          <a:xfrm>
            <a:off x="6503540" y="4042224"/>
            <a:ext cx="183737" cy="163322"/>
          </a:xfrm>
          <a:custGeom>
            <a:rect b="b" l="l" r="r" t="t"/>
            <a:pathLst>
              <a:path extrusionOk="0" h="163322" w="183737">
                <a:moveTo>
                  <a:pt x="15311" y="62458"/>
                </a:moveTo>
                <a:lnTo>
                  <a:pt x="82044" y="89923"/>
                </a:lnTo>
                <a:cubicBezTo>
                  <a:pt x="85170" y="91199"/>
                  <a:pt x="88487" y="91869"/>
                  <a:pt x="91869" y="91869"/>
                </a:cubicBezTo>
                <a:cubicBezTo>
                  <a:pt x="95250" y="91869"/>
                  <a:pt x="98567" y="91199"/>
                  <a:pt x="101694" y="89923"/>
                </a:cubicBezTo>
                <a:lnTo>
                  <a:pt x="179016" y="58088"/>
                </a:lnTo>
                <a:cubicBezTo>
                  <a:pt x="181887" y="56908"/>
                  <a:pt x="183737" y="54132"/>
                  <a:pt x="183737" y="51038"/>
                </a:cubicBezTo>
                <a:cubicBezTo>
                  <a:pt x="183737" y="47944"/>
                  <a:pt x="181887" y="45169"/>
                  <a:pt x="179016" y="43989"/>
                </a:cubicBezTo>
                <a:lnTo>
                  <a:pt x="101694" y="12153"/>
                </a:lnTo>
                <a:cubicBezTo>
                  <a:pt x="98567" y="10878"/>
                  <a:pt x="95250" y="10208"/>
                  <a:pt x="91869" y="10208"/>
                </a:cubicBezTo>
                <a:cubicBezTo>
                  <a:pt x="88487" y="10208"/>
                  <a:pt x="85170" y="10878"/>
                  <a:pt x="82044" y="12153"/>
                </a:cubicBezTo>
                <a:lnTo>
                  <a:pt x="4721" y="43989"/>
                </a:lnTo>
                <a:cubicBezTo>
                  <a:pt x="1850" y="45169"/>
                  <a:pt x="0" y="47944"/>
                  <a:pt x="0" y="51038"/>
                </a:cubicBezTo>
                <a:lnTo>
                  <a:pt x="0" y="145459"/>
                </a:lnTo>
                <a:cubicBezTo>
                  <a:pt x="0" y="149701"/>
                  <a:pt x="3413" y="153115"/>
                  <a:pt x="7656" y="153115"/>
                </a:cubicBezTo>
                <a:cubicBezTo>
                  <a:pt x="11898" y="153115"/>
                  <a:pt x="15311" y="149701"/>
                  <a:pt x="15311" y="145459"/>
                </a:cubicBezTo>
                <a:lnTo>
                  <a:pt x="15311" y="62458"/>
                </a:lnTo>
                <a:close/>
                <a:moveTo>
                  <a:pt x="30623" y="85329"/>
                </a:moveTo>
                <a:lnTo>
                  <a:pt x="30623" y="122492"/>
                </a:lnTo>
                <a:cubicBezTo>
                  <a:pt x="30623" y="139398"/>
                  <a:pt x="58056" y="153115"/>
                  <a:pt x="91869" y="153115"/>
                </a:cubicBezTo>
                <a:cubicBezTo>
                  <a:pt x="125682" y="153115"/>
                  <a:pt x="153115" y="139398"/>
                  <a:pt x="153115" y="122492"/>
                </a:cubicBezTo>
                <a:lnTo>
                  <a:pt x="153115" y="85298"/>
                </a:lnTo>
                <a:lnTo>
                  <a:pt x="107531" y="104086"/>
                </a:lnTo>
                <a:cubicBezTo>
                  <a:pt x="102555" y="106128"/>
                  <a:pt x="97260" y="107180"/>
                  <a:pt x="91869" y="107180"/>
                </a:cubicBezTo>
                <a:cubicBezTo>
                  <a:pt x="86478" y="107180"/>
                  <a:pt x="81183" y="106128"/>
                  <a:pt x="76206" y="104086"/>
                </a:cubicBezTo>
                <a:lnTo>
                  <a:pt x="30623" y="8529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8"/>
          <p:cNvSpPr/>
          <p:nvPr/>
        </p:nvSpPr>
        <p:spPr>
          <a:xfrm>
            <a:off x="6889388" y="4009559"/>
            <a:ext cx="1698551" cy="2286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86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Обучающий уровень</a:t>
            </a:r>
            <a:endParaRPr b="0" i="0" sz="1600" u="none" cap="none" strike="noStrike"/>
          </a:p>
        </p:txBody>
      </p:sp>
      <p:sp>
        <p:nvSpPr>
          <p:cNvPr id="182" name="Google Shape;182;p8"/>
          <p:cNvSpPr/>
          <p:nvPr/>
        </p:nvSpPr>
        <p:spPr>
          <a:xfrm>
            <a:off x="6403505" y="4454612"/>
            <a:ext cx="5258974" cy="530797"/>
          </a:xfrm>
          <a:custGeom>
            <a:rect b="b" l="l" r="r" t="t"/>
            <a:pathLst>
              <a:path extrusionOk="0" h="530797" w="5258974">
                <a:moveTo>
                  <a:pt x="97996" y="0"/>
                </a:moveTo>
                <a:lnTo>
                  <a:pt x="5160978" y="0"/>
                </a:lnTo>
                <a:cubicBezTo>
                  <a:pt x="5215100" y="0"/>
                  <a:pt x="5258974" y="43874"/>
                  <a:pt x="5258974" y="97996"/>
                </a:cubicBezTo>
                <a:lnTo>
                  <a:pt x="5258974" y="432801"/>
                </a:lnTo>
                <a:cubicBezTo>
                  <a:pt x="5258974" y="486923"/>
                  <a:pt x="5215100" y="530797"/>
                  <a:pt x="5160978" y="530797"/>
                </a:cubicBezTo>
                <a:lnTo>
                  <a:pt x="97996" y="530797"/>
                </a:lnTo>
                <a:cubicBezTo>
                  <a:pt x="43910" y="530797"/>
                  <a:pt x="0" y="486887"/>
                  <a:pt x="0" y="432801"/>
                </a:cubicBezTo>
                <a:lnTo>
                  <a:pt x="0" y="97996"/>
                </a:lnTo>
                <a:cubicBezTo>
                  <a:pt x="0" y="43910"/>
                  <a:pt x="43910" y="0"/>
                  <a:pt x="97996" y="0"/>
                </a:cubicBezTo>
                <a:close/>
              </a:path>
            </a:pathLst>
          </a:custGeom>
          <a:solidFill>
            <a:srgbClr val="0F172A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8"/>
          <p:cNvSpPr/>
          <p:nvPr/>
        </p:nvSpPr>
        <p:spPr>
          <a:xfrm>
            <a:off x="6538246" y="4589353"/>
            <a:ext cx="5054821" cy="1959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29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Требование:</a:t>
            </a:r>
            <a:r>
              <a:rPr b="0" i="0" lang="en-US" sz="1029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"Обучающий уровень и встроенная справка"</a:t>
            </a:r>
            <a:endParaRPr b="0" i="0" sz="1600" u="none" cap="none" strike="noStrike"/>
          </a:p>
        </p:txBody>
      </p:sp>
      <p:sp>
        <p:nvSpPr>
          <p:cNvPr id="184" name="Google Shape;184;p8"/>
          <p:cNvSpPr/>
          <p:nvPr/>
        </p:nvSpPr>
        <p:spPr>
          <a:xfrm>
            <a:off x="6403505" y="5091569"/>
            <a:ext cx="5258974" cy="465468"/>
          </a:xfrm>
          <a:custGeom>
            <a:rect b="b" l="l" r="r" t="t"/>
            <a:pathLst>
              <a:path extrusionOk="0" h="465468" w="5258974">
                <a:moveTo>
                  <a:pt x="97995" y="0"/>
                </a:moveTo>
                <a:lnTo>
                  <a:pt x="5160979" y="0"/>
                </a:lnTo>
                <a:cubicBezTo>
                  <a:pt x="5215100" y="0"/>
                  <a:pt x="5258974" y="43874"/>
                  <a:pt x="5258974" y="97995"/>
                </a:cubicBezTo>
                <a:lnTo>
                  <a:pt x="5258974" y="367473"/>
                </a:lnTo>
                <a:cubicBezTo>
                  <a:pt x="5258974" y="421594"/>
                  <a:pt x="5215100" y="465468"/>
                  <a:pt x="5160979" y="465468"/>
                </a:cubicBezTo>
                <a:lnTo>
                  <a:pt x="97995" y="465468"/>
                </a:lnTo>
                <a:cubicBezTo>
                  <a:pt x="43910" y="465468"/>
                  <a:pt x="0" y="421558"/>
                  <a:pt x="0" y="367473"/>
                </a:cubicBezTo>
                <a:lnTo>
                  <a:pt x="0" y="97995"/>
                </a:lnTo>
                <a:cubicBezTo>
                  <a:pt x="0" y="43910"/>
                  <a:pt x="43910" y="0"/>
                  <a:pt x="97995" y="0"/>
                </a:cubicBezTo>
                <a:close/>
              </a:path>
            </a:pathLst>
          </a:custGeom>
          <a:gradFill>
            <a:gsLst>
              <a:gs pos="0">
                <a:srgbClr val="8B5CF6">
                  <a:alpha val="20000"/>
                </a:srgbClr>
              </a:gs>
              <a:gs pos="100000">
                <a:srgbClr val="3B82F6">
                  <a:alpha val="20000"/>
                </a:srgbClr>
              </a:gs>
            </a:gsLst>
            <a:lin ang="0" scaled="0"/>
          </a:gradFill>
          <a:ln cap="flat" cmpd="sng" w="12700">
            <a:solidFill>
              <a:srgbClr val="8B5CF6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8"/>
          <p:cNvSpPr/>
          <p:nvPr/>
        </p:nvSpPr>
        <p:spPr>
          <a:xfrm>
            <a:off x="6538246" y="5226309"/>
            <a:ext cx="5054821" cy="1959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29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Решение:</a:t>
            </a:r>
            <a:r>
              <a:rPr b="0" i="0" lang="en-US" sz="1029" u="none" cap="none" strike="noStrike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Онбординг с интерактивным обучением и контекстные подсказки</a:t>
            </a:r>
            <a:endParaRPr b="0" i="0" sz="1600" u="none" cap="none" strike="noStrike"/>
          </a:p>
        </p:txBody>
      </p:sp>
      <p:sp>
        <p:nvSpPr>
          <p:cNvPr id="186" name="Google Shape;186;p8"/>
          <p:cNvSpPr/>
          <p:nvPr/>
        </p:nvSpPr>
        <p:spPr>
          <a:xfrm>
            <a:off x="330727" y="6030671"/>
            <a:ext cx="11530545" cy="498133"/>
          </a:xfrm>
          <a:custGeom>
            <a:rect b="b" l="l" r="r" t="t"/>
            <a:pathLst>
              <a:path extrusionOk="0" h="498133" w="11530545">
                <a:moveTo>
                  <a:pt x="97993" y="0"/>
                </a:moveTo>
                <a:lnTo>
                  <a:pt x="11432553" y="0"/>
                </a:lnTo>
                <a:cubicBezTo>
                  <a:pt x="11486672" y="0"/>
                  <a:pt x="11530545" y="43873"/>
                  <a:pt x="11530545" y="97993"/>
                </a:cubicBezTo>
                <a:lnTo>
                  <a:pt x="11530545" y="400140"/>
                </a:lnTo>
                <a:cubicBezTo>
                  <a:pt x="11530545" y="454260"/>
                  <a:pt x="11486672" y="498133"/>
                  <a:pt x="11432553" y="498133"/>
                </a:cubicBezTo>
                <a:lnTo>
                  <a:pt x="97993" y="498133"/>
                </a:lnTo>
                <a:cubicBezTo>
                  <a:pt x="43909" y="498133"/>
                  <a:pt x="0" y="454224"/>
                  <a:pt x="0" y="400140"/>
                </a:cubicBezTo>
                <a:lnTo>
                  <a:pt x="0" y="97993"/>
                </a:lnTo>
                <a:cubicBezTo>
                  <a:pt x="0" y="43909"/>
                  <a:pt x="43909" y="0"/>
                  <a:pt x="97993" y="0"/>
                </a:cubicBezTo>
                <a:close/>
              </a:path>
            </a:pathLst>
          </a:custGeom>
          <a:gradFill>
            <a:gsLst>
              <a:gs pos="0">
                <a:srgbClr val="10B981">
                  <a:alpha val="20000"/>
                </a:srgbClr>
              </a:gs>
              <a:gs pos="100000">
                <a:srgbClr val="22D3EE">
                  <a:alpha val="20000"/>
                </a:srgbClr>
              </a:gs>
            </a:gsLst>
            <a:lin ang="0" scaled="0"/>
          </a:gradFill>
          <a:ln cap="flat" cmpd="sng" w="12700">
            <a:solidFill>
              <a:srgbClr val="10B981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8"/>
          <p:cNvSpPr/>
          <p:nvPr/>
        </p:nvSpPr>
        <p:spPr>
          <a:xfrm>
            <a:off x="3040599" y="6181744"/>
            <a:ext cx="146990" cy="195987"/>
          </a:xfrm>
          <a:custGeom>
            <a:rect b="b" l="l" r="r" t="t"/>
            <a:pathLst>
              <a:path extrusionOk="0" h="195987" w="146990">
                <a:moveTo>
                  <a:pt x="95658" y="25570"/>
                </a:moveTo>
                <a:cubicBezTo>
                  <a:pt x="99639" y="20096"/>
                  <a:pt x="98414" y="12441"/>
                  <a:pt x="92941" y="8460"/>
                </a:cubicBezTo>
                <a:cubicBezTo>
                  <a:pt x="87467" y="4479"/>
                  <a:pt x="79811" y="5704"/>
                  <a:pt x="75830" y="11177"/>
                </a:cubicBezTo>
                <a:lnTo>
                  <a:pt x="35255" y="66949"/>
                </a:lnTo>
                <a:lnTo>
                  <a:pt x="20900" y="52595"/>
                </a:lnTo>
                <a:cubicBezTo>
                  <a:pt x="16115" y="47810"/>
                  <a:pt x="8345" y="47810"/>
                  <a:pt x="3560" y="52595"/>
                </a:cubicBezTo>
                <a:cubicBezTo>
                  <a:pt x="-1225" y="57380"/>
                  <a:pt x="-1225" y="65150"/>
                  <a:pt x="3560" y="69935"/>
                </a:cubicBezTo>
                <a:lnTo>
                  <a:pt x="28058" y="94433"/>
                </a:lnTo>
                <a:cubicBezTo>
                  <a:pt x="30585" y="96960"/>
                  <a:pt x="34106" y="98261"/>
                  <a:pt x="37666" y="97993"/>
                </a:cubicBezTo>
                <a:cubicBezTo>
                  <a:pt x="41226" y="97725"/>
                  <a:pt x="44518" y="95888"/>
                  <a:pt x="46623" y="92979"/>
                </a:cubicBezTo>
                <a:lnTo>
                  <a:pt x="95620" y="25608"/>
                </a:lnTo>
                <a:close/>
                <a:moveTo>
                  <a:pt x="144655" y="77629"/>
                </a:moveTo>
                <a:cubicBezTo>
                  <a:pt x="148636" y="72155"/>
                  <a:pt x="147411" y="64499"/>
                  <a:pt x="141937" y="60519"/>
                </a:cubicBezTo>
                <a:cubicBezTo>
                  <a:pt x="136463" y="56538"/>
                  <a:pt x="128808" y="57762"/>
                  <a:pt x="124827" y="63236"/>
                </a:cubicBezTo>
                <a:lnTo>
                  <a:pt x="59753" y="152693"/>
                </a:lnTo>
                <a:lnTo>
                  <a:pt x="33149" y="126090"/>
                </a:lnTo>
                <a:cubicBezTo>
                  <a:pt x="28364" y="121305"/>
                  <a:pt x="20594" y="121305"/>
                  <a:pt x="15809" y="126090"/>
                </a:cubicBezTo>
                <a:cubicBezTo>
                  <a:pt x="11024" y="130875"/>
                  <a:pt x="11024" y="138645"/>
                  <a:pt x="15809" y="143430"/>
                </a:cubicBezTo>
                <a:lnTo>
                  <a:pt x="52557" y="180178"/>
                </a:lnTo>
                <a:cubicBezTo>
                  <a:pt x="55083" y="182704"/>
                  <a:pt x="58605" y="184005"/>
                  <a:pt x="62165" y="183737"/>
                </a:cubicBezTo>
                <a:cubicBezTo>
                  <a:pt x="65724" y="183469"/>
                  <a:pt x="69016" y="181632"/>
                  <a:pt x="71122" y="178723"/>
                </a:cubicBezTo>
                <a:lnTo>
                  <a:pt x="144617" y="77667"/>
                </a:lnTo>
                <a:close/>
              </a:path>
            </a:pathLst>
          </a:cu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8"/>
          <p:cNvSpPr/>
          <p:nvPr/>
        </p:nvSpPr>
        <p:spPr>
          <a:xfrm>
            <a:off x="3334579" y="6165412"/>
            <a:ext cx="5953093" cy="2286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86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Все требования заказчика полностью реализованы в игровой механике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9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ГЕЙМПЛЕЙ И МЕХАНИКА</a:t>
            </a:r>
            <a:endParaRPr b="0" i="0" sz="1600" u="none" cap="none" strike="noStrike"/>
          </a:p>
        </p:txBody>
      </p:sp>
      <p:sp>
        <p:nvSpPr>
          <p:cNvPr id="195" name="Google Shape;195;p9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Игровая механика</a:t>
            </a:r>
            <a:endParaRPr b="0" i="0" sz="1600" u="none" cap="none" strike="noStrike"/>
          </a:p>
        </p:txBody>
      </p:sp>
      <p:sp>
        <p:nvSpPr>
          <p:cNvPr id="196" name="Google Shape;196;p9"/>
          <p:cNvSpPr/>
          <p:nvPr/>
        </p:nvSpPr>
        <p:spPr>
          <a:xfrm>
            <a:off x="381000" y="1295400"/>
            <a:ext cx="914400" cy="57150"/>
          </a:xfrm>
          <a:custGeom>
            <a:rect b="b" l="l" r="r" t="t"/>
            <a:pathLst>
              <a:path extrusionOk="0" h="57150" w="914400">
                <a:moveTo>
                  <a:pt x="0" y="0"/>
                </a:moveTo>
                <a:lnTo>
                  <a:pt x="914400" y="0"/>
                </a:lnTo>
                <a:lnTo>
                  <a:pt x="9144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3B82F6"/>
              </a:gs>
              <a:gs pos="100000">
                <a:srgbClr val="22D3EE"/>
              </a:gs>
            </a:gsLst>
            <a:lin ang="0" scaled="0"/>
          </a:gradFill>
          <a:ln>
            <a:noFill/>
          </a:ln>
        </p:spPr>
      </p:sp>
      <p:sp>
        <p:nvSpPr>
          <p:cNvPr id="197" name="Google Shape;197;p9"/>
          <p:cNvSpPr/>
          <p:nvPr/>
        </p:nvSpPr>
        <p:spPr>
          <a:xfrm>
            <a:off x="385763" y="1585913"/>
            <a:ext cx="3648075" cy="1704975"/>
          </a:xfrm>
          <a:custGeom>
            <a:rect b="b" l="l" r="r" t="t"/>
            <a:pathLst>
              <a:path extrusionOk="0" h="1704975" w="3648075">
                <a:moveTo>
                  <a:pt x="152408" y="0"/>
                </a:moveTo>
                <a:lnTo>
                  <a:pt x="3495667" y="0"/>
                </a:lnTo>
                <a:cubicBezTo>
                  <a:pt x="3579783" y="0"/>
                  <a:pt x="3648075" y="68292"/>
                  <a:pt x="3648075" y="152408"/>
                </a:cubicBezTo>
                <a:lnTo>
                  <a:pt x="3648075" y="1552567"/>
                </a:lnTo>
                <a:cubicBezTo>
                  <a:pt x="3648075" y="1636740"/>
                  <a:pt x="3579840" y="1704975"/>
                  <a:pt x="3495667" y="1704975"/>
                </a:cubicBezTo>
                <a:lnTo>
                  <a:pt x="152408" y="1704975"/>
                </a:lnTo>
                <a:cubicBezTo>
                  <a:pt x="68235" y="1704975"/>
                  <a:pt x="0" y="1636740"/>
                  <a:pt x="0" y="1552567"/>
                </a:cubicBezTo>
                <a:lnTo>
                  <a:pt x="0" y="152408"/>
                </a:lnTo>
                <a:cubicBezTo>
                  <a:pt x="0" y="68292"/>
                  <a:pt x="68292" y="0"/>
                  <a:pt x="152408" y="0"/>
                </a:cubicBezTo>
                <a:close/>
              </a:path>
            </a:pathLst>
          </a:custGeom>
          <a:gradFill>
            <a:gsLst>
              <a:gs pos="0">
                <a:srgbClr val="1E293B"/>
              </a:gs>
              <a:gs pos="100000">
                <a:srgbClr val="0F172A"/>
              </a:gs>
            </a:gsLst>
            <a:lin ang="2700000" scaled="0"/>
          </a:gra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9"/>
          <p:cNvSpPr/>
          <p:nvPr/>
        </p:nvSpPr>
        <p:spPr>
          <a:xfrm>
            <a:off x="581025" y="1781175"/>
            <a:ext cx="457200" cy="457200"/>
          </a:xfrm>
          <a:custGeom>
            <a:rect b="b" l="l" r="r" t="t"/>
            <a:pathLst>
              <a:path extrusionOk="0" h="457200" w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>
            <a:gsLst>
              <a:gs pos="0">
                <a:srgbClr val="3B82F6"/>
              </a:gs>
              <a:gs pos="100000">
                <a:srgbClr val="22D3EE"/>
              </a:gs>
            </a:gsLst>
            <a:lin ang="27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9"/>
          <p:cNvSpPr/>
          <p:nvPr/>
        </p:nvSpPr>
        <p:spPr>
          <a:xfrm>
            <a:off x="690563" y="1914525"/>
            <a:ext cx="238125" cy="190500"/>
          </a:xfrm>
          <a:custGeom>
            <a:rect b="b" l="l" r="r" t="t"/>
            <a:pathLst>
              <a:path extrusionOk="0" h="190500" w="238125">
                <a:moveTo>
                  <a:pt x="166688" y="23812"/>
                </a:moveTo>
                <a:cubicBezTo>
                  <a:pt x="206127" y="23812"/>
                  <a:pt x="238125" y="55811"/>
                  <a:pt x="238125" y="95250"/>
                </a:cubicBezTo>
                <a:cubicBezTo>
                  <a:pt x="238125" y="134689"/>
                  <a:pt x="206127" y="166688"/>
                  <a:pt x="166688" y="166688"/>
                </a:cubicBezTo>
                <a:lnTo>
                  <a:pt x="71438" y="166688"/>
                </a:lnTo>
                <a:cubicBezTo>
                  <a:pt x="31998" y="166688"/>
                  <a:pt x="0" y="134689"/>
                  <a:pt x="0" y="95250"/>
                </a:cubicBezTo>
                <a:cubicBezTo>
                  <a:pt x="0" y="55811"/>
                  <a:pt x="31998" y="23812"/>
                  <a:pt x="71438" y="23812"/>
                </a:cubicBezTo>
                <a:lnTo>
                  <a:pt x="166688" y="23812"/>
                </a:lnTo>
                <a:close/>
                <a:moveTo>
                  <a:pt x="71438" y="65484"/>
                </a:moveTo>
                <a:cubicBezTo>
                  <a:pt x="66489" y="65484"/>
                  <a:pt x="62508" y="69466"/>
                  <a:pt x="62508" y="74414"/>
                </a:cubicBezTo>
                <a:lnTo>
                  <a:pt x="62508" y="86320"/>
                </a:lnTo>
                <a:lnTo>
                  <a:pt x="50602" y="86320"/>
                </a:lnTo>
                <a:cubicBezTo>
                  <a:pt x="45653" y="86320"/>
                  <a:pt x="41672" y="90301"/>
                  <a:pt x="41672" y="95250"/>
                </a:cubicBezTo>
                <a:cubicBezTo>
                  <a:pt x="41672" y="100199"/>
                  <a:pt x="45653" y="104180"/>
                  <a:pt x="50602" y="104180"/>
                </a:cubicBezTo>
                <a:lnTo>
                  <a:pt x="62508" y="104180"/>
                </a:lnTo>
                <a:lnTo>
                  <a:pt x="62508" y="116086"/>
                </a:lnTo>
                <a:cubicBezTo>
                  <a:pt x="62508" y="121034"/>
                  <a:pt x="66489" y="125016"/>
                  <a:pt x="71438" y="125016"/>
                </a:cubicBezTo>
                <a:cubicBezTo>
                  <a:pt x="76386" y="125016"/>
                  <a:pt x="80367" y="121034"/>
                  <a:pt x="80367" y="116086"/>
                </a:cubicBezTo>
                <a:lnTo>
                  <a:pt x="80367" y="104180"/>
                </a:lnTo>
                <a:lnTo>
                  <a:pt x="92273" y="104180"/>
                </a:lnTo>
                <a:cubicBezTo>
                  <a:pt x="97222" y="104180"/>
                  <a:pt x="101203" y="100199"/>
                  <a:pt x="101203" y="95250"/>
                </a:cubicBezTo>
                <a:cubicBezTo>
                  <a:pt x="101203" y="90301"/>
                  <a:pt x="97222" y="86320"/>
                  <a:pt x="92273" y="86320"/>
                </a:cubicBezTo>
                <a:lnTo>
                  <a:pt x="80367" y="86320"/>
                </a:lnTo>
                <a:lnTo>
                  <a:pt x="80367" y="74414"/>
                </a:lnTo>
                <a:cubicBezTo>
                  <a:pt x="80367" y="69466"/>
                  <a:pt x="76386" y="65484"/>
                  <a:pt x="71438" y="65484"/>
                </a:cubicBezTo>
                <a:close/>
                <a:moveTo>
                  <a:pt x="160734" y="101203"/>
                </a:moveTo>
                <a:cubicBezTo>
                  <a:pt x="154163" y="101203"/>
                  <a:pt x="148828" y="106538"/>
                  <a:pt x="148828" y="113109"/>
                </a:cubicBezTo>
                <a:cubicBezTo>
                  <a:pt x="148828" y="119681"/>
                  <a:pt x="154163" y="125016"/>
                  <a:pt x="160734" y="125016"/>
                </a:cubicBezTo>
                <a:cubicBezTo>
                  <a:pt x="167306" y="125016"/>
                  <a:pt x="172641" y="119681"/>
                  <a:pt x="172641" y="113109"/>
                </a:cubicBezTo>
                <a:cubicBezTo>
                  <a:pt x="172641" y="106538"/>
                  <a:pt x="167306" y="101203"/>
                  <a:pt x="160734" y="101203"/>
                </a:cubicBezTo>
                <a:close/>
                <a:moveTo>
                  <a:pt x="184547" y="65484"/>
                </a:moveTo>
                <a:cubicBezTo>
                  <a:pt x="177976" y="65484"/>
                  <a:pt x="172641" y="70819"/>
                  <a:pt x="172641" y="77391"/>
                </a:cubicBezTo>
                <a:cubicBezTo>
                  <a:pt x="172641" y="83962"/>
                  <a:pt x="177976" y="89297"/>
                  <a:pt x="184547" y="89297"/>
                </a:cubicBezTo>
                <a:cubicBezTo>
                  <a:pt x="191118" y="89297"/>
                  <a:pt x="196453" y="83962"/>
                  <a:pt x="196453" y="77391"/>
                </a:cubicBezTo>
                <a:cubicBezTo>
                  <a:pt x="196453" y="70819"/>
                  <a:pt x="191118" y="65484"/>
                  <a:pt x="184547" y="6548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9"/>
          <p:cNvSpPr/>
          <p:nvPr/>
        </p:nvSpPr>
        <p:spPr>
          <a:xfrm>
            <a:off x="1152525" y="1876425"/>
            <a:ext cx="6096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Жанр</a:t>
            </a:r>
            <a:endParaRPr b="0" i="0" sz="1600" u="none" cap="none" strike="noStrike"/>
          </a:p>
        </p:txBody>
      </p:sp>
      <p:sp>
        <p:nvSpPr>
          <p:cNvPr id="201" name="Google Shape;201;p9"/>
          <p:cNvSpPr/>
          <p:nvPr/>
        </p:nvSpPr>
        <p:spPr>
          <a:xfrm>
            <a:off x="581025" y="2352675"/>
            <a:ext cx="33339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Стратегическая симуляционная образовательная игра с элементами менеджмента и принятия решений</a:t>
            </a:r>
            <a:endParaRPr b="0" i="0" sz="1600" u="none" cap="none" strike="noStrike"/>
          </a:p>
        </p:txBody>
      </p:sp>
      <p:sp>
        <p:nvSpPr>
          <p:cNvPr id="202" name="Google Shape;202;p9"/>
          <p:cNvSpPr/>
          <p:nvPr/>
        </p:nvSpPr>
        <p:spPr>
          <a:xfrm>
            <a:off x="385763" y="3529013"/>
            <a:ext cx="3648075" cy="1457325"/>
          </a:xfrm>
          <a:custGeom>
            <a:rect b="b" l="l" r="r" t="t"/>
            <a:pathLst>
              <a:path extrusionOk="0" h="1457325" w="3648075">
                <a:moveTo>
                  <a:pt x="152407" y="0"/>
                </a:moveTo>
                <a:lnTo>
                  <a:pt x="3495668" y="0"/>
                </a:lnTo>
                <a:cubicBezTo>
                  <a:pt x="3579840" y="0"/>
                  <a:pt x="3648075" y="68235"/>
                  <a:pt x="3648075" y="152407"/>
                </a:cubicBezTo>
                <a:lnTo>
                  <a:pt x="3648075" y="1304918"/>
                </a:lnTo>
                <a:cubicBezTo>
                  <a:pt x="3648075" y="1389090"/>
                  <a:pt x="3579840" y="1457325"/>
                  <a:pt x="3495668" y="1457325"/>
                </a:cubicBezTo>
                <a:lnTo>
                  <a:pt x="152407" y="1457325"/>
                </a:lnTo>
                <a:cubicBezTo>
                  <a:pt x="68235" y="1457325"/>
                  <a:pt x="0" y="1389090"/>
                  <a:pt x="0" y="1304918"/>
                </a:cubicBezTo>
                <a:lnTo>
                  <a:pt x="0" y="152407"/>
                </a:lnTo>
                <a:cubicBezTo>
                  <a:pt x="0" y="68291"/>
                  <a:pt x="68291" y="0"/>
                  <a:pt x="152407" y="0"/>
                </a:cubicBezTo>
                <a:close/>
              </a:path>
            </a:pathLst>
          </a:custGeom>
          <a:gradFill>
            <a:gsLst>
              <a:gs pos="0">
                <a:srgbClr val="1E293B"/>
              </a:gs>
              <a:gs pos="100000">
                <a:srgbClr val="0F172A"/>
              </a:gs>
            </a:gsLst>
            <a:lin ang="2700000" scaled="0"/>
          </a:gra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9"/>
          <p:cNvSpPr/>
          <p:nvPr/>
        </p:nvSpPr>
        <p:spPr>
          <a:xfrm>
            <a:off x="581025" y="3724275"/>
            <a:ext cx="457200" cy="457200"/>
          </a:xfrm>
          <a:custGeom>
            <a:rect b="b" l="l" r="r" t="t"/>
            <a:pathLst>
              <a:path extrusionOk="0" h="457200" w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>
            <a:gsLst>
              <a:gs pos="0">
                <a:srgbClr val="10B981"/>
              </a:gs>
              <a:gs pos="100000">
                <a:srgbClr val="22D3EE"/>
              </a:gs>
            </a:gsLst>
            <a:lin ang="27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9"/>
          <p:cNvSpPr/>
          <p:nvPr/>
        </p:nvSpPr>
        <p:spPr>
          <a:xfrm>
            <a:off x="714375" y="3857625"/>
            <a:ext cx="190500" cy="190500"/>
          </a:xfrm>
          <a:custGeom>
            <a:rect b="b" l="l" r="r" t="t"/>
            <a:pathLst>
              <a:path extrusionOk="0" h="190500" w="190500">
                <a:moveTo>
                  <a:pt x="178631" y="71438"/>
                </a:moveTo>
                <a:lnTo>
                  <a:pt x="181570" y="71438"/>
                </a:lnTo>
                <a:cubicBezTo>
                  <a:pt x="186519" y="71438"/>
                  <a:pt x="190500" y="67456"/>
                  <a:pt x="190500" y="62508"/>
                </a:cubicBezTo>
                <a:lnTo>
                  <a:pt x="190500" y="8930"/>
                </a:lnTo>
                <a:cubicBezTo>
                  <a:pt x="190500" y="5321"/>
                  <a:pt x="188342" y="2046"/>
                  <a:pt x="184993" y="670"/>
                </a:cubicBezTo>
                <a:cubicBezTo>
                  <a:pt x="181645" y="-707"/>
                  <a:pt x="177812" y="74"/>
                  <a:pt x="175245" y="2604"/>
                </a:cubicBezTo>
                <a:lnTo>
                  <a:pt x="156009" y="21878"/>
                </a:lnTo>
                <a:cubicBezTo>
                  <a:pt x="139526" y="8223"/>
                  <a:pt x="118318" y="0"/>
                  <a:pt x="95250" y="0"/>
                </a:cubicBezTo>
                <a:cubicBezTo>
                  <a:pt x="47253" y="0"/>
                  <a:pt x="7553" y="35496"/>
                  <a:pt x="967" y="81669"/>
                </a:cubicBezTo>
                <a:cubicBezTo>
                  <a:pt x="37" y="88181"/>
                  <a:pt x="4539" y="94208"/>
                  <a:pt x="11050" y="95138"/>
                </a:cubicBezTo>
                <a:cubicBezTo>
                  <a:pt x="17562" y="96069"/>
                  <a:pt x="23589" y="91529"/>
                  <a:pt x="24519" y="85055"/>
                </a:cubicBezTo>
                <a:cubicBezTo>
                  <a:pt x="29468" y="50416"/>
                  <a:pt x="59271" y="23812"/>
                  <a:pt x="95250" y="23812"/>
                </a:cubicBezTo>
                <a:cubicBezTo>
                  <a:pt x="111770" y="23812"/>
                  <a:pt x="126950" y="29394"/>
                  <a:pt x="139043" y="38807"/>
                </a:cubicBezTo>
                <a:lnTo>
                  <a:pt x="121667" y="56183"/>
                </a:lnTo>
                <a:cubicBezTo>
                  <a:pt x="119100" y="58750"/>
                  <a:pt x="118356" y="62582"/>
                  <a:pt x="119732" y="65931"/>
                </a:cubicBezTo>
                <a:cubicBezTo>
                  <a:pt x="121109" y="69279"/>
                  <a:pt x="124383" y="71438"/>
                  <a:pt x="127992" y="71438"/>
                </a:cubicBezTo>
                <a:lnTo>
                  <a:pt x="178631" y="71438"/>
                </a:lnTo>
                <a:close/>
                <a:moveTo>
                  <a:pt x="189570" y="108831"/>
                </a:moveTo>
                <a:cubicBezTo>
                  <a:pt x="190500" y="102319"/>
                  <a:pt x="185961" y="96292"/>
                  <a:pt x="179487" y="95362"/>
                </a:cubicBezTo>
                <a:cubicBezTo>
                  <a:pt x="173013" y="94431"/>
                  <a:pt x="166948" y="98971"/>
                  <a:pt x="166018" y="105445"/>
                </a:cubicBezTo>
                <a:cubicBezTo>
                  <a:pt x="161069" y="140047"/>
                  <a:pt x="131266" y="166650"/>
                  <a:pt x="95287" y="166650"/>
                </a:cubicBezTo>
                <a:cubicBezTo>
                  <a:pt x="78767" y="166650"/>
                  <a:pt x="63587" y="161069"/>
                  <a:pt x="51495" y="151656"/>
                </a:cubicBezTo>
                <a:lnTo>
                  <a:pt x="68833" y="134317"/>
                </a:lnTo>
                <a:cubicBezTo>
                  <a:pt x="71400" y="131750"/>
                  <a:pt x="72144" y="127918"/>
                  <a:pt x="70768" y="124569"/>
                </a:cubicBezTo>
                <a:cubicBezTo>
                  <a:pt x="69391" y="121221"/>
                  <a:pt x="66117" y="119063"/>
                  <a:pt x="62508" y="119063"/>
                </a:cubicBezTo>
                <a:lnTo>
                  <a:pt x="8930" y="119063"/>
                </a:lnTo>
                <a:cubicBezTo>
                  <a:pt x="3981" y="119063"/>
                  <a:pt x="0" y="123044"/>
                  <a:pt x="0" y="127992"/>
                </a:cubicBezTo>
                <a:lnTo>
                  <a:pt x="0" y="181570"/>
                </a:lnTo>
                <a:cubicBezTo>
                  <a:pt x="0" y="185179"/>
                  <a:pt x="2158" y="188454"/>
                  <a:pt x="5507" y="189830"/>
                </a:cubicBezTo>
                <a:cubicBezTo>
                  <a:pt x="8855" y="191207"/>
                  <a:pt x="12688" y="190426"/>
                  <a:pt x="15255" y="187896"/>
                </a:cubicBezTo>
                <a:lnTo>
                  <a:pt x="34528" y="168622"/>
                </a:lnTo>
                <a:cubicBezTo>
                  <a:pt x="50974" y="182277"/>
                  <a:pt x="72182" y="190500"/>
                  <a:pt x="95250" y="190500"/>
                </a:cubicBezTo>
                <a:cubicBezTo>
                  <a:pt x="143247" y="190500"/>
                  <a:pt x="182947" y="155004"/>
                  <a:pt x="189533" y="10883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9"/>
          <p:cNvSpPr/>
          <p:nvPr/>
        </p:nvSpPr>
        <p:spPr>
          <a:xfrm>
            <a:off x="1152525" y="3819525"/>
            <a:ext cx="13525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Игровой цикл</a:t>
            </a:r>
            <a:endParaRPr b="0" i="0" sz="1600" u="none" cap="none" strike="noStrike"/>
          </a:p>
        </p:txBody>
      </p:sp>
      <p:sp>
        <p:nvSpPr>
          <p:cNvPr id="206" name="Google Shape;206;p9"/>
          <p:cNvSpPr/>
          <p:nvPr/>
        </p:nvSpPr>
        <p:spPr>
          <a:xfrm>
            <a:off x="581025" y="4295775"/>
            <a:ext cx="33337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Ситуация → Выбор решения → Результат → Обратная связь → Следующая ситуация</a:t>
            </a:r>
            <a:endParaRPr b="0" i="0" sz="1600" u="none" cap="none" strike="noStrike"/>
          </a:p>
        </p:txBody>
      </p:sp>
      <p:sp>
        <p:nvSpPr>
          <p:cNvPr id="207" name="Google Shape;207;p9"/>
          <p:cNvSpPr/>
          <p:nvPr/>
        </p:nvSpPr>
        <p:spPr>
          <a:xfrm>
            <a:off x="385763" y="5224463"/>
            <a:ext cx="3648075" cy="1457325"/>
          </a:xfrm>
          <a:custGeom>
            <a:rect b="b" l="l" r="r" t="t"/>
            <a:pathLst>
              <a:path extrusionOk="0" h="1457325" w="3648075">
                <a:moveTo>
                  <a:pt x="152407" y="0"/>
                </a:moveTo>
                <a:lnTo>
                  <a:pt x="3495668" y="0"/>
                </a:lnTo>
                <a:cubicBezTo>
                  <a:pt x="3579840" y="0"/>
                  <a:pt x="3648075" y="68235"/>
                  <a:pt x="3648075" y="152407"/>
                </a:cubicBezTo>
                <a:lnTo>
                  <a:pt x="3648075" y="1304918"/>
                </a:lnTo>
                <a:cubicBezTo>
                  <a:pt x="3648075" y="1389090"/>
                  <a:pt x="3579840" y="1457325"/>
                  <a:pt x="3495668" y="1457325"/>
                </a:cubicBezTo>
                <a:lnTo>
                  <a:pt x="152407" y="1457325"/>
                </a:lnTo>
                <a:cubicBezTo>
                  <a:pt x="68235" y="1457325"/>
                  <a:pt x="0" y="1389090"/>
                  <a:pt x="0" y="1304918"/>
                </a:cubicBezTo>
                <a:lnTo>
                  <a:pt x="0" y="152407"/>
                </a:lnTo>
                <a:cubicBezTo>
                  <a:pt x="0" y="68291"/>
                  <a:pt x="68291" y="0"/>
                  <a:pt x="152407" y="0"/>
                </a:cubicBezTo>
                <a:close/>
              </a:path>
            </a:pathLst>
          </a:custGeom>
          <a:gradFill>
            <a:gsLst>
              <a:gs pos="0">
                <a:srgbClr val="1E293B"/>
              </a:gs>
              <a:gs pos="100000">
                <a:srgbClr val="0F172A"/>
              </a:gs>
            </a:gsLst>
            <a:lin ang="2700000" scaled="0"/>
          </a:gra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9"/>
          <p:cNvSpPr/>
          <p:nvPr/>
        </p:nvSpPr>
        <p:spPr>
          <a:xfrm>
            <a:off x="581025" y="5419725"/>
            <a:ext cx="457200" cy="457200"/>
          </a:xfrm>
          <a:custGeom>
            <a:rect b="b" l="l" r="r" t="t"/>
            <a:pathLst>
              <a:path extrusionOk="0" h="457200" w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>
            <a:gsLst>
              <a:gs pos="0">
                <a:srgbClr val="F59E0B"/>
              </a:gs>
              <a:gs pos="100000">
                <a:srgbClr val="EF4444"/>
              </a:gs>
            </a:gsLst>
            <a:lin ang="27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9"/>
          <p:cNvSpPr/>
          <p:nvPr/>
        </p:nvSpPr>
        <p:spPr>
          <a:xfrm>
            <a:off x="714375" y="5553075"/>
            <a:ext cx="190500" cy="190500"/>
          </a:xfrm>
          <a:custGeom>
            <a:rect b="b" l="l" r="r" t="t"/>
            <a:pathLst>
              <a:path extrusionOk="0" h="190500" w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9"/>
          <p:cNvSpPr/>
          <p:nvPr/>
        </p:nvSpPr>
        <p:spPr>
          <a:xfrm>
            <a:off x="1152525" y="5514975"/>
            <a:ext cx="11144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Сложность</a:t>
            </a:r>
            <a:endParaRPr b="0" i="0" sz="1600" u="none" cap="none" strike="noStrike"/>
          </a:p>
        </p:txBody>
      </p:sp>
      <p:sp>
        <p:nvSpPr>
          <p:cNvPr id="211" name="Google Shape;211;p9"/>
          <p:cNvSpPr/>
          <p:nvPr/>
        </p:nvSpPr>
        <p:spPr>
          <a:xfrm>
            <a:off x="581100" y="5991225"/>
            <a:ext cx="3333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Низкая - правила простые, а сложность формируется за счет тематики и необходимости понимать DevOps-логику</a:t>
            </a:r>
            <a:endParaRPr sz="1200">
              <a:solidFill>
                <a:srgbClr val="F1F5F9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1F5F9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12" name="Google Shape;212;p9"/>
          <p:cNvSpPr/>
          <p:nvPr/>
        </p:nvSpPr>
        <p:spPr>
          <a:xfrm>
            <a:off x="4271963" y="1585913"/>
            <a:ext cx="7534275" cy="5095875"/>
          </a:xfrm>
          <a:custGeom>
            <a:rect b="b" l="l" r="r" t="t"/>
            <a:pathLst>
              <a:path extrusionOk="0" h="5095875" w="7534275">
                <a:moveTo>
                  <a:pt x="152418" y="0"/>
                </a:moveTo>
                <a:lnTo>
                  <a:pt x="7381857" y="0"/>
                </a:lnTo>
                <a:cubicBezTo>
                  <a:pt x="7466035" y="0"/>
                  <a:pt x="7534275" y="68240"/>
                  <a:pt x="7534275" y="152418"/>
                </a:cubicBezTo>
                <a:lnTo>
                  <a:pt x="7534275" y="4943457"/>
                </a:lnTo>
                <a:cubicBezTo>
                  <a:pt x="7534275" y="5027635"/>
                  <a:pt x="7466035" y="5095875"/>
                  <a:pt x="7381857" y="5095875"/>
                </a:cubicBezTo>
                <a:lnTo>
                  <a:pt x="152418" y="5095875"/>
                </a:lnTo>
                <a:cubicBezTo>
                  <a:pt x="68240" y="5095875"/>
                  <a:pt x="0" y="5027635"/>
                  <a:pt x="0" y="4943457"/>
                </a:cubicBezTo>
                <a:lnTo>
                  <a:pt x="0" y="152418"/>
                </a:lnTo>
                <a:cubicBezTo>
                  <a:pt x="0" y="68296"/>
                  <a:pt x="68296" y="0"/>
                  <a:pt x="152418" y="0"/>
                </a:cubicBezTo>
                <a:close/>
              </a:path>
            </a:pathLst>
          </a:custGeom>
          <a:gradFill>
            <a:gsLst>
              <a:gs pos="0">
                <a:srgbClr val="1E293B"/>
              </a:gs>
              <a:gs pos="100000">
                <a:srgbClr val="0F172A"/>
              </a:gs>
            </a:gsLst>
            <a:lin ang="2700000" scaled="0"/>
          </a:gra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9"/>
          <p:cNvSpPr/>
          <p:nvPr/>
        </p:nvSpPr>
        <p:spPr>
          <a:xfrm>
            <a:off x="4505325" y="1819275"/>
            <a:ext cx="457200" cy="457200"/>
          </a:xfrm>
          <a:custGeom>
            <a:rect b="b" l="l" r="r" t="t"/>
            <a:pathLst>
              <a:path extrusionOk="0" h="457200" w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>
            <a:gsLst>
              <a:gs pos="0">
                <a:srgbClr val="8B5CF6"/>
              </a:gs>
              <a:gs pos="100000">
                <a:srgbClr val="3B82F6"/>
              </a:gs>
            </a:gsLst>
            <a:lin ang="27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9"/>
          <p:cNvSpPr/>
          <p:nvPr/>
        </p:nvSpPr>
        <p:spPr>
          <a:xfrm>
            <a:off x="4638675" y="1952625"/>
            <a:ext cx="190500" cy="190500"/>
          </a:xfrm>
          <a:custGeom>
            <a:rect b="b" l="l" r="r" t="t"/>
            <a:pathLst>
              <a:path extrusionOk="0" h="190500" w="190500">
                <a:moveTo>
                  <a:pt x="0" y="29766"/>
                </a:moveTo>
                <a:cubicBezTo>
                  <a:pt x="0" y="19906"/>
                  <a:pt x="8000" y="11906"/>
                  <a:pt x="17859" y="11906"/>
                </a:cubicBezTo>
                <a:lnTo>
                  <a:pt x="53578" y="11906"/>
                </a:lnTo>
                <a:cubicBezTo>
                  <a:pt x="63438" y="11906"/>
                  <a:pt x="71438" y="19906"/>
                  <a:pt x="71438" y="29766"/>
                </a:cubicBezTo>
                <a:lnTo>
                  <a:pt x="71438" y="35719"/>
                </a:lnTo>
                <a:lnTo>
                  <a:pt x="119063" y="35719"/>
                </a:lnTo>
                <a:lnTo>
                  <a:pt x="119063" y="29766"/>
                </a:lnTo>
                <a:cubicBezTo>
                  <a:pt x="119063" y="19906"/>
                  <a:pt x="127062" y="11906"/>
                  <a:pt x="136922" y="11906"/>
                </a:cubicBezTo>
                <a:lnTo>
                  <a:pt x="172641" y="11906"/>
                </a:lnTo>
                <a:cubicBezTo>
                  <a:pt x="182500" y="11906"/>
                  <a:pt x="190500" y="19906"/>
                  <a:pt x="190500" y="29766"/>
                </a:cubicBezTo>
                <a:lnTo>
                  <a:pt x="190500" y="65484"/>
                </a:lnTo>
                <a:cubicBezTo>
                  <a:pt x="190500" y="75344"/>
                  <a:pt x="182500" y="83344"/>
                  <a:pt x="172641" y="83344"/>
                </a:cubicBezTo>
                <a:lnTo>
                  <a:pt x="136922" y="83344"/>
                </a:lnTo>
                <a:cubicBezTo>
                  <a:pt x="127062" y="83344"/>
                  <a:pt x="119063" y="75344"/>
                  <a:pt x="119063" y="65484"/>
                </a:cubicBezTo>
                <a:lnTo>
                  <a:pt x="119063" y="59531"/>
                </a:lnTo>
                <a:lnTo>
                  <a:pt x="71438" y="59531"/>
                </a:lnTo>
                <a:lnTo>
                  <a:pt x="71438" y="65484"/>
                </a:lnTo>
                <a:cubicBezTo>
                  <a:pt x="71438" y="68200"/>
                  <a:pt x="70805" y="70805"/>
                  <a:pt x="69726" y="73112"/>
                </a:cubicBezTo>
                <a:lnTo>
                  <a:pt x="95250" y="107156"/>
                </a:lnTo>
                <a:lnTo>
                  <a:pt x="125016" y="107156"/>
                </a:lnTo>
                <a:cubicBezTo>
                  <a:pt x="134875" y="107156"/>
                  <a:pt x="142875" y="115156"/>
                  <a:pt x="142875" y="125016"/>
                </a:cubicBezTo>
                <a:lnTo>
                  <a:pt x="142875" y="160734"/>
                </a:lnTo>
                <a:cubicBezTo>
                  <a:pt x="142875" y="170594"/>
                  <a:pt x="134875" y="178594"/>
                  <a:pt x="125016" y="178594"/>
                </a:cubicBezTo>
                <a:lnTo>
                  <a:pt x="89297" y="178594"/>
                </a:lnTo>
                <a:cubicBezTo>
                  <a:pt x="79437" y="178594"/>
                  <a:pt x="71438" y="170594"/>
                  <a:pt x="71438" y="160734"/>
                </a:cubicBezTo>
                <a:lnTo>
                  <a:pt x="71438" y="125016"/>
                </a:lnTo>
                <a:cubicBezTo>
                  <a:pt x="71438" y="122300"/>
                  <a:pt x="72070" y="119695"/>
                  <a:pt x="73149" y="117388"/>
                </a:cubicBezTo>
                <a:lnTo>
                  <a:pt x="47625" y="83344"/>
                </a:lnTo>
                <a:lnTo>
                  <a:pt x="17859" y="83344"/>
                </a:lnTo>
                <a:cubicBezTo>
                  <a:pt x="8000" y="83344"/>
                  <a:pt x="0" y="75344"/>
                  <a:pt x="0" y="65484"/>
                </a:cubicBezTo>
                <a:lnTo>
                  <a:pt x="0" y="2976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9"/>
          <p:cNvSpPr/>
          <p:nvPr/>
        </p:nvSpPr>
        <p:spPr>
          <a:xfrm>
            <a:off x="5076825" y="1895475"/>
            <a:ext cx="20288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Игровой процесс</a:t>
            </a:r>
            <a:endParaRPr b="0" i="0" sz="1600" u="none" cap="none" strike="noStrike"/>
          </a:p>
        </p:txBody>
      </p:sp>
      <p:sp>
        <p:nvSpPr>
          <p:cNvPr id="216" name="Google Shape;216;p9"/>
          <p:cNvSpPr/>
          <p:nvPr/>
        </p:nvSpPr>
        <p:spPr>
          <a:xfrm>
            <a:off x="4846290" y="2505075"/>
            <a:ext cx="609600" cy="609600"/>
          </a:xfrm>
          <a:custGeom>
            <a:rect b="b" l="l" r="r" t="t"/>
            <a:pathLst>
              <a:path extrusionOk="0" h="609600" w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gradFill>
            <a:gsLst>
              <a:gs pos="0">
                <a:srgbClr val="3B82F6"/>
              </a:gs>
              <a:gs pos="100000">
                <a:srgbClr val="22D3EE"/>
              </a:gs>
            </a:gsLst>
            <a:lin ang="27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9"/>
          <p:cNvSpPr/>
          <p:nvPr/>
        </p:nvSpPr>
        <p:spPr>
          <a:xfrm>
            <a:off x="5054501" y="2657475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 b="0" i="0" sz="1600" u="none" cap="none" strike="noStrike"/>
          </a:p>
        </p:txBody>
      </p:sp>
      <p:sp>
        <p:nvSpPr>
          <p:cNvPr id="218" name="Google Shape;218;p9"/>
          <p:cNvSpPr/>
          <p:nvPr/>
        </p:nvSpPr>
        <p:spPr>
          <a:xfrm>
            <a:off x="4713684" y="3228975"/>
            <a:ext cx="8763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Ситуация</a:t>
            </a:r>
            <a:endParaRPr b="0" i="0" sz="1600" u="none" cap="none" strike="noStrike"/>
          </a:p>
        </p:txBody>
      </p:sp>
      <p:sp>
        <p:nvSpPr>
          <p:cNvPr id="219" name="Google Shape;219;p9"/>
          <p:cNvSpPr/>
          <p:nvPr/>
        </p:nvSpPr>
        <p:spPr>
          <a:xfrm>
            <a:off x="4467225" y="3571875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Реальная задача DevOps</a:t>
            </a:r>
            <a:endParaRPr b="0" i="0" sz="1600" u="none" cap="none" strike="noStrike"/>
          </a:p>
        </p:txBody>
      </p:sp>
      <p:sp>
        <p:nvSpPr>
          <p:cNvPr id="220" name="Google Shape;220;p9"/>
          <p:cNvSpPr/>
          <p:nvPr/>
        </p:nvSpPr>
        <p:spPr>
          <a:xfrm>
            <a:off x="6290221" y="2505075"/>
            <a:ext cx="609600" cy="609600"/>
          </a:xfrm>
          <a:custGeom>
            <a:rect b="b" l="l" r="r" t="t"/>
            <a:pathLst>
              <a:path extrusionOk="0" h="609600" w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gradFill>
            <a:gsLst>
              <a:gs pos="0">
                <a:srgbClr val="22D3EE"/>
              </a:gs>
              <a:gs pos="100000">
                <a:srgbClr val="10B981"/>
              </a:gs>
            </a:gsLst>
            <a:lin ang="27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9"/>
          <p:cNvSpPr/>
          <p:nvPr/>
        </p:nvSpPr>
        <p:spPr>
          <a:xfrm>
            <a:off x="6476405" y="2657475"/>
            <a:ext cx="2381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 b="0" i="0" sz="1600" u="none" cap="none" strike="noStrike"/>
          </a:p>
        </p:txBody>
      </p:sp>
      <p:sp>
        <p:nvSpPr>
          <p:cNvPr id="222" name="Google Shape;222;p9"/>
          <p:cNvSpPr/>
          <p:nvPr/>
        </p:nvSpPr>
        <p:spPr>
          <a:xfrm>
            <a:off x="6254204" y="3228975"/>
            <a:ext cx="6858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Анализ</a:t>
            </a:r>
            <a:endParaRPr b="0" i="0" sz="1600" u="none" cap="none" strike="noStrike"/>
          </a:p>
        </p:txBody>
      </p:sp>
      <p:sp>
        <p:nvSpPr>
          <p:cNvPr id="223" name="Google Shape;223;p9"/>
          <p:cNvSpPr/>
          <p:nvPr/>
        </p:nvSpPr>
        <p:spPr>
          <a:xfrm>
            <a:off x="5924401" y="3571875"/>
            <a:ext cx="13430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Оценка </a:t>
            </a:r>
            <a:r>
              <a:rPr b="0" i="0" lang="en-US" sz="120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факторов</a:t>
            </a:r>
            <a:endParaRPr b="0" i="0" sz="1600" u="none" cap="none" strike="noStrike"/>
          </a:p>
        </p:txBody>
      </p:sp>
      <p:sp>
        <p:nvSpPr>
          <p:cNvPr id="224" name="Google Shape;224;p9"/>
          <p:cNvSpPr/>
          <p:nvPr/>
        </p:nvSpPr>
        <p:spPr>
          <a:xfrm>
            <a:off x="7734151" y="2505075"/>
            <a:ext cx="609600" cy="609600"/>
          </a:xfrm>
          <a:custGeom>
            <a:rect b="b" l="l" r="r" t="t"/>
            <a:pathLst>
              <a:path extrusionOk="0" h="609600" w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gradFill>
            <a:gsLst>
              <a:gs pos="0">
                <a:srgbClr val="10B981"/>
              </a:gs>
              <a:gs pos="100000">
                <a:srgbClr val="F59E0B"/>
              </a:gs>
            </a:gsLst>
            <a:lin ang="27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9"/>
          <p:cNvSpPr/>
          <p:nvPr/>
        </p:nvSpPr>
        <p:spPr>
          <a:xfrm>
            <a:off x="7917359" y="2657475"/>
            <a:ext cx="2476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 b="0" i="0" sz="1600" u="none" cap="none" strike="noStrike"/>
          </a:p>
        </p:txBody>
      </p:sp>
      <p:sp>
        <p:nvSpPr>
          <p:cNvPr id="226" name="Google Shape;226;p9"/>
          <p:cNvSpPr/>
          <p:nvPr/>
        </p:nvSpPr>
        <p:spPr>
          <a:xfrm>
            <a:off x="7628930" y="3228975"/>
            <a:ext cx="8191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Решение</a:t>
            </a:r>
            <a:endParaRPr b="0" i="0" sz="1600" u="none" cap="none" strike="noStrike"/>
          </a:p>
        </p:txBody>
      </p:sp>
      <p:sp>
        <p:nvSpPr>
          <p:cNvPr id="227" name="Google Shape;227;p9"/>
          <p:cNvSpPr/>
          <p:nvPr/>
        </p:nvSpPr>
        <p:spPr>
          <a:xfrm>
            <a:off x="7409408" y="3571875"/>
            <a:ext cx="1257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Выбор действия</a:t>
            </a:r>
            <a:endParaRPr b="0" i="0" sz="1600" u="none" cap="none" strike="noStrike"/>
          </a:p>
        </p:txBody>
      </p:sp>
      <p:sp>
        <p:nvSpPr>
          <p:cNvPr id="228" name="Google Shape;228;p9"/>
          <p:cNvSpPr/>
          <p:nvPr/>
        </p:nvSpPr>
        <p:spPr>
          <a:xfrm>
            <a:off x="9178230" y="2505075"/>
            <a:ext cx="609600" cy="609600"/>
          </a:xfrm>
          <a:custGeom>
            <a:rect b="b" l="l" r="r" t="t"/>
            <a:pathLst>
              <a:path extrusionOk="0" h="609600" w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gradFill>
            <a:gsLst>
              <a:gs pos="0">
                <a:srgbClr val="F59E0B"/>
              </a:gs>
              <a:gs pos="100000">
                <a:srgbClr val="EF4444"/>
              </a:gs>
            </a:gsLst>
            <a:lin ang="27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9"/>
          <p:cNvSpPr/>
          <p:nvPr/>
        </p:nvSpPr>
        <p:spPr>
          <a:xfrm>
            <a:off x="9364563" y="2657475"/>
            <a:ext cx="2381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</a:t>
            </a:r>
            <a:endParaRPr b="0" i="0" sz="1600" u="none" cap="none" strike="noStrike"/>
          </a:p>
        </p:txBody>
      </p:sp>
      <p:sp>
        <p:nvSpPr>
          <p:cNvPr id="230" name="Google Shape;230;p9"/>
          <p:cNvSpPr/>
          <p:nvPr/>
        </p:nvSpPr>
        <p:spPr>
          <a:xfrm>
            <a:off x="9021514" y="3228975"/>
            <a:ext cx="9239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Результат</a:t>
            </a:r>
            <a:endParaRPr b="0" i="0" sz="1600" u="none" cap="none" strike="noStrike"/>
          </a:p>
        </p:txBody>
      </p:sp>
      <p:sp>
        <p:nvSpPr>
          <p:cNvPr id="231" name="Google Shape;231;p9"/>
          <p:cNvSpPr/>
          <p:nvPr/>
        </p:nvSpPr>
        <p:spPr>
          <a:xfrm>
            <a:off x="8799165" y="3571875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Влияние на проект</a:t>
            </a:r>
            <a:endParaRPr b="0" i="0" sz="1600" u="none" cap="none" strike="noStrike"/>
          </a:p>
        </p:txBody>
      </p:sp>
      <p:sp>
        <p:nvSpPr>
          <p:cNvPr id="232" name="Google Shape;232;p9"/>
          <p:cNvSpPr/>
          <p:nvPr/>
        </p:nvSpPr>
        <p:spPr>
          <a:xfrm>
            <a:off x="10622161" y="2505075"/>
            <a:ext cx="609600" cy="609600"/>
          </a:xfrm>
          <a:custGeom>
            <a:rect b="b" l="l" r="r" t="t"/>
            <a:pathLst>
              <a:path extrusionOk="0" h="609600" w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gradFill>
            <a:gsLst>
              <a:gs pos="0">
                <a:srgbClr val="EF4444"/>
              </a:gs>
              <a:gs pos="100000">
                <a:srgbClr val="8B5CF6"/>
              </a:gs>
            </a:gsLst>
            <a:lin ang="27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9"/>
          <p:cNvSpPr/>
          <p:nvPr/>
        </p:nvSpPr>
        <p:spPr>
          <a:xfrm>
            <a:off x="10805071" y="2657475"/>
            <a:ext cx="2476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</a:t>
            </a:r>
            <a:endParaRPr b="0" i="0" sz="1600" u="none" cap="none" strike="noStrike"/>
          </a:p>
        </p:txBody>
      </p:sp>
      <p:sp>
        <p:nvSpPr>
          <p:cNvPr id="234" name="Google Shape;234;p9"/>
          <p:cNvSpPr/>
          <p:nvPr/>
        </p:nvSpPr>
        <p:spPr>
          <a:xfrm>
            <a:off x="10241161" y="3228975"/>
            <a:ext cx="13716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Обратная связь</a:t>
            </a:r>
            <a:endParaRPr b="0" i="0" sz="1600" u="none" cap="none" strike="noStrike"/>
          </a:p>
        </p:txBody>
      </p:sp>
      <p:sp>
        <p:nvSpPr>
          <p:cNvPr id="235" name="Google Shape;235;p9"/>
          <p:cNvSpPr/>
          <p:nvPr/>
        </p:nvSpPr>
        <p:spPr>
          <a:xfrm>
            <a:off x="10531525" y="3571875"/>
            <a:ext cx="7905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Обучение</a:t>
            </a:r>
            <a:endParaRPr b="0" i="0" sz="1600" u="none" cap="none" strike="noStrike"/>
          </a:p>
        </p:txBody>
      </p:sp>
      <p:sp>
        <p:nvSpPr>
          <p:cNvPr id="236" name="Google Shape;236;p9"/>
          <p:cNvSpPr/>
          <p:nvPr/>
        </p:nvSpPr>
        <p:spPr>
          <a:xfrm>
            <a:off x="4505474" y="4333875"/>
            <a:ext cx="1104900" cy="38100"/>
          </a:xfrm>
          <a:custGeom>
            <a:rect b="b" l="l" r="r" t="t"/>
            <a:pathLst>
              <a:path extrusionOk="0" h="38100" w="1104900">
                <a:moveTo>
                  <a:pt x="19050" y="0"/>
                </a:moveTo>
                <a:lnTo>
                  <a:pt x="1085850" y="0"/>
                </a:lnTo>
                <a:cubicBezTo>
                  <a:pt x="1096364" y="0"/>
                  <a:pt x="1104900" y="8536"/>
                  <a:pt x="1104900" y="19050"/>
                </a:cubicBezTo>
                <a:lnTo>
                  <a:pt x="1104900" y="19050"/>
                </a:lnTo>
                <a:cubicBezTo>
                  <a:pt x="1104900" y="29564"/>
                  <a:pt x="1096364" y="38100"/>
                  <a:pt x="10858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gradFill>
            <a:gsLst>
              <a:gs pos="0">
                <a:srgbClr val="3B82F6"/>
              </a:gs>
              <a:gs pos="100000">
                <a:srgbClr val="22D3EE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9"/>
          <p:cNvSpPr/>
          <p:nvPr/>
        </p:nvSpPr>
        <p:spPr>
          <a:xfrm>
            <a:off x="5706517" y="4257675"/>
            <a:ext cx="190500" cy="190500"/>
          </a:xfrm>
          <a:custGeom>
            <a:rect b="b" l="l" r="r" t="t"/>
            <a:pathLst>
              <a:path extrusionOk="0" h="190500" w="190500">
                <a:moveTo>
                  <a:pt x="187003" y="103659"/>
                </a:moveTo>
                <a:cubicBezTo>
                  <a:pt x="191653" y="99008"/>
                  <a:pt x="191653" y="91455"/>
                  <a:pt x="187003" y="86804"/>
                </a:cubicBezTo>
                <a:lnTo>
                  <a:pt x="127471" y="27273"/>
                </a:lnTo>
                <a:cubicBezTo>
                  <a:pt x="122820" y="22622"/>
                  <a:pt x="115267" y="22622"/>
                  <a:pt x="110617" y="27273"/>
                </a:cubicBezTo>
                <a:cubicBezTo>
                  <a:pt x="105966" y="31924"/>
                  <a:pt x="105966" y="39477"/>
                  <a:pt x="110617" y="44128"/>
                </a:cubicBezTo>
                <a:lnTo>
                  <a:pt x="149833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149833" y="107156"/>
                </a:lnTo>
                <a:lnTo>
                  <a:pt x="110617" y="146372"/>
                </a:lnTo>
                <a:cubicBezTo>
                  <a:pt x="105966" y="151023"/>
                  <a:pt x="105966" y="158576"/>
                  <a:pt x="110617" y="163227"/>
                </a:cubicBezTo>
                <a:cubicBezTo>
                  <a:pt x="115267" y="167878"/>
                  <a:pt x="122820" y="167878"/>
                  <a:pt x="127471" y="163227"/>
                </a:cubicBezTo>
                <a:lnTo>
                  <a:pt x="187003" y="103696"/>
                </a:lnTo>
                <a:close/>
              </a:path>
            </a:pathLst>
          </a:custGeom>
          <a:solidFill>
            <a:srgbClr val="22D3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9"/>
          <p:cNvSpPr/>
          <p:nvPr/>
        </p:nvSpPr>
        <p:spPr>
          <a:xfrm>
            <a:off x="5997029" y="4333875"/>
            <a:ext cx="1104900" cy="38100"/>
          </a:xfrm>
          <a:custGeom>
            <a:rect b="b" l="l" r="r" t="t"/>
            <a:pathLst>
              <a:path extrusionOk="0" h="38100" w="1104900">
                <a:moveTo>
                  <a:pt x="19050" y="0"/>
                </a:moveTo>
                <a:lnTo>
                  <a:pt x="1085850" y="0"/>
                </a:lnTo>
                <a:cubicBezTo>
                  <a:pt x="1096364" y="0"/>
                  <a:pt x="1104900" y="8536"/>
                  <a:pt x="1104900" y="19050"/>
                </a:cubicBezTo>
                <a:lnTo>
                  <a:pt x="1104900" y="19050"/>
                </a:lnTo>
                <a:cubicBezTo>
                  <a:pt x="1104900" y="29564"/>
                  <a:pt x="1096364" y="38100"/>
                  <a:pt x="10858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gradFill>
            <a:gsLst>
              <a:gs pos="0">
                <a:srgbClr val="22D3EE"/>
              </a:gs>
              <a:gs pos="100000">
                <a:srgbClr val="10B981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9"/>
          <p:cNvSpPr/>
          <p:nvPr/>
        </p:nvSpPr>
        <p:spPr>
          <a:xfrm>
            <a:off x="7198072" y="4257675"/>
            <a:ext cx="190500" cy="190500"/>
          </a:xfrm>
          <a:custGeom>
            <a:rect b="b" l="l" r="r" t="t"/>
            <a:pathLst>
              <a:path extrusionOk="0" h="190500" w="190500">
                <a:moveTo>
                  <a:pt x="187003" y="103659"/>
                </a:moveTo>
                <a:cubicBezTo>
                  <a:pt x="191653" y="99008"/>
                  <a:pt x="191653" y="91455"/>
                  <a:pt x="187003" y="86804"/>
                </a:cubicBezTo>
                <a:lnTo>
                  <a:pt x="127471" y="27273"/>
                </a:lnTo>
                <a:cubicBezTo>
                  <a:pt x="122820" y="22622"/>
                  <a:pt x="115267" y="22622"/>
                  <a:pt x="110617" y="27273"/>
                </a:cubicBezTo>
                <a:cubicBezTo>
                  <a:pt x="105966" y="31924"/>
                  <a:pt x="105966" y="39477"/>
                  <a:pt x="110617" y="44128"/>
                </a:cubicBezTo>
                <a:lnTo>
                  <a:pt x="149833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149833" y="107156"/>
                </a:lnTo>
                <a:lnTo>
                  <a:pt x="110617" y="146372"/>
                </a:lnTo>
                <a:cubicBezTo>
                  <a:pt x="105966" y="151023"/>
                  <a:pt x="105966" y="158576"/>
                  <a:pt x="110617" y="163227"/>
                </a:cubicBezTo>
                <a:cubicBezTo>
                  <a:pt x="115267" y="167878"/>
                  <a:pt x="122820" y="167878"/>
                  <a:pt x="127471" y="163227"/>
                </a:cubicBezTo>
                <a:lnTo>
                  <a:pt x="187003" y="103696"/>
                </a:lnTo>
                <a:close/>
              </a:path>
            </a:pathLst>
          </a:cu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9"/>
          <p:cNvSpPr/>
          <p:nvPr/>
        </p:nvSpPr>
        <p:spPr>
          <a:xfrm>
            <a:off x="7488585" y="4333875"/>
            <a:ext cx="1104900" cy="38100"/>
          </a:xfrm>
          <a:custGeom>
            <a:rect b="b" l="l" r="r" t="t"/>
            <a:pathLst>
              <a:path extrusionOk="0" h="38100" w="1104900">
                <a:moveTo>
                  <a:pt x="19050" y="0"/>
                </a:moveTo>
                <a:lnTo>
                  <a:pt x="1085850" y="0"/>
                </a:lnTo>
                <a:cubicBezTo>
                  <a:pt x="1096364" y="0"/>
                  <a:pt x="1104900" y="8536"/>
                  <a:pt x="1104900" y="19050"/>
                </a:cubicBezTo>
                <a:lnTo>
                  <a:pt x="1104900" y="19050"/>
                </a:lnTo>
                <a:cubicBezTo>
                  <a:pt x="1104900" y="29564"/>
                  <a:pt x="1096364" y="38100"/>
                  <a:pt x="10858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gradFill>
            <a:gsLst>
              <a:gs pos="0">
                <a:srgbClr val="10B981"/>
              </a:gs>
              <a:gs pos="100000">
                <a:srgbClr val="F59E0B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9"/>
          <p:cNvSpPr/>
          <p:nvPr/>
        </p:nvSpPr>
        <p:spPr>
          <a:xfrm>
            <a:off x="8689628" y="4257675"/>
            <a:ext cx="190500" cy="190500"/>
          </a:xfrm>
          <a:custGeom>
            <a:rect b="b" l="l" r="r" t="t"/>
            <a:pathLst>
              <a:path extrusionOk="0" h="190500" w="190500">
                <a:moveTo>
                  <a:pt x="187003" y="103659"/>
                </a:moveTo>
                <a:cubicBezTo>
                  <a:pt x="191653" y="99008"/>
                  <a:pt x="191653" y="91455"/>
                  <a:pt x="187003" y="86804"/>
                </a:cubicBezTo>
                <a:lnTo>
                  <a:pt x="127471" y="27273"/>
                </a:lnTo>
                <a:cubicBezTo>
                  <a:pt x="122820" y="22622"/>
                  <a:pt x="115267" y="22622"/>
                  <a:pt x="110617" y="27273"/>
                </a:cubicBezTo>
                <a:cubicBezTo>
                  <a:pt x="105966" y="31924"/>
                  <a:pt x="105966" y="39477"/>
                  <a:pt x="110617" y="44128"/>
                </a:cubicBezTo>
                <a:lnTo>
                  <a:pt x="149833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149833" y="107156"/>
                </a:lnTo>
                <a:lnTo>
                  <a:pt x="110617" y="146372"/>
                </a:lnTo>
                <a:cubicBezTo>
                  <a:pt x="105966" y="151023"/>
                  <a:pt x="105966" y="158576"/>
                  <a:pt x="110617" y="163227"/>
                </a:cubicBezTo>
                <a:cubicBezTo>
                  <a:pt x="115267" y="167878"/>
                  <a:pt x="122820" y="167878"/>
                  <a:pt x="127471" y="163227"/>
                </a:cubicBezTo>
                <a:lnTo>
                  <a:pt x="187003" y="103696"/>
                </a:lnTo>
                <a:close/>
              </a:path>
            </a:pathLst>
          </a:cu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9"/>
          <p:cNvSpPr/>
          <p:nvPr/>
        </p:nvSpPr>
        <p:spPr>
          <a:xfrm>
            <a:off x="8980140" y="4333875"/>
            <a:ext cx="1104900" cy="38100"/>
          </a:xfrm>
          <a:custGeom>
            <a:rect b="b" l="l" r="r" t="t"/>
            <a:pathLst>
              <a:path extrusionOk="0" h="38100" w="1104900">
                <a:moveTo>
                  <a:pt x="19050" y="0"/>
                </a:moveTo>
                <a:lnTo>
                  <a:pt x="1085850" y="0"/>
                </a:lnTo>
                <a:cubicBezTo>
                  <a:pt x="1096364" y="0"/>
                  <a:pt x="1104900" y="8536"/>
                  <a:pt x="1104900" y="19050"/>
                </a:cubicBezTo>
                <a:lnTo>
                  <a:pt x="1104900" y="19050"/>
                </a:lnTo>
                <a:cubicBezTo>
                  <a:pt x="1104900" y="29564"/>
                  <a:pt x="1096364" y="38100"/>
                  <a:pt x="10858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gradFill>
            <a:gsLst>
              <a:gs pos="0">
                <a:srgbClr val="F59E0B"/>
              </a:gs>
              <a:gs pos="100000">
                <a:srgbClr val="EF444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9"/>
          <p:cNvSpPr/>
          <p:nvPr/>
        </p:nvSpPr>
        <p:spPr>
          <a:xfrm>
            <a:off x="10181183" y="4257675"/>
            <a:ext cx="190500" cy="190500"/>
          </a:xfrm>
          <a:custGeom>
            <a:rect b="b" l="l" r="r" t="t"/>
            <a:pathLst>
              <a:path extrusionOk="0" h="190500" w="190500">
                <a:moveTo>
                  <a:pt x="187003" y="103659"/>
                </a:moveTo>
                <a:cubicBezTo>
                  <a:pt x="191653" y="99008"/>
                  <a:pt x="191653" y="91455"/>
                  <a:pt x="187003" y="86804"/>
                </a:cubicBezTo>
                <a:lnTo>
                  <a:pt x="127471" y="27273"/>
                </a:lnTo>
                <a:cubicBezTo>
                  <a:pt x="122820" y="22622"/>
                  <a:pt x="115267" y="22622"/>
                  <a:pt x="110617" y="27273"/>
                </a:cubicBezTo>
                <a:cubicBezTo>
                  <a:pt x="105966" y="31924"/>
                  <a:pt x="105966" y="39477"/>
                  <a:pt x="110617" y="44128"/>
                </a:cubicBezTo>
                <a:lnTo>
                  <a:pt x="149833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149833" y="107156"/>
                </a:lnTo>
                <a:lnTo>
                  <a:pt x="110617" y="146372"/>
                </a:lnTo>
                <a:cubicBezTo>
                  <a:pt x="105966" y="151023"/>
                  <a:pt x="105966" y="158576"/>
                  <a:pt x="110617" y="163227"/>
                </a:cubicBezTo>
                <a:cubicBezTo>
                  <a:pt x="115267" y="167878"/>
                  <a:pt x="122820" y="167878"/>
                  <a:pt x="127471" y="163227"/>
                </a:cubicBezTo>
                <a:lnTo>
                  <a:pt x="187003" y="103696"/>
                </a:lnTo>
                <a:close/>
              </a:path>
            </a:pathLst>
          </a:cu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9"/>
          <p:cNvSpPr/>
          <p:nvPr/>
        </p:nvSpPr>
        <p:spPr>
          <a:xfrm>
            <a:off x="10471696" y="4333875"/>
            <a:ext cx="1104900" cy="38100"/>
          </a:xfrm>
          <a:custGeom>
            <a:rect b="b" l="l" r="r" t="t"/>
            <a:pathLst>
              <a:path extrusionOk="0" h="38100" w="1104900">
                <a:moveTo>
                  <a:pt x="19050" y="0"/>
                </a:moveTo>
                <a:lnTo>
                  <a:pt x="1085850" y="0"/>
                </a:lnTo>
                <a:cubicBezTo>
                  <a:pt x="1096364" y="0"/>
                  <a:pt x="1104900" y="8536"/>
                  <a:pt x="1104900" y="19050"/>
                </a:cubicBezTo>
                <a:lnTo>
                  <a:pt x="1104900" y="19050"/>
                </a:lnTo>
                <a:cubicBezTo>
                  <a:pt x="1104900" y="29564"/>
                  <a:pt x="1096364" y="38100"/>
                  <a:pt x="10858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gradFill>
            <a:gsLst>
              <a:gs pos="0">
                <a:srgbClr val="EF4444"/>
              </a:gs>
              <a:gs pos="100000">
                <a:srgbClr val="8B5CF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ИНТЕРФЕЙС</a:t>
            </a:r>
            <a:endParaRPr b="0" i="0" sz="1600" u="none" cap="none" strike="noStrike"/>
          </a:p>
        </p:txBody>
      </p:sp>
      <p:sp>
        <p:nvSpPr>
          <p:cNvPr id="251" name="Google Shape;251;p10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Игровые экраны и UI</a:t>
            </a:r>
            <a:endParaRPr b="0" i="0" sz="1600" u="none" cap="none" strike="noStrike"/>
          </a:p>
        </p:txBody>
      </p:sp>
      <p:sp>
        <p:nvSpPr>
          <p:cNvPr id="252" name="Google Shape;252;p10"/>
          <p:cNvSpPr/>
          <p:nvPr/>
        </p:nvSpPr>
        <p:spPr>
          <a:xfrm>
            <a:off x="381000" y="1295400"/>
            <a:ext cx="914400" cy="57150"/>
          </a:xfrm>
          <a:custGeom>
            <a:rect b="b" l="l" r="r" t="t"/>
            <a:pathLst>
              <a:path extrusionOk="0" h="57150" w="914400">
                <a:moveTo>
                  <a:pt x="0" y="0"/>
                </a:moveTo>
                <a:lnTo>
                  <a:pt x="914400" y="0"/>
                </a:lnTo>
                <a:lnTo>
                  <a:pt x="9144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3B82F6"/>
              </a:gs>
              <a:gs pos="100000">
                <a:srgbClr val="22D3EE"/>
              </a:gs>
            </a:gsLst>
            <a:lin ang="0" scaled="0"/>
          </a:gradFill>
          <a:ln>
            <a:noFill/>
          </a:ln>
        </p:spPr>
      </p:sp>
      <p:sp>
        <p:nvSpPr>
          <p:cNvPr id="253" name="Google Shape;253;p10"/>
          <p:cNvSpPr/>
          <p:nvPr/>
        </p:nvSpPr>
        <p:spPr>
          <a:xfrm>
            <a:off x="385850" y="1585925"/>
            <a:ext cx="3648000" cy="23526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1E293B"/>
              </a:gs>
              <a:gs pos="100000">
                <a:srgbClr val="0F172A"/>
              </a:gs>
            </a:gsLst>
            <a:lin ang="2700006" scaled="0"/>
          </a:gra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4" name="Google Shape;254;p10" title="photo_2026-04-18_01-27-23.jpg"/>
          <p:cNvPicPr preferRelativeResize="0"/>
          <p:nvPr/>
        </p:nvPicPr>
        <p:blipFill rotWithShape="1">
          <a:blip r:embed="rId3">
            <a:alphaModFix/>
          </a:blip>
          <a:srcRect b="0" l="6153" r="5437" t="0"/>
          <a:stretch/>
        </p:blipFill>
        <p:spPr>
          <a:xfrm>
            <a:off x="401275" y="1596463"/>
            <a:ext cx="3648000" cy="2340300"/>
          </a:xfrm>
          <a:prstGeom prst="roundRect">
            <a:avLst>
              <a:gd fmla="val 16667" name="adj"/>
            </a:avLst>
          </a:prstGeom>
          <a:noFill/>
          <a:ln cap="rnd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55" name="Google Shape;255;p10"/>
          <p:cNvSpPr/>
          <p:nvPr/>
        </p:nvSpPr>
        <p:spPr>
          <a:xfrm>
            <a:off x="487825" y="4180700"/>
            <a:ext cx="3446100" cy="23526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1E293B"/>
              </a:gs>
              <a:gs pos="100000">
                <a:srgbClr val="0F172A"/>
              </a:gs>
            </a:gsLst>
            <a:lin ang="2700006" scaled="0"/>
          </a:gra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0"/>
          <p:cNvSpPr/>
          <p:nvPr/>
        </p:nvSpPr>
        <p:spPr>
          <a:xfrm>
            <a:off x="4269400" y="1585925"/>
            <a:ext cx="3553200" cy="31698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1E293B"/>
              </a:gs>
              <a:gs pos="100000">
                <a:srgbClr val="0F172A"/>
              </a:gs>
            </a:gsLst>
            <a:lin ang="2700006" scaled="0"/>
          </a:gra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0"/>
          <p:cNvSpPr/>
          <p:nvPr/>
        </p:nvSpPr>
        <p:spPr>
          <a:xfrm>
            <a:off x="4242388" y="5089725"/>
            <a:ext cx="3632700" cy="12618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1E293B"/>
              </a:gs>
              <a:gs pos="100000">
                <a:srgbClr val="0F172A"/>
              </a:gs>
            </a:gsLst>
            <a:lin ang="2700006" scaled="0"/>
          </a:gra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8" name="Google Shape;258;p10" title="photo_2026-04-18_01-28-39.jpg"/>
          <p:cNvPicPr preferRelativeResize="0"/>
          <p:nvPr/>
        </p:nvPicPr>
        <p:blipFill rotWithShape="1">
          <a:blip r:embed="rId4">
            <a:alphaModFix/>
          </a:blip>
          <a:srcRect b="14957" l="5905" r="7379" t="19816"/>
          <a:stretch/>
        </p:blipFill>
        <p:spPr>
          <a:xfrm>
            <a:off x="4242388" y="5089717"/>
            <a:ext cx="3632700" cy="1261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259" name="Google Shape;259;p10"/>
          <p:cNvSpPr/>
          <p:nvPr/>
        </p:nvSpPr>
        <p:spPr>
          <a:xfrm>
            <a:off x="8173675" y="1596475"/>
            <a:ext cx="3632700" cy="49236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1E293B"/>
              </a:gs>
              <a:gs pos="100000">
                <a:srgbClr val="0F172A"/>
              </a:gs>
            </a:gsLst>
            <a:lin ang="2700006" scaled="0"/>
          </a:gra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0" name="Google Shape;260;p10"/>
          <p:cNvPicPr preferRelativeResize="0"/>
          <p:nvPr/>
        </p:nvPicPr>
        <p:blipFill rotWithShape="1">
          <a:blip r:embed="rId5">
            <a:alphaModFix/>
          </a:blip>
          <a:srcRect b="3697" l="3870" r="4210" t="5021"/>
          <a:stretch/>
        </p:blipFill>
        <p:spPr>
          <a:xfrm>
            <a:off x="4269413" y="1591175"/>
            <a:ext cx="3553200" cy="31593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261" name="Google Shape;261;p10"/>
          <p:cNvPicPr preferRelativeResize="0"/>
          <p:nvPr/>
        </p:nvPicPr>
        <p:blipFill rotWithShape="1">
          <a:blip r:embed="rId6">
            <a:alphaModFix/>
          </a:blip>
          <a:srcRect b="4053" l="2340" r="2540" t="2984"/>
          <a:stretch/>
        </p:blipFill>
        <p:spPr>
          <a:xfrm>
            <a:off x="501350" y="4186850"/>
            <a:ext cx="3417000" cy="23403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1E293B"/>
              </a:gs>
              <a:gs pos="100000">
                <a:srgbClr val="0F172A"/>
              </a:gs>
            </a:gsLst>
            <a:lin ang="2700006" scaled="0"/>
          </a:gradFill>
          <a:ln>
            <a:noFill/>
          </a:ln>
        </p:spPr>
      </p:pic>
      <p:pic>
        <p:nvPicPr>
          <p:cNvPr id="262" name="Google Shape;262;p10"/>
          <p:cNvPicPr preferRelativeResize="0"/>
          <p:nvPr/>
        </p:nvPicPr>
        <p:blipFill rotWithShape="1">
          <a:blip r:embed="rId7">
            <a:alphaModFix/>
          </a:blip>
          <a:srcRect b="269" l="48112" r="9178" t="0"/>
          <a:stretch/>
        </p:blipFill>
        <p:spPr>
          <a:xfrm>
            <a:off x="8183575" y="1603075"/>
            <a:ext cx="3612900" cy="4910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1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ТЕХНИЧЕСКАЯ РЕАЛИЗАЦИЯ</a:t>
            </a:r>
            <a:endParaRPr b="0" i="0" sz="1600" u="none" cap="none" strike="noStrike"/>
          </a:p>
        </p:txBody>
      </p:sp>
      <p:sp>
        <p:nvSpPr>
          <p:cNvPr id="269" name="Google Shape;269;p1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Архитектура MVP</a:t>
            </a:r>
            <a:endParaRPr b="0" i="0" sz="1600" u="none" cap="none" strike="noStrike"/>
          </a:p>
        </p:txBody>
      </p:sp>
      <p:sp>
        <p:nvSpPr>
          <p:cNvPr id="270" name="Google Shape;270;p11"/>
          <p:cNvSpPr/>
          <p:nvPr/>
        </p:nvSpPr>
        <p:spPr>
          <a:xfrm>
            <a:off x="381000" y="1295400"/>
            <a:ext cx="914400" cy="57150"/>
          </a:xfrm>
          <a:custGeom>
            <a:rect b="b" l="l" r="r" t="t"/>
            <a:pathLst>
              <a:path extrusionOk="0" h="57150" w="914400">
                <a:moveTo>
                  <a:pt x="0" y="0"/>
                </a:moveTo>
                <a:lnTo>
                  <a:pt x="914400" y="0"/>
                </a:lnTo>
                <a:lnTo>
                  <a:pt x="9144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3B82F6"/>
              </a:gs>
              <a:gs pos="100000">
                <a:srgbClr val="22D3EE"/>
              </a:gs>
            </a:gsLst>
            <a:lin ang="0" scaled="0"/>
          </a:gradFill>
          <a:ln>
            <a:noFill/>
          </a:ln>
        </p:spPr>
      </p:sp>
      <p:sp>
        <p:nvSpPr>
          <p:cNvPr id="271" name="Google Shape;271;p11"/>
          <p:cNvSpPr/>
          <p:nvPr/>
        </p:nvSpPr>
        <p:spPr>
          <a:xfrm>
            <a:off x="385763" y="1585913"/>
            <a:ext cx="5591175" cy="3667125"/>
          </a:xfrm>
          <a:custGeom>
            <a:rect b="b" l="l" r="r" t="t"/>
            <a:pathLst>
              <a:path extrusionOk="0" h="3667125" w="5591175">
                <a:moveTo>
                  <a:pt x="152406" y="0"/>
                </a:moveTo>
                <a:lnTo>
                  <a:pt x="5438769" y="0"/>
                </a:lnTo>
                <a:cubicBezTo>
                  <a:pt x="5522884" y="0"/>
                  <a:pt x="5591175" y="68291"/>
                  <a:pt x="5591175" y="152406"/>
                </a:cubicBezTo>
                <a:lnTo>
                  <a:pt x="5591175" y="3514719"/>
                </a:lnTo>
                <a:cubicBezTo>
                  <a:pt x="5591175" y="3598834"/>
                  <a:pt x="5522884" y="3667125"/>
                  <a:pt x="5438769" y="3667125"/>
                </a:cubicBezTo>
                <a:lnTo>
                  <a:pt x="152406" y="3667125"/>
                </a:lnTo>
                <a:cubicBezTo>
                  <a:pt x="68291" y="3667125"/>
                  <a:pt x="0" y="3598834"/>
                  <a:pt x="0" y="3514719"/>
                </a:cubicBezTo>
                <a:lnTo>
                  <a:pt x="0" y="152406"/>
                </a:lnTo>
                <a:cubicBezTo>
                  <a:pt x="0" y="68291"/>
                  <a:pt x="68291" y="0"/>
                  <a:pt x="152406" y="0"/>
                </a:cubicBezTo>
                <a:close/>
              </a:path>
            </a:pathLst>
          </a:custGeom>
          <a:gradFill>
            <a:gsLst>
              <a:gs pos="0">
                <a:srgbClr val="1E293B"/>
              </a:gs>
              <a:gs pos="100000">
                <a:srgbClr val="0F172A"/>
              </a:gs>
            </a:gsLst>
            <a:lin ang="2700000" scaled="0"/>
          </a:gra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1"/>
          <p:cNvSpPr/>
          <p:nvPr/>
        </p:nvSpPr>
        <p:spPr>
          <a:xfrm>
            <a:off x="619125" y="1819275"/>
            <a:ext cx="457200" cy="457200"/>
          </a:xfrm>
          <a:custGeom>
            <a:rect b="b" l="l" r="r" t="t"/>
            <a:pathLst>
              <a:path extrusionOk="0" h="457200" w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>
            <a:gsLst>
              <a:gs pos="0">
                <a:srgbClr val="3B82F6"/>
              </a:gs>
              <a:gs pos="100000">
                <a:srgbClr val="22D3EE"/>
              </a:gs>
            </a:gsLst>
            <a:lin ang="27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1"/>
          <p:cNvSpPr/>
          <p:nvPr/>
        </p:nvSpPr>
        <p:spPr>
          <a:xfrm>
            <a:off x="740569" y="1952625"/>
            <a:ext cx="214313" cy="190500"/>
          </a:xfrm>
          <a:custGeom>
            <a:rect b="b" l="l" r="r" t="t"/>
            <a:pathLst>
              <a:path extrusionOk="0" h="190500" w="214313">
                <a:moveTo>
                  <a:pt x="134243" y="446"/>
                </a:moveTo>
                <a:cubicBezTo>
                  <a:pt x="127918" y="-1377"/>
                  <a:pt x="121332" y="2307"/>
                  <a:pt x="119509" y="8632"/>
                </a:cubicBezTo>
                <a:lnTo>
                  <a:pt x="71884" y="175320"/>
                </a:lnTo>
                <a:cubicBezTo>
                  <a:pt x="70061" y="181645"/>
                  <a:pt x="73744" y="188230"/>
                  <a:pt x="80070" y="190054"/>
                </a:cubicBezTo>
                <a:cubicBezTo>
                  <a:pt x="86395" y="191877"/>
                  <a:pt x="92980" y="188193"/>
                  <a:pt x="94804" y="181868"/>
                </a:cubicBezTo>
                <a:lnTo>
                  <a:pt x="142429" y="15180"/>
                </a:lnTo>
                <a:cubicBezTo>
                  <a:pt x="144252" y="8855"/>
                  <a:pt x="140568" y="2270"/>
                  <a:pt x="134243" y="446"/>
                </a:cubicBezTo>
                <a:close/>
                <a:moveTo>
                  <a:pt x="158279" y="51085"/>
                </a:moveTo>
                <a:cubicBezTo>
                  <a:pt x="153628" y="55736"/>
                  <a:pt x="153628" y="63289"/>
                  <a:pt x="158279" y="67940"/>
                </a:cubicBezTo>
                <a:lnTo>
                  <a:pt x="185589" y="95250"/>
                </a:lnTo>
                <a:lnTo>
                  <a:pt x="158279" y="122560"/>
                </a:lnTo>
                <a:cubicBezTo>
                  <a:pt x="153628" y="127211"/>
                  <a:pt x="153628" y="134764"/>
                  <a:pt x="158279" y="139415"/>
                </a:cubicBezTo>
                <a:cubicBezTo>
                  <a:pt x="162930" y="144066"/>
                  <a:pt x="170483" y="144066"/>
                  <a:pt x="175133" y="139415"/>
                </a:cubicBezTo>
                <a:lnTo>
                  <a:pt x="210852" y="103696"/>
                </a:lnTo>
                <a:cubicBezTo>
                  <a:pt x="215503" y="99045"/>
                  <a:pt x="215503" y="91492"/>
                  <a:pt x="210852" y="86841"/>
                </a:cubicBezTo>
                <a:lnTo>
                  <a:pt x="175133" y="51122"/>
                </a:lnTo>
                <a:cubicBezTo>
                  <a:pt x="170483" y="46472"/>
                  <a:pt x="162930" y="46472"/>
                  <a:pt x="158279" y="51122"/>
                </a:cubicBezTo>
                <a:close/>
                <a:moveTo>
                  <a:pt x="56071" y="51085"/>
                </a:moveTo>
                <a:cubicBezTo>
                  <a:pt x="51420" y="46434"/>
                  <a:pt x="43867" y="46434"/>
                  <a:pt x="39216" y="51085"/>
                </a:cubicBezTo>
                <a:lnTo>
                  <a:pt x="3497" y="86804"/>
                </a:lnTo>
                <a:cubicBezTo>
                  <a:pt x="-1153" y="91455"/>
                  <a:pt x="-1153" y="99008"/>
                  <a:pt x="3497" y="103659"/>
                </a:cubicBezTo>
                <a:lnTo>
                  <a:pt x="39216" y="139378"/>
                </a:lnTo>
                <a:cubicBezTo>
                  <a:pt x="43867" y="144028"/>
                  <a:pt x="51420" y="144028"/>
                  <a:pt x="56071" y="139378"/>
                </a:cubicBezTo>
                <a:cubicBezTo>
                  <a:pt x="60722" y="134727"/>
                  <a:pt x="60722" y="127174"/>
                  <a:pt x="56071" y="122523"/>
                </a:cubicBezTo>
                <a:lnTo>
                  <a:pt x="28761" y="95250"/>
                </a:lnTo>
                <a:lnTo>
                  <a:pt x="56034" y="67940"/>
                </a:lnTo>
                <a:cubicBezTo>
                  <a:pt x="60685" y="63289"/>
                  <a:pt x="60685" y="55736"/>
                  <a:pt x="56034" y="51085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1"/>
          <p:cNvSpPr/>
          <p:nvPr/>
        </p:nvSpPr>
        <p:spPr>
          <a:xfrm>
            <a:off x="1190625" y="1895475"/>
            <a:ext cx="25812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Технологический стек</a:t>
            </a:r>
            <a:endParaRPr b="0" i="0" sz="1600" u="none" cap="none" strike="noStrike"/>
          </a:p>
        </p:txBody>
      </p:sp>
      <p:sp>
        <p:nvSpPr>
          <p:cNvPr id="275" name="Google Shape;275;p11"/>
          <p:cNvSpPr/>
          <p:nvPr/>
        </p:nvSpPr>
        <p:spPr>
          <a:xfrm>
            <a:off x="623888" y="2433638"/>
            <a:ext cx="2476500" cy="1114425"/>
          </a:xfrm>
          <a:custGeom>
            <a:rect b="b" l="l" r="r" t="t"/>
            <a:pathLst>
              <a:path extrusionOk="0" h="1114425" w="2476500">
                <a:moveTo>
                  <a:pt x="114295" y="0"/>
                </a:moveTo>
                <a:lnTo>
                  <a:pt x="2362205" y="0"/>
                </a:lnTo>
                <a:cubicBezTo>
                  <a:pt x="2425286" y="0"/>
                  <a:pt x="2476500" y="51214"/>
                  <a:pt x="2476500" y="114295"/>
                </a:cubicBezTo>
                <a:lnTo>
                  <a:pt x="2476500" y="1000130"/>
                </a:lnTo>
                <a:cubicBezTo>
                  <a:pt x="2476500" y="1063211"/>
                  <a:pt x="2425286" y="1114425"/>
                  <a:pt x="2362205" y="1114425"/>
                </a:cubicBezTo>
                <a:lnTo>
                  <a:pt x="114295" y="1114425"/>
                </a:lnTo>
                <a:cubicBezTo>
                  <a:pt x="51214" y="1114425"/>
                  <a:pt x="0" y="1063211"/>
                  <a:pt x="0" y="1000130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solidFill>
            <a:srgbClr val="0F172A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1"/>
          <p:cNvSpPr/>
          <p:nvPr/>
        </p:nvSpPr>
        <p:spPr>
          <a:xfrm>
            <a:off x="783431" y="2638425"/>
            <a:ext cx="214313" cy="171450"/>
          </a:xfrm>
          <a:custGeom>
            <a:rect b="b" l="l" r="r" t="t"/>
            <a:pathLst>
              <a:path extrusionOk="0" h="171450" w="214313">
                <a:moveTo>
                  <a:pt x="150019" y="21431"/>
                </a:moveTo>
                <a:cubicBezTo>
                  <a:pt x="185514" y="21431"/>
                  <a:pt x="214313" y="50229"/>
                  <a:pt x="214313" y="85725"/>
                </a:cubicBezTo>
                <a:cubicBezTo>
                  <a:pt x="214313" y="121221"/>
                  <a:pt x="185514" y="150019"/>
                  <a:pt x="150019" y="150019"/>
                </a:cubicBezTo>
                <a:lnTo>
                  <a:pt x="64294" y="150019"/>
                </a:lnTo>
                <a:cubicBezTo>
                  <a:pt x="28798" y="150019"/>
                  <a:pt x="0" y="121221"/>
                  <a:pt x="0" y="85725"/>
                </a:cubicBezTo>
                <a:cubicBezTo>
                  <a:pt x="0" y="50229"/>
                  <a:pt x="28798" y="21431"/>
                  <a:pt x="64294" y="21431"/>
                </a:cubicBezTo>
                <a:lnTo>
                  <a:pt x="150019" y="21431"/>
                </a:lnTo>
                <a:close/>
                <a:moveTo>
                  <a:pt x="64294" y="58936"/>
                </a:moveTo>
                <a:cubicBezTo>
                  <a:pt x="59840" y="58936"/>
                  <a:pt x="56257" y="62519"/>
                  <a:pt x="56257" y="66973"/>
                </a:cubicBezTo>
                <a:lnTo>
                  <a:pt x="56257" y="77688"/>
                </a:lnTo>
                <a:lnTo>
                  <a:pt x="45541" y="77688"/>
                </a:lnTo>
                <a:cubicBezTo>
                  <a:pt x="41088" y="77688"/>
                  <a:pt x="37505" y="81271"/>
                  <a:pt x="37505" y="85725"/>
                </a:cubicBezTo>
                <a:cubicBezTo>
                  <a:pt x="37505" y="90179"/>
                  <a:pt x="41088" y="93762"/>
                  <a:pt x="45541" y="93762"/>
                </a:cubicBezTo>
                <a:lnTo>
                  <a:pt x="56257" y="93762"/>
                </a:lnTo>
                <a:lnTo>
                  <a:pt x="56257" y="104477"/>
                </a:lnTo>
                <a:cubicBezTo>
                  <a:pt x="56257" y="108931"/>
                  <a:pt x="59840" y="112514"/>
                  <a:pt x="64294" y="112514"/>
                </a:cubicBezTo>
                <a:cubicBezTo>
                  <a:pt x="68747" y="112514"/>
                  <a:pt x="72330" y="108931"/>
                  <a:pt x="72330" y="104477"/>
                </a:cubicBezTo>
                <a:lnTo>
                  <a:pt x="72330" y="93762"/>
                </a:lnTo>
                <a:lnTo>
                  <a:pt x="83046" y="93762"/>
                </a:lnTo>
                <a:cubicBezTo>
                  <a:pt x="87500" y="93762"/>
                  <a:pt x="91083" y="90179"/>
                  <a:pt x="91083" y="85725"/>
                </a:cubicBezTo>
                <a:cubicBezTo>
                  <a:pt x="91083" y="81271"/>
                  <a:pt x="87500" y="77688"/>
                  <a:pt x="83046" y="77688"/>
                </a:cubicBezTo>
                <a:lnTo>
                  <a:pt x="72330" y="77688"/>
                </a:lnTo>
                <a:lnTo>
                  <a:pt x="72330" y="66973"/>
                </a:lnTo>
                <a:cubicBezTo>
                  <a:pt x="72330" y="62519"/>
                  <a:pt x="68747" y="58936"/>
                  <a:pt x="64294" y="58936"/>
                </a:cubicBezTo>
                <a:close/>
                <a:moveTo>
                  <a:pt x="144661" y="91083"/>
                </a:moveTo>
                <a:cubicBezTo>
                  <a:pt x="138747" y="91083"/>
                  <a:pt x="133945" y="95884"/>
                  <a:pt x="133945" y="101798"/>
                </a:cubicBezTo>
                <a:cubicBezTo>
                  <a:pt x="133945" y="107713"/>
                  <a:pt x="138747" y="112514"/>
                  <a:pt x="144661" y="112514"/>
                </a:cubicBezTo>
                <a:cubicBezTo>
                  <a:pt x="150575" y="112514"/>
                  <a:pt x="155377" y="107713"/>
                  <a:pt x="155377" y="101798"/>
                </a:cubicBezTo>
                <a:cubicBezTo>
                  <a:pt x="155377" y="95884"/>
                  <a:pt x="150575" y="91083"/>
                  <a:pt x="144661" y="91083"/>
                </a:cubicBezTo>
                <a:close/>
                <a:moveTo>
                  <a:pt x="166092" y="58936"/>
                </a:moveTo>
                <a:cubicBezTo>
                  <a:pt x="160178" y="58936"/>
                  <a:pt x="155377" y="63737"/>
                  <a:pt x="155377" y="69652"/>
                </a:cubicBezTo>
                <a:cubicBezTo>
                  <a:pt x="155377" y="75566"/>
                  <a:pt x="160178" y="80367"/>
                  <a:pt x="166092" y="80367"/>
                </a:cubicBezTo>
                <a:cubicBezTo>
                  <a:pt x="172006" y="80367"/>
                  <a:pt x="176808" y="75566"/>
                  <a:pt x="176808" y="69652"/>
                </a:cubicBezTo>
                <a:cubicBezTo>
                  <a:pt x="176808" y="63737"/>
                  <a:pt x="172006" y="58936"/>
                  <a:pt x="166092" y="58936"/>
                </a:cubicBezTo>
                <a:close/>
              </a:path>
            </a:pathLst>
          </a:cu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1"/>
          <p:cNvSpPr/>
          <p:nvPr/>
        </p:nvSpPr>
        <p:spPr>
          <a:xfrm>
            <a:off x="1071563" y="2590800"/>
            <a:ext cx="7239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Движок</a:t>
            </a:r>
            <a:endParaRPr b="0" i="0" sz="1600" u="none" cap="none" strike="noStrike"/>
          </a:p>
        </p:txBody>
      </p:sp>
      <p:sp>
        <p:nvSpPr>
          <p:cNvPr id="278" name="Google Shape;278;p11"/>
          <p:cNvSpPr/>
          <p:nvPr/>
        </p:nvSpPr>
        <p:spPr>
          <a:xfrm>
            <a:off x="781050" y="2933700"/>
            <a:ext cx="22383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Phaser 3</a:t>
            </a:r>
            <a:endParaRPr b="0" i="0" sz="1600" u="none" cap="none" strike="noStrike"/>
          </a:p>
        </p:txBody>
      </p:sp>
      <p:sp>
        <p:nvSpPr>
          <p:cNvPr id="279" name="Google Shape;279;p11"/>
          <p:cNvSpPr/>
          <p:nvPr/>
        </p:nvSpPr>
        <p:spPr>
          <a:xfrm>
            <a:off x="781050" y="3162300"/>
            <a:ext cx="22383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Браузерная 2D-игра</a:t>
            </a:r>
            <a:endParaRPr b="0" i="0" sz="1600" u="none" cap="none" strike="noStrike"/>
          </a:p>
        </p:txBody>
      </p:sp>
      <p:sp>
        <p:nvSpPr>
          <p:cNvPr id="280" name="Google Shape;280;p11"/>
          <p:cNvSpPr/>
          <p:nvPr/>
        </p:nvSpPr>
        <p:spPr>
          <a:xfrm>
            <a:off x="3262313" y="2433638"/>
            <a:ext cx="2476500" cy="1114425"/>
          </a:xfrm>
          <a:custGeom>
            <a:rect b="b" l="l" r="r" t="t"/>
            <a:pathLst>
              <a:path extrusionOk="0" h="1114425" w="2476500">
                <a:moveTo>
                  <a:pt x="114295" y="0"/>
                </a:moveTo>
                <a:lnTo>
                  <a:pt x="2362205" y="0"/>
                </a:lnTo>
                <a:cubicBezTo>
                  <a:pt x="2425286" y="0"/>
                  <a:pt x="2476500" y="51214"/>
                  <a:pt x="2476500" y="114295"/>
                </a:cubicBezTo>
                <a:lnTo>
                  <a:pt x="2476500" y="1000130"/>
                </a:lnTo>
                <a:cubicBezTo>
                  <a:pt x="2476500" y="1063211"/>
                  <a:pt x="2425286" y="1114425"/>
                  <a:pt x="2362205" y="1114425"/>
                </a:cubicBezTo>
                <a:lnTo>
                  <a:pt x="114295" y="1114425"/>
                </a:lnTo>
                <a:cubicBezTo>
                  <a:pt x="51214" y="1114425"/>
                  <a:pt x="0" y="1063211"/>
                  <a:pt x="0" y="1000130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solidFill>
            <a:srgbClr val="0F172A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1"/>
          <p:cNvSpPr/>
          <p:nvPr/>
        </p:nvSpPr>
        <p:spPr>
          <a:xfrm>
            <a:off x="3454003" y="2638425"/>
            <a:ext cx="150019" cy="171450"/>
          </a:xfrm>
          <a:custGeom>
            <a:rect b="b" l="l" r="r" t="t"/>
            <a:pathLst>
              <a:path extrusionOk="0" h="171450" w="150019">
                <a:moveTo>
                  <a:pt x="0" y="10716"/>
                </a:moveTo>
                <a:lnTo>
                  <a:pt x="0" y="160734"/>
                </a:lnTo>
                <a:lnTo>
                  <a:pt x="150019" y="160734"/>
                </a:lnTo>
                <a:lnTo>
                  <a:pt x="150019" y="10716"/>
                </a:lnTo>
                <a:lnTo>
                  <a:pt x="0" y="10716"/>
                </a:lnTo>
                <a:close/>
                <a:moveTo>
                  <a:pt x="81640" y="127717"/>
                </a:moveTo>
                <a:cubicBezTo>
                  <a:pt x="81640" y="142317"/>
                  <a:pt x="73067" y="148981"/>
                  <a:pt x="60577" y="148981"/>
                </a:cubicBezTo>
                <a:cubicBezTo>
                  <a:pt x="49292" y="148981"/>
                  <a:pt x="42762" y="143154"/>
                  <a:pt x="39413" y="136088"/>
                </a:cubicBezTo>
                <a:lnTo>
                  <a:pt x="50899" y="129157"/>
                </a:lnTo>
                <a:cubicBezTo>
                  <a:pt x="53109" y="133075"/>
                  <a:pt x="55118" y="136390"/>
                  <a:pt x="59974" y="136390"/>
                </a:cubicBezTo>
                <a:cubicBezTo>
                  <a:pt x="64595" y="136390"/>
                  <a:pt x="67542" y="134582"/>
                  <a:pt x="67542" y="127516"/>
                </a:cubicBezTo>
                <a:lnTo>
                  <a:pt x="67542" y="79597"/>
                </a:lnTo>
                <a:lnTo>
                  <a:pt x="81640" y="79597"/>
                </a:lnTo>
                <a:lnTo>
                  <a:pt x="81640" y="127717"/>
                </a:lnTo>
                <a:close/>
                <a:moveTo>
                  <a:pt x="114992" y="148981"/>
                </a:moveTo>
                <a:cubicBezTo>
                  <a:pt x="101899" y="148981"/>
                  <a:pt x="93427" y="142752"/>
                  <a:pt x="89308" y="134582"/>
                </a:cubicBezTo>
                <a:lnTo>
                  <a:pt x="100794" y="127951"/>
                </a:lnTo>
                <a:cubicBezTo>
                  <a:pt x="103808" y="132874"/>
                  <a:pt x="107759" y="136524"/>
                  <a:pt x="114691" y="136524"/>
                </a:cubicBezTo>
                <a:cubicBezTo>
                  <a:pt x="120517" y="136524"/>
                  <a:pt x="124268" y="133610"/>
                  <a:pt x="124268" y="129559"/>
                </a:cubicBezTo>
                <a:cubicBezTo>
                  <a:pt x="124268" y="124737"/>
                  <a:pt x="120450" y="123029"/>
                  <a:pt x="113987" y="120182"/>
                </a:cubicBezTo>
                <a:lnTo>
                  <a:pt x="110471" y="118676"/>
                </a:lnTo>
                <a:cubicBezTo>
                  <a:pt x="100292" y="114356"/>
                  <a:pt x="93561" y="108898"/>
                  <a:pt x="93561" y="97412"/>
                </a:cubicBezTo>
                <a:cubicBezTo>
                  <a:pt x="93561" y="86830"/>
                  <a:pt x="101631" y="78793"/>
                  <a:pt x="114188" y="78793"/>
                </a:cubicBezTo>
                <a:cubicBezTo>
                  <a:pt x="123163" y="78793"/>
                  <a:pt x="129592" y="81908"/>
                  <a:pt x="134213" y="90078"/>
                </a:cubicBezTo>
                <a:lnTo>
                  <a:pt x="123230" y="97110"/>
                </a:lnTo>
                <a:cubicBezTo>
                  <a:pt x="120819" y="92791"/>
                  <a:pt x="118207" y="91083"/>
                  <a:pt x="114155" y="91083"/>
                </a:cubicBezTo>
                <a:cubicBezTo>
                  <a:pt x="110036" y="91083"/>
                  <a:pt x="107424" y="93695"/>
                  <a:pt x="107424" y="97110"/>
                </a:cubicBezTo>
                <a:cubicBezTo>
                  <a:pt x="107424" y="101330"/>
                  <a:pt x="110036" y="103037"/>
                  <a:pt x="116097" y="105683"/>
                </a:cubicBezTo>
                <a:lnTo>
                  <a:pt x="119613" y="107190"/>
                </a:lnTo>
                <a:cubicBezTo>
                  <a:pt x="131601" y="112313"/>
                  <a:pt x="138332" y="117570"/>
                  <a:pt x="138332" y="129358"/>
                </a:cubicBezTo>
                <a:cubicBezTo>
                  <a:pt x="138332" y="142016"/>
                  <a:pt x="128353" y="148981"/>
                  <a:pt x="114992" y="148981"/>
                </a:cubicBezTo>
                <a:close/>
              </a:path>
            </a:pathLst>
          </a:cu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1"/>
          <p:cNvSpPr/>
          <p:nvPr/>
        </p:nvSpPr>
        <p:spPr>
          <a:xfrm>
            <a:off x="3709988" y="2590800"/>
            <a:ext cx="4953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Язык</a:t>
            </a:r>
            <a:endParaRPr b="0" i="0" sz="1600" u="none" cap="none" strike="noStrike"/>
          </a:p>
        </p:txBody>
      </p:sp>
      <p:sp>
        <p:nvSpPr>
          <p:cNvPr id="283" name="Google Shape;283;p11"/>
          <p:cNvSpPr/>
          <p:nvPr/>
        </p:nvSpPr>
        <p:spPr>
          <a:xfrm>
            <a:off x="3419475" y="2933700"/>
            <a:ext cx="22383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JavaScript</a:t>
            </a:r>
            <a:endParaRPr b="0" i="0" sz="1600" u="none" cap="none" strike="noStrike"/>
          </a:p>
        </p:txBody>
      </p:sp>
      <p:sp>
        <p:nvSpPr>
          <p:cNvPr id="284" name="Google Shape;284;p11"/>
          <p:cNvSpPr/>
          <p:nvPr/>
        </p:nvSpPr>
        <p:spPr>
          <a:xfrm>
            <a:off x="3419475" y="3162300"/>
            <a:ext cx="22383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ES Modules, HTML/CSS</a:t>
            </a:r>
            <a:endParaRPr b="0" i="0" sz="1600" u="none" cap="none" strike="noStrike"/>
          </a:p>
        </p:txBody>
      </p:sp>
      <p:sp>
        <p:nvSpPr>
          <p:cNvPr id="285" name="Google Shape;285;p11"/>
          <p:cNvSpPr/>
          <p:nvPr/>
        </p:nvSpPr>
        <p:spPr>
          <a:xfrm>
            <a:off x="623888" y="3709988"/>
            <a:ext cx="2476500" cy="1114425"/>
          </a:xfrm>
          <a:custGeom>
            <a:rect b="b" l="l" r="r" t="t"/>
            <a:pathLst>
              <a:path extrusionOk="0" h="1114425" w="2476500">
                <a:moveTo>
                  <a:pt x="114295" y="0"/>
                </a:moveTo>
                <a:lnTo>
                  <a:pt x="2362205" y="0"/>
                </a:lnTo>
                <a:cubicBezTo>
                  <a:pt x="2425286" y="0"/>
                  <a:pt x="2476500" y="51214"/>
                  <a:pt x="2476500" y="114295"/>
                </a:cubicBezTo>
                <a:lnTo>
                  <a:pt x="2476500" y="1000130"/>
                </a:lnTo>
                <a:cubicBezTo>
                  <a:pt x="2476500" y="1063211"/>
                  <a:pt x="2425286" y="1114425"/>
                  <a:pt x="2362205" y="1114425"/>
                </a:cubicBezTo>
                <a:lnTo>
                  <a:pt x="114295" y="1114425"/>
                </a:lnTo>
                <a:cubicBezTo>
                  <a:pt x="51214" y="1114425"/>
                  <a:pt x="0" y="1063211"/>
                  <a:pt x="0" y="1000130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solidFill>
            <a:srgbClr val="0F172A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1"/>
          <p:cNvSpPr/>
          <p:nvPr/>
        </p:nvSpPr>
        <p:spPr>
          <a:xfrm>
            <a:off x="815578" y="3914775"/>
            <a:ext cx="150019" cy="171450"/>
          </a:xfrm>
          <a:custGeom>
            <a:rect b="b" l="l" r="r" t="t"/>
            <a:pathLst>
              <a:path extrusionOk="0" h="171450" w="150019">
                <a:moveTo>
                  <a:pt x="113452" y="-3315"/>
                </a:moveTo>
                <a:cubicBezTo>
                  <a:pt x="117437" y="-435"/>
                  <a:pt x="118910" y="4789"/>
                  <a:pt x="117102" y="9343"/>
                </a:cubicBezTo>
                <a:lnTo>
                  <a:pt x="90848" y="75009"/>
                </a:lnTo>
                <a:lnTo>
                  <a:pt x="139303" y="75009"/>
                </a:lnTo>
                <a:cubicBezTo>
                  <a:pt x="143824" y="75009"/>
                  <a:pt x="147842" y="77822"/>
                  <a:pt x="149383" y="82075"/>
                </a:cubicBezTo>
                <a:cubicBezTo>
                  <a:pt x="150923" y="86328"/>
                  <a:pt x="149617" y="91083"/>
                  <a:pt x="146168" y="93963"/>
                </a:cubicBezTo>
                <a:lnTo>
                  <a:pt x="49727" y="174330"/>
                </a:lnTo>
                <a:cubicBezTo>
                  <a:pt x="45943" y="177478"/>
                  <a:pt x="40552" y="177645"/>
                  <a:pt x="36567" y="174765"/>
                </a:cubicBezTo>
                <a:cubicBezTo>
                  <a:pt x="32582" y="171885"/>
                  <a:pt x="31109" y="166661"/>
                  <a:pt x="32917" y="162107"/>
                </a:cubicBezTo>
                <a:lnTo>
                  <a:pt x="59170" y="96441"/>
                </a:lnTo>
                <a:lnTo>
                  <a:pt x="10716" y="96441"/>
                </a:lnTo>
                <a:cubicBezTo>
                  <a:pt x="6195" y="96441"/>
                  <a:pt x="2177" y="93628"/>
                  <a:pt x="636" y="89375"/>
                </a:cubicBezTo>
                <a:cubicBezTo>
                  <a:pt x="-904" y="85122"/>
                  <a:pt x="402" y="80367"/>
                  <a:pt x="3851" y="77487"/>
                </a:cubicBezTo>
                <a:lnTo>
                  <a:pt x="100292" y="-2880"/>
                </a:lnTo>
                <a:cubicBezTo>
                  <a:pt x="104076" y="-6028"/>
                  <a:pt x="109467" y="-6195"/>
                  <a:pt x="113452" y="-3315"/>
                </a:cubicBezTo>
                <a:close/>
              </a:path>
            </a:pathLst>
          </a:custGeom>
          <a:solidFill>
            <a:srgbClr val="22D3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1"/>
          <p:cNvSpPr/>
          <p:nvPr/>
        </p:nvSpPr>
        <p:spPr>
          <a:xfrm>
            <a:off x="1071563" y="3867150"/>
            <a:ext cx="6953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Сборка</a:t>
            </a:r>
            <a:endParaRPr b="0" i="0" sz="1600" u="none" cap="none" strike="noStrike"/>
          </a:p>
        </p:txBody>
      </p:sp>
      <p:sp>
        <p:nvSpPr>
          <p:cNvPr id="288" name="Google Shape;288;p11"/>
          <p:cNvSpPr/>
          <p:nvPr/>
        </p:nvSpPr>
        <p:spPr>
          <a:xfrm>
            <a:off x="781050" y="4210050"/>
            <a:ext cx="22383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Vite</a:t>
            </a:r>
            <a:endParaRPr b="0" i="0" sz="1600" u="none" cap="none" strike="noStrike"/>
          </a:p>
        </p:txBody>
      </p:sp>
      <p:sp>
        <p:nvSpPr>
          <p:cNvPr id="289" name="Google Shape;289;p11"/>
          <p:cNvSpPr/>
          <p:nvPr/>
        </p:nvSpPr>
        <p:spPr>
          <a:xfrm>
            <a:off x="781050" y="4438650"/>
            <a:ext cx="22383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Быстрая сборка и hot reload</a:t>
            </a:r>
            <a:endParaRPr b="0" i="0" sz="1600" u="none" cap="none" strike="noStrike"/>
          </a:p>
        </p:txBody>
      </p:sp>
      <p:sp>
        <p:nvSpPr>
          <p:cNvPr id="290" name="Google Shape;290;p11"/>
          <p:cNvSpPr/>
          <p:nvPr/>
        </p:nvSpPr>
        <p:spPr>
          <a:xfrm>
            <a:off x="3262313" y="3709988"/>
            <a:ext cx="2476500" cy="1114425"/>
          </a:xfrm>
          <a:custGeom>
            <a:rect b="b" l="l" r="r" t="t"/>
            <a:pathLst>
              <a:path extrusionOk="0" h="1114425" w="2476500">
                <a:moveTo>
                  <a:pt x="114295" y="0"/>
                </a:moveTo>
                <a:lnTo>
                  <a:pt x="2362205" y="0"/>
                </a:lnTo>
                <a:cubicBezTo>
                  <a:pt x="2425286" y="0"/>
                  <a:pt x="2476500" y="51214"/>
                  <a:pt x="2476500" y="114295"/>
                </a:cubicBezTo>
                <a:lnTo>
                  <a:pt x="2476500" y="1000130"/>
                </a:lnTo>
                <a:cubicBezTo>
                  <a:pt x="2476500" y="1063211"/>
                  <a:pt x="2425286" y="1114425"/>
                  <a:pt x="2362205" y="1114425"/>
                </a:cubicBezTo>
                <a:lnTo>
                  <a:pt x="114295" y="1114425"/>
                </a:lnTo>
                <a:cubicBezTo>
                  <a:pt x="51214" y="1114425"/>
                  <a:pt x="0" y="1063211"/>
                  <a:pt x="0" y="1000130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solidFill>
            <a:srgbClr val="0F172A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1"/>
          <p:cNvSpPr/>
          <p:nvPr/>
        </p:nvSpPr>
        <p:spPr>
          <a:xfrm>
            <a:off x="3443288" y="3914775"/>
            <a:ext cx="171450" cy="171450"/>
          </a:xfrm>
          <a:custGeom>
            <a:rect b="b" l="l" r="r" t="t"/>
            <a:pathLst>
              <a:path extrusionOk="0" h="171450" w="171450">
                <a:moveTo>
                  <a:pt x="58233" y="133075"/>
                </a:moveTo>
                <a:cubicBezTo>
                  <a:pt x="58233" y="133744"/>
                  <a:pt x="57463" y="134280"/>
                  <a:pt x="56491" y="134280"/>
                </a:cubicBezTo>
                <a:cubicBezTo>
                  <a:pt x="55386" y="134381"/>
                  <a:pt x="54616" y="133845"/>
                  <a:pt x="54616" y="133075"/>
                </a:cubicBezTo>
                <a:cubicBezTo>
                  <a:pt x="54616" y="132405"/>
                  <a:pt x="55386" y="131869"/>
                  <a:pt x="56357" y="131869"/>
                </a:cubicBezTo>
                <a:cubicBezTo>
                  <a:pt x="57362" y="131769"/>
                  <a:pt x="58233" y="132304"/>
                  <a:pt x="58233" y="133075"/>
                </a:cubicBezTo>
                <a:close/>
                <a:moveTo>
                  <a:pt x="47818" y="131568"/>
                </a:moveTo>
                <a:cubicBezTo>
                  <a:pt x="47584" y="132238"/>
                  <a:pt x="48254" y="133008"/>
                  <a:pt x="49258" y="133209"/>
                </a:cubicBezTo>
                <a:cubicBezTo>
                  <a:pt x="50129" y="133543"/>
                  <a:pt x="51134" y="133209"/>
                  <a:pt x="51335" y="132539"/>
                </a:cubicBezTo>
                <a:cubicBezTo>
                  <a:pt x="51535" y="131869"/>
                  <a:pt x="50899" y="131099"/>
                  <a:pt x="49895" y="130798"/>
                </a:cubicBezTo>
                <a:cubicBezTo>
                  <a:pt x="49024" y="130563"/>
                  <a:pt x="48053" y="130898"/>
                  <a:pt x="47818" y="131568"/>
                </a:cubicBezTo>
                <a:close/>
                <a:moveTo>
                  <a:pt x="62619" y="130999"/>
                </a:moveTo>
                <a:cubicBezTo>
                  <a:pt x="61648" y="131233"/>
                  <a:pt x="60979" y="131869"/>
                  <a:pt x="61079" y="132639"/>
                </a:cubicBezTo>
                <a:cubicBezTo>
                  <a:pt x="61180" y="133309"/>
                  <a:pt x="62050" y="133744"/>
                  <a:pt x="63055" y="133510"/>
                </a:cubicBezTo>
                <a:cubicBezTo>
                  <a:pt x="64026" y="133276"/>
                  <a:pt x="64696" y="132639"/>
                  <a:pt x="64595" y="131970"/>
                </a:cubicBezTo>
                <a:cubicBezTo>
                  <a:pt x="64495" y="131333"/>
                  <a:pt x="63591" y="130898"/>
                  <a:pt x="62619" y="130999"/>
                </a:cubicBezTo>
                <a:close/>
                <a:moveTo>
                  <a:pt x="84653" y="2679"/>
                </a:moveTo>
                <a:cubicBezTo>
                  <a:pt x="38208" y="2679"/>
                  <a:pt x="2679" y="37940"/>
                  <a:pt x="2679" y="84386"/>
                </a:cubicBezTo>
                <a:cubicBezTo>
                  <a:pt x="2679" y="121522"/>
                  <a:pt x="26052" y="153300"/>
                  <a:pt x="59438" y="164485"/>
                </a:cubicBezTo>
                <a:cubicBezTo>
                  <a:pt x="63724" y="165255"/>
                  <a:pt x="65231" y="162610"/>
                  <a:pt x="65231" y="160433"/>
                </a:cubicBezTo>
                <a:cubicBezTo>
                  <a:pt x="65231" y="158357"/>
                  <a:pt x="65131" y="146905"/>
                  <a:pt x="65131" y="139872"/>
                </a:cubicBezTo>
                <a:cubicBezTo>
                  <a:pt x="65131" y="139872"/>
                  <a:pt x="41690" y="144895"/>
                  <a:pt x="36768" y="129893"/>
                </a:cubicBezTo>
                <a:cubicBezTo>
                  <a:pt x="36768" y="129893"/>
                  <a:pt x="32951" y="120149"/>
                  <a:pt x="27459" y="117637"/>
                </a:cubicBezTo>
                <a:cubicBezTo>
                  <a:pt x="27459" y="117637"/>
                  <a:pt x="19790" y="112380"/>
                  <a:pt x="27995" y="112481"/>
                </a:cubicBezTo>
                <a:cubicBezTo>
                  <a:pt x="27995" y="112481"/>
                  <a:pt x="36333" y="113150"/>
                  <a:pt x="40920" y="121120"/>
                </a:cubicBezTo>
                <a:cubicBezTo>
                  <a:pt x="48254" y="134046"/>
                  <a:pt x="60543" y="130329"/>
                  <a:pt x="65332" y="128119"/>
                </a:cubicBezTo>
                <a:cubicBezTo>
                  <a:pt x="66102" y="122761"/>
                  <a:pt x="68279" y="119044"/>
                  <a:pt x="70690" y="116834"/>
                </a:cubicBezTo>
                <a:cubicBezTo>
                  <a:pt x="51971" y="114758"/>
                  <a:pt x="33084" y="112045"/>
                  <a:pt x="33084" y="79831"/>
                </a:cubicBezTo>
                <a:cubicBezTo>
                  <a:pt x="33084" y="70623"/>
                  <a:pt x="35629" y="66002"/>
                  <a:pt x="40987" y="60108"/>
                </a:cubicBezTo>
                <a:cubicBezTo>
                  <a:pt x="40117" y="57931"/>
                  <a:pt x="37270" y="48957"/>
                  <a:pt x="41858" y="37371"/>
                </a:cubicBezTo>
                <a:cubicBezTo>
                  <a:pt x="48857" y="35194"/>
                  <a:pt x="64963" y="46412"/>
                  <a:pt x="64963" y="46412"/>
                </a:cubicBezTo>
                <a:cubicBezTo>
                  <a:pt x="71661" y="44537"/>
                  <a:pt x="78860" y="43566"/>
                  <a:pt x="85993" y="43566"/>
                </a:cubicBezTo>
                <a:cubicBezTo>
                  <a:pt x="93125" y="43566"/>
                  <a:pt x="100325" y="44537"/>
                  <a:pt x="107022" y="46412"/>
                </a:cubicBezTo>
                <a:cubicBezTo>
                  <a:pt x="107022" y="46412"/>
                  <a:pt x="123129" y="35161"/>
                  <a:pt x="130128" y="37371"/>
                </a:cubicBezTo>
                <a:cubicBezTo>
                  <a:pt x="134715" y="48990"/>
                  <a:pt x="131869" y="57931"/>
                  <a:pt x="130999" y="60108"/>
                </a:cubicBezTo>
                <a:cubicBezTo>
                  <a:pt x="136356" y="66035"/>
                  <a:pt x="139638" y="70656"/>
                  <a:pt x="139638" y="79831"/>
                </a:cubicBezTo>
                <a:cubicBezTo>
                  <a:pt x="139638" y="112146"/>
                  <a:pt x="119915" y="114724"/>
                  <a:pt x="101196" y="116834"/>
                </a:cubicBezTo>
                <a:cubicBezTo>
                  <a:pt x="104276" y="119479"/>
                  <a:pt x="106888" y="124502"/>
                  <a:pt x="106888" y="132371"/>
                </a:cubicBezTo>
                <a:cubicBezTo>
                  <a:pt x="106888" y="143656"/>
                  <a:pt x="106788" y="157620"/>
                  <a:pt x="106788" y="160366"/>
                </a:cubicBezTo>
                <a:cubicBezTo>
                  <a:pt x="106788" y="162543"/>
                  <a:pt x="108328" y="165188"/>
                  <a:pt x="112581" y="164418"/>
                </a:cubicBezTo>
                <a:cubicBezTo>
                  <a:pt x="146067" y="153300"/>
                  <a:pt x="168771" y="121522"/>
                  <a:pt x="168771" y="84386"/>
                </a:cubicBezTo>
                <a:cubicBezTo>
                  <a:pt x="168771" y="37940"/>
                  <a:pt x="131099" y="2679"/>
                  <a:pt x="84653" y="2679"/>
                </a:cubicBezTo>
                <a:close/>
                <a:moveTo>
                  <a:pt x="35228" y="118173"/>
                </a:moveTo>
                <a:cubicBezTo>
                  <a:pt x="34792" y="118508"/>
                  <a:pt x="34893" y="119278"/>
                  <a:pt x="35462" y="119915"/>
                </a:cubicBezTo>
                <a:cubicBezTo>
                  <a:pt x="35998" y="120450"/>
                  <a:pt x="36768" y="120685"/>
                  <a:pt x="37203" y="120249"/>
                </a:cubicBezTo>
                <a:cubicBezTo>
                  <a:pt x="37639" y="119915"/>
                  <a:pt x="37538" y="119144"/>
                  <a:pt x="36969" y="118508"/>
                </a:cubicBezTo>
                <a:cubicBezTo>
                  <a:pt x="36433" y="117972"/>
                  <a:pt x="35663" y="117738"/>
                  <a:pt x="35228" y="118173"/>
                </a:cubicBezTo>
                <a:close/>
                <a:moveTo>
                  <a:pt x="31611" y="115461"/>
                </a:moveTo>
                <a:cubicBezTo>
                  <a:pt x="31377" y="115896"/>
                  <a:pt x="31712" y="116432"/>
                  <a:pt x="32381" y="116767"/>
                </a:cubicBezTo>
                <a:cubicBezTo>
                  <a:pt x="32917" y="117102"/>
                  <a:pt x="33587" y="117001"/>
                  <a:pt x="33821" y="116532"/>
                </a:cubicBezTo>
                <a:cubicBezTo>
                  <a:pt x="34056" y="116097"/>
                  <a:pt x="33721" y="115561"/>
                  <a:pt x="33051" y="115226"/>
                </a:cubicBezTo>
                <a:cubicBezTo>
                  <a:pt x="32381" y="115026"/>
                  <a:pt x="31845" y="115126"/>
                  <a:pt x="31611" y="115461"/>
                </a:cubicBezTo>
                <a:close/>
                <a:moveTo>
                  <a:pt x="42461" y="127382"/>
                </a:moveTo>
                <a:cubicBezTo>
                  <a:pt x="41925" y="127817"/>
                  <a:pt x="42126" y="128822"/>
                  <a:pt x="42896" y="129458"/>
                </a:cubicBezTo>
                <a:cubicBezTo>
                  <a:pt x="43666" y="130228"/>
                  <a:pt x="44637" y="130329"/>
                  <a:pt x="45073" y="129793"/>
                </a:cubicBezTo>
                <a:cubicBezTo>
                  <a:pt x="45508" y="129358"/>
                  <a:pt x="45307" y="128353"/>
                  <a:pt x="44637" y="127717"/>
                </a:cubicBezTo>
                <a:cubicBezTo>
                  <a:pt x="43901" y="126947"/>
                  <a:pt x="42896" y="126846"/>
                  <a:pt x="42461" y="127382"/>
                </a:cubicBezTo>
                <a:close/>
                <a:moveTo>
                  <a:pt x="38643" y="122460"/>
                </a:moveTo>
                <a:cubicBezTo>
                  <a:pt x="38107" y="122794"/>
                  <a:pt x="38107" y="123665"/>
                  <a:pt x="38643" y="124435"/>
                </a:cubicBezTo>
                <a:cubicBezTo>
                  <a:pt x="39179" y="125205"/>
                  <a:pt x="40083" y="125540"/>
                  <a:pt x="40518" y="125205"/>
                </a:cubicBezTo>
                <a:cubicBezTo>
                  <a:pt x="41054" y="124770"/>
                  <a:pt x="41054" y="123899"/>
                  <a:pt x="40518" y="123129"/>
                </a:cubicBezTo>
                <a:cubicBezTo>
                  <a:pt x="40050" y="122359"/>
                  <a:pt x="39179" y="122024"/>
                  <a:pt x="38643" y="122460"/>
                </a:cubicBezTo>
                <a:close/>
              </a:path>
            </a:pathLst>
          </a:cu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1"/>
          <p:cNvSpPr/>
          <p:nvPr/>
        </p:nvSpPr>
        <p:spPr>
          <a:xfrm>
            <a:off x="3709988" y="3867150"/>
            <a:ext cx="7143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Деплой</a:t>
            </a:r>
            <a:endParaRPr b="0" i="0" sz="1600" u="none" cap="none" strike="noStrike"/>
          </a:p>
        </p:txBody>
      </p:sp>
      <p:sp>
        <p:nvSpPr>
          <p:cNvPr id="293" name="Google Shape;293;p11"/>
          <p:cNvSpPr/>
          <p:nvPr/>
        </p:nvSpPr>
        <p:spPr>
          <a:xfrm>
            <a:off x="3419475" y="4210050"/>
            <a:ext cx="22383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GitHub Pages</a:t>
            </a:r>
            <a:endParaRPr b="0" i="0" sz="1600" u="none" cap="none" strike="noStrike"/>
          </a:p>
        </p:txBody>
      </p:sp>
      <p:sp>
        <p:nvSpPr>
          <p:cNvPr id="294" name="Google Shape;294;p11"/>
          <p:cNvSpPr/>
          <p:nvPr/>
        </p:nvSpPr>
        <p:spPr>
          <a:xfrm>
            <a:off x="3419475" y="4438650"/>
            <a:ext cx="22383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CI/CD через GitHub Actions</a:t>
            </a:r>
            <a:endParaRPr b="0" i="0" sz="1600" u="none" cap="none" strike="noStrike"/>
          </a:p>
        </p:txBody>
      </p:sp>
      <p:sp>
        <p:nvSpPr>
          <p:cNvPr id="295" name="Google Shape;295;p11"/>
          <p:cNvSpPr/>
          <p:nvPr/>
        </p:nvSpPr>
        <p:spPr>
          <a:xfrm>
            <a:off x="385763" y="5491163"/>
            <a:ext cx="5591175" cy="1152525"/>
          </a:xfrm>
          <a:custGeom>
            <a:rect b="b" l="l" r="r" t="t"/>
            <a:pathLst>
              <a:path extrusionOk="0" h="1152525" w="5591175">
                <a:moveTo>
                  <a:pt x="152398" y="0"/>
                </a:moveTo>
                <a:lnTo>
                  <a:pt x="5438777" y="0"/>
                </a:lnTo>
                <a:cubicBezTo>
                  <a:pt x="5522944" y="0"/>
                  <a:pt x="5591175" y="68231"/>
                  <a:pt x="5591175" y="152398"/>
                </a:cubicBezTo>
                <a:lnTo>
                  <a:pt x="5591175" y="1000127"/>
                </a:lnTo>
                <a:cubicBezTo>
                  <a:pt x="5591175" y="1084294"/>
                  <a:pt x="5522944" y="1152525"/>
                  <a:pt x="5438777" y="1152525"/>
                </a:cubicBezTo>
                <a:lnTo>
                  <a:pt x="152398" y="1152525"/>
                </a:lnTo>
                <a:cubicBezTo>
                  <a:pt x="68231" y="1152525"/>
                  <a:pt x="0" y="1084294"/>
                  <a:pt x="0" y="1000127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gradFill>
            <a:gsLst>
              <a:gs pos="0">
                <a:srgbClr val="10B981">
                  <a:alpha val="20000"/>
                </a:srgbClr>
              </a:gs>
              <a:gs pos="100000">
                <a:srgbClr val="0F172A"/>
              </a:gs>
            </a:gsLst>
            <a:lin ang="2700000" scaled="0"/>
          </a:gradFill>
          <a:ln cap="flat" cmpd="sng" w="12700">
            <a:solidFill>
              <a:srgbClr val="10B981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1"/>
          <p:cNvSpPr/>
          <p:nvPr/>
        </p:nvSpPr>
        <p:spPr>
          <a:xfrm>
            <a:off x="571500" y="5953125"/>
            <a:ext cx="228600" cy="228600"/>
          </a:xfrm>
          <a:custGeom>
            <a:rect b="b" l="l" r="r" t="t"/>
            <a:pathLst>
              <a:path extrusionOk="0" h="228600" w="228600">
                <a:moveTo>
                  <a:pt x="57150" y="142875"/>
                </a:moveTo>
                <a:lnTo>
                  <a:pt x="10939" y="142875"/>
                </a:lnTo>
                <a:cubicBezTo>
                  <a:pt x="-179" y="142875"/>
                  <a:pt x="-7010" y="130775"/>
                  <a:pt x="-1295" y="121221"/>
                </a:cubicBezTo>
                <a:lnTo>
                  <a:pt x="22324" y="81841"/>
                </a:lnTo>
                <a:cubicBezTo>
                  <a:pt x="26209" y="75367"/>
                  <a:pt x="33174" y="71438"/>
                  <a:pt x="40719" y="71438"/>
                </a:cubicBezTo>
                <a:lnTo>
                  <a:pt x="83135" y="71438"/>
                </a:lnTo>
                <a:cubicBezTo>
                  <a:pt x="117113" y="13886"/>
                  <a:pt x="167789" y="10984"/>
                  <a:pt x="201677" y="15939"/>
                </a:cubicBezTo>
                <a:cubicBezTo>
                  <a:pt x="207392" y="16788"/>
                  <a:pt x="211857" y="21253"/>
                  <a:pt x="212661" y="26923"/>
                </a:cubicBezTo>
                <a:cubicBezTo>
                  <a:pt x="217616" y="60811"/>
                  <a:pt x="214714" y="111487"/>
                  <a:pt x="157163" y="145465"/>
                </a:cubicBezTo>
                <a:lnTo>
                  <a:pt x="157163" y="187881"/>
                </a:lnTo>
                <a:cubicBezTo>
                  <a:pt x="157163" y="195426"/>
                  <a:pt x="153233" y="202391"/>
                  <a:pt x="146759" y="206276"/>
                </a:cubicBezTo>
                <a:lnTo>
                  <a:pt x="107379" y="229895"/>
                </a:lnTo>
                <a:cubicBezTo>
                  <a:pt x="97869" y="235610"/>
                  <a:pt x="85725" y="228734"/>
                  <a:pt x="85725" y="217661"/>
                </a:cubicBezTo>
                <a:lnTo>
                  <a:pt x="85725" y="171450"/>
                </a:lnTo>
                <a:cubicBezTo>
                  <a:pt x="85725" y="155689"/>
                  <a:pt x="72911" y="142875"/>
                  <a:pt x="57150" y="142875"/>
                </a:cubicBezTo>
                <a:lnTo>
                  <a:pt x="57105" y="142875"/>
                </a:lnTo>
                <a:close/>
                <a:moveTo>
                  <a:pt x="178594" y="71438"/>
                </a:moveTo>
                <a:cubicBezTo>
                  <a:pt x="178594" y="59609"/>
                  <a:pt x="168991" y="50006"/>
                  <a:pt x="157163" y="50006"/>
                </a:cubicBezTo>
                <a:cubicBezTo>
                  <a:pt x="145334" y="50006"/>
                  <a:pt x="135731" y="59609"/>
                  <a:pt x="135731" y="71438"/>
                </a:cubicBezTo>
                <a:cubicBezTo>
                  <a:pt x="135731" y="83266"/>
                  <a:pt x="145334" y="92869"/>
                  <a:pt x="157163" y="92869"/>
                </a:cubicBezTo>
                <a:cubicBezTo>
                  <a:pt x="168991" y="92869"/>
                  <a:pt x="178594" y="83266"/>
                  <a:pt x="178594" y="71438"/>
                </a:cubicBezTo>
                <a:close/>
              </a:path>
            </a:pathLst>
          </a:cu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1"/>
          <p:cNvSpPr/>
          <p:nvPr/>
        </p:nvSpPr>
        <p:spPr>
          <a:xfrm>
            <a:off x="905619" y="5686425"/>
            <a:ext cx="49625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MVP</a:t>
            </a:r>
            <a:endParaRPr b="0" i="0" sz="1600" u="none" cap="none" strike="noStrike"/>
          </a:p>
        </p:txBody>
      </p:sp>
      <p:sp>
        <p:nvSpPr>
          <p:cNvPr id="298" name="Google Shape;298;p11"/>
          <p:cNvSpPr/>
          <p:nvPr/>
        </p:nvSpPr>
        <p:spPr>
          <a:xfrm>
            <a:off x="905619" y="5991225"/>
            <a:ext cx="4953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Рабочий браузерный билд с реализованным игровым сценарием и основными механиками</a:t>
            </a:r>
            <a:endParaRPr b="0" i="0" sz="1600" u="none" cap="none" strike="noStrike"/>
          </a:p>
        </p:txBody>
      </p:sp>
      <p:sp>
        <p:nvSpPr>
          <p:cNvPr id="299" name="Google Shape;299;p11"/>
          <p:cNvSpPr/>
          <p:nvPr/>
        </p:nvSpPr>
        <p:spPr>
          <a:xfrm>
            <a:off x="6215063" y="1585913"/>
            <a:ext cx="5591175" cy="5057775"/>
          </a:xfrm>
          <a:custGeom>
            <a:rect b="b" l="l" r="r" t="t"/>
            <a:pathLst>
              <a:path extrusionOk="0" h="5057775" w="5591175">
                <a:moveTo>
                  <a:pt x="152391" y="0"/>
                </a:moveTo>
                <a:lnTo>
                  <a:pt x="5438784" y="0"/>
                </a:lnTo>
                <a:cubicBezTo>
                  <a:pt x="5522947" y="0"/>
                  <a:pt x="5591175" y="68228"/>
                  <a:pt x="5591175" y="152391"/>
                </a:cubicBezTo>
                <a:lnTo>
                  <a:pt x="5591175" y="4905384"/>
                </a:lnTo>
                <a:cubicBezTo>
                  <a:pt x="5591175" y="4989547"/>
                  <a:pt x="5522947" y="5057775"/>
                  <a:pt x="5438784" y="5057775"/>
                </a:cubicBezTo>
                <a:lnTo>
                  <a:pt x="152391" y="5057775"/>
                </a:lnTo>
                <a:cubicBezTo>
                  <a:pt x="68228" y="5057775"/>
                  <a:pt x="0" y="4989547"/>
                  <a:pt x="0" y="4905384"/>
                </a:cubicBezTo>
                <a:lnTo>
                  <a:pt x="0" y="152391"/>
                </a:lnTo>
                <a:cubicBezTo>
                  <a:pt x="0" y="68284"/>
                  <a:pt x="68284" y="0"/>
                  <a:pt x="152391" y="0"/>
                </a:cubicBezTo>
                <a:close/>
              </a:path>
            </a:pathLst>
          </a:custGeom>
          <a:gradFill>
            <a:gsLst>
              <a:gs pos="0">
                <a:srgbClr val="1E293B"/>
              </a:gs>
              <a:gs pos="100000">
                <a:srgbClr val="0F172A"/>
              </a:gs>
            </a:gsLst>
            <a:lin ang="2700000" scaled="0"/>
          </a:gra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1"/>
          <p:cNvSpPr/>
          <p:nvPr/>
        </p:nvSpPr>
        <p:spPr>
          <a:xfrm>
            <a:off x="6448425" y="1819275"/>
            <a:ext cx="457200" cy="457200"/>
          </a:xfrm>
          <a:custGeom>
            <a:rect b="b" l="l" r="r" t="t"/>
            <a:pathLst>
              <a:path extrusionOk="0" h="457200" w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>
            <a:gsLst>
              <a:gs pos="0">
                <a:srgbClr val="10B981"/>
              </a:gs>
              <a:gs pos="100000">
                <a:srgbClr val="22D3EE"/>
              </a:gs>
            </a:gsLst>
            <a:lin ang="27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1"/>
          <p:cNvSpPr/>
          <p:nvPr/>
        </p:nvSpPr>
        <p:spPr>
          <a:xfrm>
            <a:off x="6581775" y="1952625"/>
            <a:ext cx="190500" cy="190500"/>
          </a:xfrm>
          <a:custGeom>
            <a:rect b="b" l="l" r="r" t="t"/>
            <a:pathLst>
              <a:path extrusionOk="0" h="190500" w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1"/>
          <p:cNvSpPr/>
          <p:nvPr/>
        </p:nvSpPr>
        <p:spPr>
          <a:xfrm>
            <a:off x="7019925" y="1895475"/>
            <a:ext cx="20669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Что уже работает</a:t>
            </a:r>
            <a:endParaRPr b="0" i="0" sz="1600" u="none" cap="none" strike="noStrike"/>
          </a:p>
        </p:txBody>
      </p:sp>
      <p:sp>
        <p:nvSpPr>
          <p:cNvPr id="303" name="Google Shape;303;p11"/>
          <p:cNvSpPr/>
          <p:nvPr/>
        </p:nvSpPr>
        <p:spPr>
          <a:xfrm>
            <a:off x="6453188" y="2433638"/>
            <a:ext cx="5114925" cy="695325"/>
          </a:xfrm>
          <a:custGeom>
            <a:rect b="b" l="l" r="r" t="t"/>
            <a:pathLst>
              <a:path extrusionOk="0" h="695325" w="5114925">
                <a:moveTo>
                  <a:pt x="114298" y="0"/>
                </a:moveTo>
                <a:lnTo>
                  <a:pt x="5000627" y="0"/>
                </a:lnTo>
                <a:cubicBezTo>
                  <a:pt x="5063752" y="0"/>
                  <a:pt x="5114925" y="51173"/>
                  <a:pt x="5114925" y="114298"/>
                </a:cubicBezTo>
                <a:lnTo>
                  <a:pt x="5114925" y="581027"/>
                </a:lnTo>
                <a:cubicBezTo>
                  <a:pt x="5114925" y="644152"/>
                  <a:pt x="5063752" y="695325"/>
                  <a:pt x="5000627" y="695325"/>
                </a:cubicBezTo>
                <a:lnTo>
                  <a:pt x="114298" y="695325"/>
                </a:lnTo>
                <a:cubicBezTo>
                  <a:pt x="51173" y="695325"/>
                  <a:pt x="0" y="644152"/>
                  <a:pt x="0" y="5810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0F172A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1"/>
          <p:cNvSpPr/>
          <p:nvPr/>
        </p:nvSpPr>
        <p:spPr>
          <a:xfrm>
            <a:off x="6572250" y="2552700"/>
            <a:ext cx="304800" cy="304800"/>
          </a:xfrm>
          <a:custGeom>
            <a:rect b="b" l="l" r="r" t="t"/>
            <a:pathLst>
              <a:path extrusionOk="0" h="304800" w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3B82F6"/>
              </a:gs>
              <a:gs pos="100000">
                <a:srgbClr val="22D3EE"/>
              </a:gs>
            </a:gsLst>
            <a:lin ang="27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1"/>
          <p:cNvSpPr/>
          <p:nvPr/>
        </p:nvSpPr>
        <p:spPr>
          <a:xfrm>
            <a:off x="6701582" y="2609850"/>
            <a:ext cx="1143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 b="0" i="0" sz="1600" u="none" cap="none" strike="noStrike"/>
          </a:p>
        </p:txBody>
      </p:sp>
      <p:sp>
        <p:nvSpPr>
          <p:cNvPr id="306" name="Google Shape;306;p11"/>
          <p:cNvSpPr/>
          <p:nvPr/>
        </p:nvSpPr>
        <p:spPr>
          <a:xfrm>
            <a:off x="6991350" y="2552700"/>
            <a:ext cx="25336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Онбординг и обучающий уровень</a:t>
            </a:r>
            <a:endParaRPr b="0" i="0" sz="1600" u="none" cap="none" strike="noStrike"/>
          </a:p>
        </p:txBody>
      </p:sp>
      <p:sp>
        <p:nvSpPr>
          <p:cNvPr id="307" name="Google Shape;307;p11"/>
          <p:cNvSpPr/>
          <p:nvPr/>
        </p:nvSpPr>
        <p:spPr>
          <a:xfrm>
            <a:off x="6991350" y="2781300"/>
            <a:ext cx="25336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Интерактивное введение в игру</a:t>
            </a:r>
            <a:endParaRPr b="0" i="0" sz="1600" u="none" cap="none" strike="noStrike"/>
          </a:p>
        </p:txBody>
      </p:sp>
      <p:sp>
        <p:nvSpPr>
          <p:cNvPr id="308" name="Google Shape;308;p11"/>
          <p:cNvSpPr/>
          <p:nvPr/>
        </p:nvSpPr>
        <p:spPr>
          <a:xfrm>
            <a:off x="6453188" y="3252788"/>
            <a:ext cx="5114925" cy="695325"/>
          </a:xfrm>
          <a:custGeom>
            <a:rect b="b" l="l" r="r" t="t"/>
            <a:pathLst>
              <a:path extrusionOk="0" h="695325" w="5114925">
                <a:moveTo>
                  <a:pt x="114298" y="0"/>
                </a:moveTo>
                <a:lnTo>
                  <a:pt x="5000627" y="0"/>
                </a:lnTo>
                <a:cubicBezTo>
                  <a:pt x="5063752" y="0"/>
                  <a:pt x="5114925" y="51173"/>
                  <a:pt x="5114925" y="114298"/>
                </a:cubicBezTo>
                <a:lnTo>
                  <a:pt x="5114925" y="581027"/>
                </a:lnTo>
                <a:cubicBezTo>
                  <a:pt x="5114925" y="644152"/>
                  <a:pt x="5063752" y="695325"/>
                  <a:pt x="5000627" y="695325"/>
                </a:cubicBezTo>
                <a:lnTo>
                  <a:pt x="114298" y="695325"/>
                </a:lnTo>
                <a:cubicBezTo>
                  <a:pt x="51173" y="695325"/>
                  <a:pt x="0" y="644152"/>
                  <a:pt x="0" y="5810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0F172A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1"/>
          <p:cNvSpPr/>
          <p:nvPr/>
        </p:nvSpPr>
        <p:spPr>
          <a:xfrm>
            <a:off x="6572250" y="3371850"/>
            <a:ext cx="304800" cy="304800"/>
          </a:xfrm>
          <a:custGeom>
            <a:rect b="b" l="l" r="r" t="t"/>
            <a:pathLst>
              <a:path extrusionOk="0" h="304800" w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22D3EE"/>
              </a:gs>
              <a:gs pos="100000">
                <a:srgbClr val="10B981"/>
              </a:gs>
            </a:gsLst>
            <a:lin ang="27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1"/>
          <p:cNvSpPr/>
          <p:nvPr/>
        </p:nvSpPr>
        <p:spPr>
          <a:xfrm>
            <a:off x="6688782" y="3429000"/>
            <a:ext cx="1428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 b="0" i="0" sz="1600" u="none" cap="none" strike="noStrike"/>
          </a:p>
        </p:txBody>
      </p:sp>
      <p:sp>
        <p:nvSpPr>
          <p:cNvPr id="311" name="Google Shape;311;p11"/>
          <p:cNvSpPr/>
          <p:nvPr/>
        </p:nvSpPr>
        <p:spPr>
          <a:xfrm>
            <a:off x="6991350" y="3371850"/>
            <a:ext cx="37242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Основной игровой цикл</a:t>
            </a:r>
            <a:endParaRPr b="0" i="0" sz="1600" u="none" cap="none" strike="noStrike"/>
          </a:p>
        </p:txBody>
      </p:sp>
      <p:sp>
        <p:nvSpPr>
          <p:cNvPr id="312" name="Google Shape;312;p11"/>
          <p:cNvSpPr/>
          <p:nvPr/>
        </p:nvSpPr>
        <p:spPr>
          <a:xfrm>
            <a:off x="6991350" y="3600450"/>
            <a:ext cx="37242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Ситуация → выбор → результат → обратная связь</a:t>
            </a:r>
            <a:endParaRPr b="0" i="0" sz="1600" u="none" cap="none" strike="noStrike"/>
          </a:p>
        </p:txBody>
      </p:sp>
      <p:sp>
        <p:nvSpPr>
          <p:cNvPr id="313" name="Google Shape;313;p11"/>
          <p:cNvSpPr/>
          <p:nvPr/>
        </p:nvSpPr>
        <p:spPr>
          <a:xfrm>
            <a:off x="6453188" y="4071938"/>
            <a:ext cx="5114925" cy="695325"/>
          </a:xfrm>
          <a:custGeom>
            <a:rect b="b" l="l" r="r" t="t"/>
            <a:pathLst>
              <a:path extrusionOk="0" h="695325" w="5114925">
                <a:moveTo>
                  <a:pt x="114298" y="0"/>
                </a:moveTo>
                <a:lnTo>
                  <a:pt x="5000627" y="0"/>
                </a:lnTo>
                <a:cubicBezTo>
                  <a:pt x="5063752" y="0"/>
                  <a:pt x="5114925" y="51173"/>
                  <a:pt x="5114925" y="114298"/>
                </a:cubicBezTo>
                <a:lnTo>
                  <a:pt x="5114925" y="581027"/>
                </a:lnTo>
                <a:cubicBezTo>
                  <a:pt x="5114925" y="644152"/>
                  <a:pt x="5063752" y="695325"/>
                  <a:pt x="5000627" y="695325"/>
                </a:cubicBezTo>
                <a:lnTo>
                  <a:pt x="114298" y="695325"/>
                </a:lnTo>
                <a:cubicBezTo>
                  <a:pt x="51173" y="695325"/>
                  <a:pt x="0" y="644152"/>
                  <a:pt x="0" y="5810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0F172A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1"/>
          <p:cNvSpPr/>
          <p:nvPr/>
        </p:nvSpPr>
        <p:spPr>
          <a:xfrm>
            <a:off x="6572250" y="4191000"/>
            <a:ext cx="304800" cy="304800"/>
          </a:xfrm>
          <a:custGeom>
            <a:rect b="b" l="l" r="r" t="t"/>
            <a:pathLst>
              <a:path extrusionOk="0" h="304800" w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10B981"/>
              </a:gs>
              <a:gs pos="100000">
                <a:srgbClr val="F59E0B"/>
              </a:gs>
            </a:gsLst>
            <a:lin ang="27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1"/>
          <p:cNvSpPr/>
          <p:nvPr/>
        </p:nvSpPr>
        <p:spPr>
          <a:xfrm>
            <a:off x="6686996" y="4248150"/>
            <a:ext cx="1428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 b="0" i="0" sz="1600" u="none" cap="none" strike="noStrike"/>
          </a:p>
        </p:txBody>
      </p:sp>
      <p:sp>
        <p:nvSpPr>
          <p:cNvPr id="316" name="Google Shape;316;p11"/>
          <p:cNvSpPr/>
          <p:nvPr/>
        </p:nvSpPr>
        <p:spPr>
          <a:xfrm>
            <a:off x="6991350" y="4191000"/>
            <a:ext cx="21907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Система показателей</a:t>
            </a:r>
            <a:endParaRPr b="0" i="0" sz="1600" u="none" cap="none" strike="noStrike"/>
          </a:p>
        </p:txBody>
      </p:sp>
      <p:sp>
        <p:nvSpPr>
          <p:cNvPr id="317" name="Google Shape;317;p11"/>
          <p:cNvSpPr/>
          <p:nvPr/>
        </p:nvSpPr>
        <p:spPr>
          <a:xfrm>
            <a:off x="6991350" y="4419600"/>
            <a:ext cx="21907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Прогресс, стресс, инвесторы</a:t>
            </a:r>
            <a:endParaRPr b="0" i="0" sz="1600" u="none" cap="none" strike="noStrike"/>
          </a:p>
        </p:txBody>
      </p:sp>
      <p:sp>
        <p:nvSpPr>
          <p:cNvPr id="318" name="Google Shape;318;p11"/>
          <p:cNvSpPr/>
          <p:nvPr/>
        </p:nvSpPr>
        <p:spPr>
          <a:xfrm>
            <a:off x="6453188" y="4891088"/>
            <a:ext cx="5114925" cy="695325"/>
          </a:xfrm>
          <a:custGeom>
            <a:rect b="b" l="l" r="r" t="t"/>
            <a:pathLst>
              <a:path extrusionOk="0" h="695325" w="5114925">
                <a:moveTo>
                  <a:pt x="114298" y="0"/>
                </a:moveTo>
                <a:lnTo>
                  <a:pt x="5000627" y="0"/>
                </a:lnTo>
                <a:cubicBezTo>
                  <a:pt x="5063752" y="0"/>
                  <a:pt x="5114925" y="51173"/>
                  <a:pt x="5114925" y="114298"/>
                </a:cubicBezTo>
                <a:lnTo>
                  <a:pt x="5114925" y="581027"/>
                </a:lnTo>
                <a:cubicBezTo>
                  <a:pt x="5114925" y="644152"/>
                  <a:pt x="5063752" y="695325"/>
                  <a:pt x="5000627" y="695325"/>
                </a:cubicBezTo>
                <a:lnTo>
                  <a:pt x="114298" y="695325"/>
                </a:lnTo>
                <a:cubicBezTo>
                  <a:pt x="51173" y="695325"/>
                  <a:pt x="0" y="644152"/>
                  <a:pt x="0" y="5810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0F172A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1"/>
          <p:cNvSpPr/>
          <p:nvPr/>
        </p:nvSpPr>
        <p:spPr>
          <a:xfrm>
            <a:off x="6572250" y="5010150"/>
            <a:ext cx="304800" cy="304800"/>
          </a:xfrm>
          <a:custGeom>
            <a:rect b="b" l="l" r="r" t="t"/>
            <a:pathLst>
              <a:path extrusionOk="0" h="304800" w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F59E0B"/>
              </a:gs>
              <a:gs pos="100000">
                <a:srgbClr val="EF4444"/>
              </a:gs>
            </a:gsLst>
            <a:lin ang="27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1"/>
          <p:cNvSpPr/>
          <p:nvPr/>
        </p:nvSpPr>
        <p:spPr>
          <a:xfrm>
            <a:off x="6688782" y="5067300"/>
            <a:ext cx="1428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</a:t>
            </a:r>
            <a:endParaRPr b="0" i="0" sz="1600" u="none" cap="none" strike="noStrike"/>
          </a:p>
        </p:txBody>
      </p:sp>
      <p:sp>
        <p:nvSpPr>
          <p:cNvPr id="321" name="Google Shape;321;p11"/>
          <p:cNvSpPr/>
          <p:nvPr/>
        </p:nvSpPr>
        <p:spPr>
          <a:xfrm>
            <a:off x="6991350" y="5010150"/>
            <a:ext cx="20669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Квесты и сценарий</a:t>
            </a:r>
            <a:endParaRPr b="0" i="0" sz="1600" u="none" cap="none" strike="noStrike"/>
          </a:p>
        </p:txBody>
      </p:sp>
      <p:sp>
        <p:nvSpPr>
          <p:cNvPr id="322" name="Google Shape;322;p11"/>
          <p:cNvSpPr/>
          <p:nvPr/>
        </p:nvSpPr>
        <p:spPr>
          <a:xfrm>
            <a:off x="6991350" y="5238750"/>
            <a:ext cx="20669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Один полный игровой цикл</a:t>
            </a:r>
            <a:endParaRPr b="0" i="0" sz="1600" u="none" cap="none" strike="noStrike"/>
          </a:p>
        </p:txBody>
      </p:sp>
      <p:sp>
        <p:nvSpPr>
          <p:cNvPr id="323" name="Google Shape;323;p11"/>
          <p:cNvSpPr/>
          <p:nvPr/>
        </p:nvSpPr>
        <p:spPr>
          <a:xfrm>
            <a:off x="6453188" y="5710238"/>
            <a:ext cx="5114925" cy="695325"/>
          </a:xfrm>
          <a:custGeom>
            <a:rect b="b" l="l" r="r" t="t"/>
            <a:pathLst>
              <a:path extrusionOk="0" h="695325" w="5114925">
                <a:moveTo>
                  <a:pt x="114298" y="0"/>
                </a:moveTo>
                <a:lnTo>
                  <a:pt x="5000627" y="0"/>
                </a:lnTo>
                <a:cubicBezTo>
                  <a:pt x="5063752" y="0"/>
                  <a:pt x="5114925" y="51173"/>
                  <a:pt x="5114925" y="114298"/>
                </a:cubicBezTo>
                <a:lnTo>
                  <a:pt x="5114925" y="581027"/>
                </a:lnTo>
                <a:cubicBezTo>
                  <a:pt x="5114925" y="644152"/>
                  <a:pt x="5063752" y="695325"/>
                  <a:pt x="5000627" y="695325"/>
                </a:cubicBezTo>
                <a:lnTo>
                  <a:pt x="114298" y="695325"/>
                </a:lnTo>
                <a:cubicBezTo>
                  <a:pt x="51173" y="695325"/>
                  <a:pt x="0" y="644152"/>
                  <a:pt x="0" y="5810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0F172A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1"/>
          <p:cNvSpPr/>
          <p:nvPr/>
        </p:nvSpPr>
        <p:spPr>
          <a:xfrm>
            <a:off x="6572250" y="5829300"/>
            <a:ext cx="304800" cy="304800"/>
          </a:xfrm>
          <a:custGeom>
            <a:rect b="b" l="l" r="r" t="t"/>
            <a:pathLst>
              <a:path extrusionOk="0" h="304800" w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gradFill>
            <a:gsLst>
              <a:gs pos="0">
                <a:srgbClr val="EF4444"/>
              </a:gs>
              <a:gs pos="100000">
                <a:srgbClr val="8B5CF6"/>
              </a:gs>
            </a:gsLst>
            <a:lin ang="27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1"/>
          <p:cNvSpPr/>
          <p:nvPr/>
        </p:nvSpPr>
        <p:spPr>
          <a:xfrm>
            <a:off x="6686848" y="5886450"/>
            <a:ext cx="1428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</a:t>
            </a:r>
            <a:endParaRPr b="0" i="0" sz="1600" u="none" cap="none" strike="noStrike"/>
          </a:p>
        </p:txBody>
      </p:sp>
      <p:sp>
        <p:nvSpPr>
          <p:cNvPr id="326" name="Google Shape;326;p11"/>
          <p:cNvSpPr/>
          <p:nvPr/>
        </p:nvSpPr>
        <p:spPr>
          <a:xfrm>
            <a:off x="6991350" y="5829300"/>
            <a:ext cx="25241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Базовый интерфейс</a:t>
            </a:r>
            <a:endParaRPr b="0" i="0" sz="1600" u="none" cap="none" strike="noStrike"/>
          </a:p>
        </p:txBody>
      </p:sp>
      <p:sp>
        <p:nvSpPr>
          <p:cNvPr id="327" name="Google Shape;327;p11"/>
          <p:cNvSpPr/>
          <p:nvPr/>
        </p:nvSpPr>
        <p:spPr>
          <a:xfrm>
            <a:off x="6991350" y="6057900"/>
            <a:ext cx="25241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Интерактивные зоны и навигация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2"/>
          <p:cNvSpPr/>
          <p:nvPr/>
        </p:nvSpPr>
        <p:spPr>
          <a:xfrm>
            <a:off x="362857" y="362857"/>
            <a:ext cx="11538857" cy="217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43" u="none" cap="none" strike="noStrike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ОБРАЗОВАТЕЛЬНАЯ ЦЕННОСТЬ</a:t>
            </a:r>
            <a:endParaRPr b="0" i="0" sz="1600" u="none" cap="none" strike="noStrike"/>
          </a:p>
        </p:txBody>
      </p:sp>
      <p:sp>
        <p:nvSpPr>
          <p:cNvPr id="334" name="Google Shape;334;p12"/>
          <p:cNvSpPr/>
          <p:nvPr/>
        </p:nvSpPr>
        <p:spPr>
          <a:xfrm>
            <a:off x="362857" y="653143"/>
            <a:ext cx="11684000" cy="435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29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Метрики успеха и монетизация</a:t>
            </a:r>
            <a:endParaRPr b="0" i="0" sz="1600" u="none" cap="none" strike="noStrike"/>
          </a:p>
        </p:txBody>
      </p:sp>
      <p:sp>
        <p:nvSpPr>
          <p:cNvPr id="335" name="Google Shape;335;p12"/>
          <p:cNvSpPr/>
          <p:nvPr/>
        </p:nvSpPr>
        <p:spPr>
          <a:xfrm>
            <a:off x="362857" y="1233714"/>
            <a:ext cx="870857" cy="54429"/>
          </a:xfrm>
          <a:custGeom>
            <a:rect b="b" l="l" r="r" t="t"/>
            <a:pathLst>
              <a:path extrusionOk="0" h="54429" w="870857">
                <a:moveTo>
                  <a:pt x="0" y="0"/>
                </a:moveTo>
                <a:lnTo>
                  <a:pt x="870857" y="0"/>
                </a:lnTo>
                <a:lnTo>
                  <a:pt x="870857" y="54429"/>
                </a:lnTo>
                <a:lnTo>
                  <a:pt x="0" y="5442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3B82F6"/>
              </a:gs>
              <a:gs pos="100000">
                <a:srgbClr val="22D3EE"/>
              </a:gs>
            </a:gsLst>
            <a:lin ang="0" scaled="0"/>
          </a:gradFill>
          <a:ln>
            <a:noFill/>
          </a:ln>
        </p:spPr>
      </p:sp>
      <p:sp>
        <p:nvSpPr>
          <p:cNvPr id="336" name="Google Shape;336;p12"/>
          <p:cNvSpPr/>
          <p:nvPr/>
        </p:nvSpPr>
        <p:spPr>
          <a:xfrm>
            <a:off x="367400" y="1510400"/>
            <a:ext cx="3664857" cy="5169421"/>
          </a:xfrm>
          <a:custGeom>
            <a:rect b="b" l="l" r="r" t="t"/>
            <a:pathLst>
              <a:path extrusionOk="0" h="5343071" w="3664857">
                <a:moveTo>
                  <a:pt x="145128" y="0"/>
                </a:moveTo>
                <a:lnTo>
                  <a:pt x="3519729" y="0"/>
                </a:lnTo>
                <a:cubicBezTo>
                  <a:pt x="3599881" y="0"/>
                  <a:pt x="3664857" y="64976"/>
                  <a:pt x="3664857" y="145128"/>
                </a:cubicBezTo>
                <a:lnTo>
                  <a:pt x="3664857" y="5197943"/>
                </a:lnTo>
                <a:cubicBezTo>
                  <a:pt x="3664857" y="5278095"/>
                  <a:pt x="3599881" y="5343071"/>
                  <a:pt x="3519729" y="5343071"/>
                </a:cubicBezTo>
                <a:lnTo>
                  <a:pt x="145128" y="5343071"/>
                </a:lnTo>
                <a:cubicBezTo>
                  <a:pt x="64976" y="5343071"/>
                  <a:pt x="0" y="5278095"/>
                  <a:pt x="0" y="5197943"/>
                </a:cubicBezTo>
                <a:lnTo>
                  <a:pt x="0" y="145128"/>
                </a:lnTo>
                <a:cubicBezTo>
                  <a:pt x="0" y="65030"/>
                  <a:pt x="65030" y="0"/>
                  <a:pt x="145128" y="0"/>
                </a:cubicBezTo>
                <a:close/>
              </a:path>
            </a:pathLst>
          </a:custGeom>
          <a:gradFill>
            <a:gsLst>
              <a:gs pos="0">
                <a:srgbClr val="1E293B"/>
              </a:gs>
              <a:gs pos="100000">
                <a:srgbClr val="0F172A"/>
              </a:gs>
            </a:gsLst>
            <a:lin ang="2700000" scaled="0"/>
          </a:gra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2"/>
          <p:cNvSpPr/>
          <p:nvPr/>
        </p:nvSpPr>
        <p:spPr>
          <a:xfrm>
            <a:off x="553357" y="1696357"/>
            <a:ext cx="435429" cy="435429"/>
          </a:xfrm>
          <a:custGeom>
            <a:rect b="b" l="l" r="r" t="t"/>
            <a:pathLst>
              <a:path extrusionOk="0" h="435429" w="435429">
                <a:moveTo>
                  <a:pt x="108857" y="0"/>
                </a:moveTo>
                <a:lnTo>
                  <a:pt x="326571" y="0"/>
                </a:lnTo>
                <a:cubicBezTo>
                  <a:pt x="386692" y="0"/>
                  <a:pt x="435429" y="48737"/>
                  <a:pt x="435429" y="108857"/>
                </a:cubicBezTo>
                <a:lnTo>
                  <a:pt x="435429" y="326571"/>
                </a:lnTo>
                <a:cubicBezTo>
                  <a:pt x="435429" y="386692"/>
                  <a:pt x="386692" y="435429"/>
                  <a:pt x="326571" y="435429"/>
                </a:cubicBezTo>
                <a:lnTo>
                  <a:pt x="108857" y="435429"/>
                </a:lnTo>
                <a:cubicBezTo>
                  <a:pt x="48737" y="435429"/>
                  <a:pt x="0" y="386692"/>
                  <a:pt x="0" y="326571"/>
                </a:cubicBezTo>
                <a:lnTo>
                  <a:pt x="0" y="108857"/>
                </a:lnTo>
                <a:cubicBezTo>
                  <a:pt x="0" y="48777"/>
                  <a:pt x="48777" y="0"/>
                  <a:pt x="108857" y="0"/>
                </a:cubicBezTo>
                <a:close/>
              </a:path>
            </a:pathLst>
          </a:custGeom>
          <a:gradFill>
            <a:gsLst>
              <a:gs pos="0">
                <a:srgbClr val="3B82F6"/>
              </a:gs>
              <a:gs pos="100000">
                <a:srgbClr val="22D3EE"/>
              </a:gs>
            </a:gsLst>
            <a:lin ang="27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2"/>
          <p:cNvSpPr/>
          <p:nvPr/>
        </p:nvSpPr>
        <p:spPr>
          <a:xfrm>
            <a:off x="680357" y="1823357"/>
            <a:ext cx="181429" cy="181429"/>
          </a:xfrm>
          <a:custGeom>
            <a:rect b="b" l="l" r="r" t="t"/>
            <a:pathLst>
              <a:path extrusionOk="0" h="181429" w="181429">
                <a:moveTo>
                  <a:pt x="22679" y="22679"/>
                </a:moveTo>
                <a:cubicBezTo>
                  <a:pt x="22679" y="16407"/>
                  <a:pt x="17611" y="11339"/>
                  <a:pt x="11339" y="11339"/>
                </a:cubicBezTo>
                <a:cubicBezTo>
                  <a:pt x="5067" y="11339"/>
                  <a:pt x="0" y="16407"/>
                  <a:pt x="0" y="22679"/>
                </a:cubicBezTo>
                <a:lnTo>
                  <a:pt x="0" y="141741"/>
                </a:lnTo>
                <a:cubicBezTo>
                  <a:pt x="0" y="157403"/>
                  <a:pt x="12686" y="170089"/>
                  <a:pt x="28348" y="170089"/>
                </a:cubicBezTo>
                <a:lnTo>
                  <a:pt x="170089" y="170089"/>
                </a:lnTo>
                <a:cubicBezTo>
                  <a:pt x="176361" y="170089"/>
                  <a:pt x="181429" y="165022"/>
                  <a:pt x="181429" y="158750"/>
                </a:cubicBezTo>
                <a:cubicBezTo>
                  <a:pt x="181429" y="152478"/>
                  <a:pt x="176361" y="147411"/>
                  <a:pt x="170089" y="147411"/>
                </a:cubicBezTo>
                <a:lnTo>
                  <a:pt x="28348" y="147411"/>
                </a:lnTo>
                <a:cubicBezTo>
                  <a:pt x="25230" y="147411"/>
                  <a:pt x="22679" y="144859"/>
                  <a:pt x="22679" y="141741"/>
                </a:cubicBezTo>
                <a:lnTo>
                  <a:pt x="22679" y="22679"/>
                </a:lnTo>
                <a:close/>
                <a:moveTo>
                  <a:pt x="166758" y="53366"/>
                </a:moveTo>
                <a:cubicBezTo>
                  <a:pt x="171188" y="48936"/>
                  <a:pt x="171188" y="41743"/>
                  <a:pt x="166758" y="37313"/>
                </a:cubicBezTo>
                <a:cubicBezTo>
                  <a:pt x="162329" y="32884"/>
                  <a:pt x="155136" y="32884"/>
                  <a:pt x="150706" y="37313"/>
                </a:cubicBezTo>
                <a:lnTo>
                  <a:pt x="113393" y="74662"/>
                </a:lnTo>
                <a:lnTo>
                  <a:pt x="93053" y="54358"/>
                </a:lnTo>
                <a:cubicBezTo>
                  <a:pt x="88624" y="49928"/>
                  <a:pt x="81430" y="49928"/>
                  <a:pt x="77001" y="54358"/>
                </a:cubicBezTo>
                <a:lnTo>
                  <a:pt x="42983" y="88376"/>
                </a:lnTo>
                <a:cubicBezTo>
                  <a:pt x="38554" y="92805"/>
                  <a:pt x="38554" y="99998"/>
                  <a:pt x="42983" y="104428"/>
                </a:cubicBezTo>
                <a:cubicBezTo>
                  <a:pt x="47412" y="108857"/>
                  <a:pt x="54606" y="108857"/>
                  <a:pt x="59035" y="104428"/>
                </a:cubicBezTo>
                <a:lnTo>
                  <a:pt x="85045" y="78418"/>
                </a:lnTo>
                <a:lnTo>
                  <a:pt x="105384" y="98758"/>
                </a:lnTo>
                <a:cubicBezTo>
                  <a:pt x="109814" y="103188"/>
                  <a:pt x="117007" y="103188"/>
                  <a:pt x="121437" y="98758"/>
                </a:cubicBezTo>
                <a:lnTo>
                  <a:pt x="166794" y="5340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2"/>
          <p:cNvSpPr/>
          <p:nvPr/>
        </p:nvSpPr>
        <p:spPr>
          <a:xfrm>
            <a:off x="1097643" y="1787071"/>
            <a:ext cx="23495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9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Как измеряется результат</a:t>
            </a:r>
            <a:endParaRPr b="0" i="0" sz="1600" u="none" cap="none" strike="noStrike"/>
          </a:p>
        </p:txBody>
      </p:sp>
      <p:sp>
        <p:nvSpPr>
          <p:cNvPr id="340" name="Google Shape;340;p12"/>
          <p:cNvSpPr/>
          <p:nvPr/>
        </p:nvSpPr>
        <p:spPr>
          <a:xfrm>
            <a:off x="557893" y="2281464"/>
            <a:ext cx="3283857" cy="698500"/>
          </a:xfrm>
          <a:custGeom>
            <a:rect b="b" l="l" r="r" t="t"/>
            <a:pathLst>
              <a:path extrusionOk="0" h="698500" w="3283857">
                <a:moveTo>
                  <a:pt x="72574" y="0"/>
                </a:moveTo>
                <a:lnTo>
                  <a:pt x="3211283" y="0"/>
                </a:lnTo>
                <a:cubicBezTo>
                  <a:pt x="3251365" y="0"/>
                  <a:pt x="3283857" y="32493"/>
                  <a:pt x="3283857" y="72574"/>
                </a:cubicBezTo>
                <a:lnTo>
                  <a:pt x="3283857" y="625926"/>
                </a:lnTo>
                <a:cubicBezTo>
                  <a:pt x="3283857" y="666007"/>
                  <a:pt x="3251365" y="698500"/>
                  <a:pt x="3211283" y="698500"/>
                </a:cubicBezTo>
                <a:lnTo>
                  <a:pt x="72574" y="698500"/>
                </a:lnTo>
                <a:cubicBezTo>
                  <a:pt x="32519" y="698500"/>
                  <a:pt x="0" y="665981"/>
                  <a:pt x="0" y="625926"/>
                </a:cubicBezTo>
                <a:lnTo>
                  <a:pt x="0" y="72574"/>
                </a:lnTo>
                <a:cubicBezTo>
                  <a:pt x="0" y="32519"/>
                  <a:pt x="32519" y="0"/>
                  <a:pt x="72574" y="0"/>
                </a:cubicBezTo>
                <a:close/>
              </a:path>
            </a:pathLst>
          </a:custGeom>
          <a:solidFill>
            <a:srgbClr val="0F172A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2"/>
          <p:cNvSpPr/>
          <p:nvPr/>
        </p:nvSpPr>
        <p:spPr>
          <a:xfrm>
            <a:off x="689429" y="2431143"/>
            <a:ext cx="145143" cy="145143"/>
          </a:xfrm>
          <a:custGeom>
            <a:rect b="b" l="l" r="r" t="t"/>
            <a:pathLst>
              <a:path extrusionOk="0" h="145143" w="145143">
                <a:moveTo>
                  <a:pt x="34018" y="15875"/>
                </a:moveTo>
                <a:cubicBezTo>
                  <a:pt x="34018" y="7115"/>
                  <a:pt x="41133" y="0"/>
                  <a:pt x="49893" y="0"/>
                </a:cubicBezTo>
                <a:lnTo>
                  <a:pt x="56696" y="0"/>
                </a:lnTo>
                <a:cubicBezTo>
                  <a:pt x="61714" y="0"/>
                  <a:pt x="65768" y="4054"/>
                  <a:pt x="65768" y="9071"/>
                </a:cubicBezTo>
                <a:lnTo>
                  <a:pt x="65768" y="136071"/>
                </a:lnTo>
                <a:cubicBezTo>
                  <a:pt x="65768" y="141089"/>
                  <a:pt x="61714" y="145143"/>
                  <a:pt x="56696" y="145143"/>
                </a:cubicBezTo>
                <a:lnTo>
                  <a:pt x="47625" y="145143"/>
                </a:lnTo>
                <a:cubicBezTo>
                  <a:pt x="39177" y="145143"/>
                  <a:pt x="32062" y="139360"/>
                  <a:pt x="30049" y="131536"/>
                </a:cubicBezTo>
                <a:cubicBezTo>
                  <a:pt x="29851" y="131536"/>
                  <a:pt x="29681" y="131536"/>
                  <a:pt x="29482" y="131536"/>
                </a:cubicBezTo>
                <a:cubicBezTo>
                  <a:pt x="16952" y="131536"/>
                  <a:pt x="6804" y="121387"/>
                  <a:pt x="6804" y="108857"/>
                </a:cubicBezTo>
                <a:cubicBezTo>
                  <a:pt x="6804" y="103754"/>
                  <a:pt x="8504" y="99049"/>
                  <a:pt x="11339" y="95250"/>
                </a:cubicBezTo>
                <a:cubicBezTo>
                  <a:pt x="5840" y="91111"/>
                  <a:pt x="2268" y="84534"/>
                  <a:pt x="2268" y="77107"/>
                </a:cubicBezTo>
                <a:cubicBezTo>
                  <a:pt x="2268" y="68348"/>
                  <a:pt x="7257" y="60722"/>
                  <a:pt x="14514" y="56952"/>
                </a:cubicBezTo>
                <a:cubicBezTo>
                  <a:pt x="12502" y="53550"/>
                  <a:pt x="11339" y="49581"/>
                  <a:pt x="11339" y="45357"/>
                </a:cubicBezTo>
                <a:cubicBezTo>
                  <a:pt x="11339" y="32827"/>
                  <a:pt x="21488" y="22679"/>
                  <a:pt x="34018" y="22679"/>
                </a:cubicBezTo>
                <a:lnTo>
                  <a:pt x="34018" y="15875"/>
                </a:lnTo>
                <a:close/>
                <a:moveTo>
                  <a:pt x="111125" y="15875"/>
                </a:moveTo>
                <a:lnTo>
                  <a:pt x="111125" y="22679"/>
                </a:lnTo>
                <a:cubicBezTo>
                  <a:pt x="123655" y="22679"/>
                  <a:pt x="133804" y="32827"/>
                  <a:pt x="133804" y="45357"/>
                </a:cubicBezTo>
                <a:cubicBezTo>
                  <a:pt x="133804" y="49609"/>
                  <a:pt x="132641" y="53578"/>
                  <a:pt x="130629" y="56952"/>
                </a:cubicBezTo>
                <a:cubicBezTo>
                  <a:pt x="137914" y="60722"/>
                  <a:pt x="142875" y="68319"/>
                  <a:pt x="142875" y="77107"/>
                </a:cubicBezTo>
                <a:cubicBezTo>
                  <a:pt x="142875" y="84534"/>
                  <a:pt x="139303" y="91111"/>
                  <a:pt x="133804" y="95250"/>
                </a:cubicBezTo>
                <a:cubicBezTo>
                  <a:pt x="136638" y="99049"/>
                  <a:pt x="138339" y="103754"/>
                  <a:pt x="138339" y="108857"/>
                </a:cubicBezTo>
                <a:cubicBezTo>
                  <a:pt x="138339" y="121387"/>
                  <a:pt x="128191" y="131536"/>
                  <a:pt x="115661" y="131536"/>
                </a:cubicBezTo>
                <a:cubicBezTo>
                  <a:pt x="115462" y="131536"/>
                  <a:pt x="115292" y="131536"/>
                  <a:pt x="115094" y="131536"/>
                </a:cubicBezTo>
                <a:cubicBezTo>
                  <a:pt x="113081" y="139360"/>
                  <a:pt x="105966" y="145143"/>
                  <a:pt x="97518" y="145143"/>
                </a:cubicBezTo>
                <a:lnTo>
                  <a:pt x="88446" y="145143"/>
                </a:lnTo>
                <a:cubicBezTo>
                  <a:pt x="83429" y="145143"/>
                  <a:pt x="79375" y="141089"/>
                  <a:pt x="79375" y="136071"/>
                </a:cubicBezTo>
                <a:lnTo>
                  <a:pt x="79375" y="9071"/>
                </a:lnTo>
                <a:cubicBezTo>
                  <a:pt x="79375" y="4054"/>
                  <a:pt x="83429" y="0"/>
                  <a:pt x="88446" y="0"/>
                </a:cubicBezTo>
                <a:lnTo>
                  <a:pt x="95250" y="0"/>
                </a:lnTo>
                <a:cubicBezTo>
                  <a:pt x="104010" y="0"/>
                  <a:pt x="111125" y="7115"/>
                  <a:pt x="111125" y="15875"/>
                </a:cubicBezTo>
                <a:close/>
              </a:path>
            </a:pathLst>
          </a:cu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2"/>
          <p:cNvSpPr/>
          <p:nvPr/>
        </p:nvSpPr>
        <p:spPr>
          <a:xfrm>
            <a:off x="925286" y="2394857"/>
            <a:ext cx="1369786" cy="217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43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Качество решений</a:t>
            </a:r>
            <a:endParaRPr b="0" i="0" sz="1600" u="none" cap="none" strike="noStrike"/>
          </a:p>
        </p:txBody>
      </p:sp>
      <p:sp>
        <p:nvSpPr>
          <p:cNvPr id="343" name="Google Shape;343;p12"/>
          <p:cNvSpPr/>
          <p:nvPr/>
        </p:nvSpPr>
        <p:spPr>
          <a:xfrm>
            <a:off x="671286" y="2648857"/>
            <a:ext cx="3129643" cy="217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43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Анализ выборов игрока</a:t>
            </a:r>
            <a:endParaRPr b="0" i="0" sz="1600" u="none" cap="none" strike="noStrike"/>
          </a:p>
        </p:txBody>
      </p:sp>
      <p:sp>
        <p:nvSpPr>
          <p:cNvPr id="344" name="Google Shape;344;p12"/>
          <p:cNvSpPr/>
          <p:nvPr/>
        </p:nvSpPr>
        <p:spPr>
          <a:xfrm>
            <a:off x="557893" y="3097893"/>
            <a:ext cx="3283857" cy="698500"/>
          </a:xfrm>
          <a:custGeom>
            <a:rect b="b" l="l" r="r" t="t"/>
            <a:pathLst>
              <a:path extrusionOk="0" h="698500" w="3283857">
                <a:moveTo>
                  <a:pt x="72574" y="0"/>
                </a:moveTo>
                <a:lnTo>
                  <a:pt x="3211283" y="0"/>
                </a:lnTo>
                <a:cubicBezTo>
                  <a:pt x="3251365" y="0"/>
                  <a:pt x="3283857" y="32493"/>
                  <a:pt x="3283857" y="72574"/>
                </a:cubicBezTo>
                <a:lnTo>
                  <a:pt x="3283857" y="625926"/>
                </a:lnTo>
                <a:cubicBezTo>
                  <a:pt x="3283857" y="666007"/>
                  <a:pt x="3251365" y="698500"/>
                  <a:pt x="3211283" y="698500"/>
                </a:cubicBezTo>
                <a:lnTo>
                  <a:pt x="72574" y="698500"/>
                </a:lnTo>
                <a:cubicBezTo>
                  <a:pt x="32519" y="698500"/>
                  <a:pt x="0" y="665981"/>
                  <a:pt x="0" y="625926"/>
                </a:cubicBezTo>
                <a:lnTo>
                  <a:pt x="0" y="72574"/>
                </a:lnTo>
                <a:cubicBezTo>
                  <a:pt x="0" y="32519"/>
                  <a:pt x="32519" y="0"/>
                  <a:pt x="72574" y="0"/>
                </a:cubicBezTo>
                <a:close/>
              </a:path>
            </a:pathLst>
          </a:custGeom>
          <a:solidFill>
            <a:srgbClr val="0F172A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2"/>
          <p:cNvSpPr/>
          <p:nvPr/>
        </p:nvSpPr>
        <p:spPr>
          <a:xfrm>
            <a:off x="689429" y="3247571"/>
            <a:ext cx="145143" cy="145143"/>
          </a:xfrm>
          <a:custGeom>
            <a:rect b="b" l="l" r="r" t="t"/>
            <a:pathLst>
              <a:path extrusionOk="0" h="145143" w="145143">
                <a:moveTo>
                  <a:pt x="9071" y="9071"/>
                </a:moveTo>
                <a:cubicBezTo>
                  <a:pt x="14089" y="9071"/>
                  <a:pt x="18143" y="13125"/>
                  <a:pt x="18143" y="18143"/>
                </a:cubicBezTo>
                <a:lnTo>
                  <a:pt x="18143" y="113393"/>
                </a:lnTo>
                <a:cubicBezTo>
                  <a:pt x="18143" y="115888"/>
                  <a:pt x="20184" y="117929"/>
                  <a:pt x="22679" y="117929"/>
                </a:cubicBezTo>
                <a:lnTo>
                  <a:pt x="136071" y="117929"/>
                </a:lnTo>
                <a:cubicBezTo>
                  <a:pt x="141089" y="117929"/>
                  <a:pt x="145143" y="121982"/>
                  <a:pt x="145143" y="127000"/>
                </a:cubicBezTo>
                <a:cubicBezTo>
                  <a:pt x="145143" y="132018"/>
                  <a:pt x="141089" y="136071"/>
                  <a:pt x="136071" y="136071"/>
                </a:cubicBezTo>
                <a:lnTo>
                  <a:pt x="22679" y="136071"/>
                </a:lnTo>
                <a:cubicBezTo>
                  <a:pt x="10149" y="136071"/>
                  <a:pt x="0" y="125923"/>
                  <a:pt x="0" y="113393"/>
                </a:cubicBezTo>
                <a:lnTo>
                  <a:pt x="0" y="18143"/>
                </a:lnTo>
                <a:cubicBezTo>
                  <a:pt x="0" y="13125"/>
                  <a:pt x="4054" y="9071"/>
                  <a:pt x="9071" y="9071"/>
                </a:cubicBezTo>
                <a:close/>
                <a:moveTo>
                  <a:pt x="36286" y="27214"/>
                </a:moveTo>
                <a:cubicBezTo>
                  <a:pt x="36286" y="22197"/>
                  <a:pt x="40340" y="18143"/>
                  <a:pt x="45357" y="18143"/>
                </a:cubicBezTo>
                <a:lnTo>
                  <a:pt x="99786" y="18143"/>
                </a:lnTo>
                <a:cubicBezTo>
                  <a:pt x="104803" y="18143"/>
                  <a:pt x="108857" y="22197"/>
                  <a:pt x="108857" y="27214"/>
                </a:cubicBezTo>
                <a:cubicBezTo>
                  <a:pt x="108857" y="32232"/>
                  <a:pt x="104803" y="36286"/>
                  <a:pt x="99786" y="36286"/>
                </a:cubicBezTo>
                <a:lnTo>
                  <a:pt x="45357" y="36286"/>
                </a:lnTo>
                <a:cubicBezTo>
                  <a:pt x="40340" y="36286"/>
                  <a:pt x="36286" y="32232"/>
                  <a:pt x="36286" y="27214"/>
                </a:cubicBezTo>
                <a:close/>
                <a:moveTo>
                  <a:pt x="45357" y="49893"/>
                </a:moveTo>
                <a:lnTo>
                  <a:pt x="81643" y="49893"/>
                </a:lnTo>
                <a:cubicBezTo>
                  <a:pt x="86660" y="49893"/>
                  <a:pt x="90714" y="53947"/>
                  <a:pt x="90714" y="58964"/>
                </a:cubicBezTo>
                <a:cubicBezTo>
                  <a:pt x="90714" y="63982"/>
                  <a:pt x="86660" y="68036"/>
                  <a:pt x="81643" y="68036"/>
                </a:cubicBezTo>
                <a:lnTo>
                  <a:pt x="45357" y="68036"/>
                </a:lnTo>
                <a:cubicBezTo>
                  <a:pt x="40340" y="68036"/>
                  <a:pt x="36286" y="63982"/>
                  <a:pt x="36286" y="58964"/>
                </a:cubicBezTo>
                <a:cubicBezTo>
                  <a:pt x="36286" y="53947"/>
                  <a:pt x="40340" y="49893"/>
                  <a:pt x="45357" y="49893"/>
                </a:cubicBezTo>
                <a:close/>
                <a:moveTo>
                  <a:pt x="45357" y="81643"/>
                </a:moveTo>
                <a:lnTo>
                  <a:pt x="117929" y="81643"/>
                </a:lnTo>
                <a:cubicBezTo>
                  <a:pt x="122946" y="81643"/>
                  <a:pt x="127000" y="85697"/>
                  <a:pt x="127000" y="90714"/>
                </a:cubicBezTo>
                <a:cubicBezTo>
                  <a:pt x="127000" y="95732"/>
                  <a:pt x="122946" y="99786"/>
                  <a:pt x="117929" y="99786"/>
                </a:cubicBezTo>
                <a:lnTo>
                  <a:pt x="45357" y="99786"/>
                </a:lnTo>
                <a:cubicBezTo>
                  <a:pt x="40340" y="99786"/>
                  <a:pt x="36286" y="95732"/>
                  <a:pt x="36286" y="90714"/>
                </a:cubicBezTo>
                <a:cubicBezTo>
                  <a:pt x="36286" y="85697"/>
                  <a:pt x="40340" y="81643"/>
                  <a:pt x="45357" y="81643"/>
                </a:cubicBezTo>
                <a:close/>
              </a:path>
            </a:pathLst>
          </a:cu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2"/>
          <p:cNvSpPr/>
          <p:nvPr/>
        </p:nvSpPr>
        <p:spPr>
          <a:xfrm>
            <a:off x="925286" y="3211286"/>
            <a:ext cx="1759857" cy="217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43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Изменение показателей</a:t>
            </a:r>
            <a:endParaRPr b="0" i="0" sz="1600" u="none" cap="none" strike="noStrike"/>
          </a:p>
        </p:txBody>
      </p:sp>
      <p:sp>
        <p:nvSpPr>
          <p:cNvPr id="347" name="Google Shape;347;p12"/>
          <p:cNvSpPr/>
          <p:nvPr/>
        </p:nvSpPr>
        <p:spPr>
          <a:xfrm>
            <a:off x="671286" y="3465286"/>
            <a:ext cx="3129643" cy="217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43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Прогресс, стресс, удовлетворенность</a:t>
            </a:r>
            <a:endParaRPr b="0" i="0" sz="1600" u="none" cap="none" strike="noStrike"/>
          </a:p>
        </p:txBody>
      </p:sp>
      <p:sp>
        <p:nvSpPr>
          <p:cNvPr id="348" name="Google Shape;348;p12"/>
          <p:cNvSpPr/>
          <p:nvPr/>
        </p:nvSpPr>
        <p:spPr>
          <a:xfrm>
            <a:off x="557893" y="3914321"/>
            <a:ext cx="3283857" cy="698500"/>
          </a:xfrm>
          <a:custGeom>
            <a:rect b="b" l="l" r="r" t="t"/>
            <a:pathLst>
              <a:path extrusionOk="0" h="698500" w="3283857">
                <a:moveTo>
                  <a:pt x="72574" y="0"/>
                </a:moveTo>
                <a:lnTo>
                  <a:pt x="3211283" y="0"/>
                </a:lnTo>
                <a:cubicBezTo>
                  <a:pt x="3251365" y="0"/>
                  <a:pt x="3283857" y="32493"/>
                  <a:pt x="3283857" y="72574"/>
                </a:cubicBezTo>
                <a:lnTo>
                  <a:pt x="3283857" y="625926"/>
                </a:lnTo>
                <a:cubicBezTo>
                  <a:pt x="3283857" y="666007"/>
                  <a:pt x="3251365" y="698500"/>
                  <a:pt x="3211283" y="698500"/>
                </a:cubicBezTo>
                <a:lnTo>
                  <a:pt x="72574" y="698500"/>
                </a:lnTo>
                <a:cubicBezTo>
                  <a:pt x="32519" y="698500"/>
                  <a:pt x="0" y="665981"/>
                  <a:pt x="0" y="625926"/>
                </a:cubicBezTo>
                <a:lnTo>
                  <a:pt x="0" y="72574"/>
                </a:lnTo>
                <a:cubicBezTo>
                  <a:pt x="0" y="32519"/>
                  <a:pt x="32519" y="0"/>
                  <a:pt x="72574" y="0"/>
                </a:cubicBezTo>
                <a:close/>
              </a:path>
            </a:pathLst>
          </a:custGeom>
          <a:solidFill>
            <a:srgbClr val="0F172A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2"/>
          <p:cNvSpPr/>
          <p:nvPr/>
        </p:nvSpPr>
        <p:spPr>
          <a:xfrm>
            <a:off x="689429" y="4064000"/>
            <a:ext cx="145143" cy="145143"/>
          </a:xfrm>
          <a:custGeom>
            <a:rect b="b" l="l" r="r" t="t"/>
            <a:pathLst>
              <a:path extrusionOk="0" h="145143" w="145143">
                <a:moveTo>
                  <a:pt x="40906" y="0"/>
                </a:moveTo>
                <a:lnTo>
                  <a:pt x="104406" y="0"/>
                </a:lnTo>
                <a:cubicBezTo>
                  <a:pt x="111919" y="0"/>
                  <a:pt x="118042" y="6180"/>
                  <a:pt x="117758" y="13664"/>
                </a:cubicBezTo>
                <a:cubicBezTo>
                  <a:pt x="117702" y="15166"/>
                  <a:pt x="117645" y="16669"/>
                  <a:pt x="117560" y="18143"/>
                </a:cubicBezTo>
                <a:lnTo>
                  <a:pt x="131621" y="18143"/>
                </a:lnTo>
                <a:cubicBezTo>
                  <a:pt x="139020" y="18143"/>
                  <a:pt x="145540" y="24266"/>
                  <a:pt x="144973" y="32260"/>
                </a:cubicBezTo>
                <a:cubicBezTo>
                  <a:pt x="142847" y="61657"/>
                  <a:pt x="127822" y="77816"/>
                  <a:pt x="111522" y="86264"/>
                </a:cubicBezTo>
                <a:cubicBezTo>
                  <a:pt x="107043" y="88588"/>
                  <a:pt x="102479" y="90317"/>
                  <a:pt x="98142" y="91593"/>
                </a:cubicBezTo>
                <a:cubicBezTo>
                  <a:pt x="92415" y="99701"/>
                  <a:pt x="86462" y="103981"/>
                  <a:pt x="81728" y="106277"/>
                </a:cubicBezTo>
                <a:lnTo>
                  <a:pt x="81728" y="127000"/>
                </a:lnTo>
                <a:lnTo>
                  <a:pt x="99871" y="127000"/>
                </a:lnTo>
                <a:cubicBezTo>
                  <a:pt x="104888" y="127000"/>
                  <a:pt x="108942" y="131054"/>
                  <a:pt x="108942" y="136071"/>
                </a:cubicBezTo>
                <a:cubicBezTo>
                  <a:pt x="108942" y="141089"/>
                  <a:pt x="104888" y="145143"/>
                  <a:pt x="99871" y="145143"/>
                </a:cubicBezTo>
                <a:lnTo>
                  <a:pt x="45442" y="145143"/>
                </a:lnTo>
                <a:cubicBezTo>
                  <a:pt x="40425" y="145143"/>
                  <a:pt x="36371" y="141089"/>
                  <a:pt x="36371" y="136071"/>
                </a:cubicBezTo>
                <a:cubicBezTo>
                  <a:pt x="36371" y="131054"/>
                  <a:pt x="40425" y="127000"/>
                  <a:pt x="45442" y="127000"/>
                </a:cubicBezTo>
                <a:lnTo>
                  <a:pt x="63585" y="127000"/>
                </a:lnTo>
                <a:lnTo>
                  <a:pt x="63585" y="106277"/>
                </a:lnTo>
                <a:cubicBezTo>
                  <a:pt x="59049" y="104095"/>
                  <a:pt x="53408" y="100041"/>
                  <a:pt x="47908" y="92585"/>
                </a:cubicBezTo>
                <a:cubicBezTo>
                  <a:pt x="42692" y="91225"/>
                  <a:pt x="37023" y="89155"/>
                  <a:pt x="31495" y="86037"/>
                </a:cubicBezTo>
                <a:cubicBezTo>
                  <a:pt x="16158" y="77447"/>
                  <a:pt x="2325" y="61260"/>
                  <a:pt x="340" y="32204"/>
                </a:cubicBezTo>
                <a:cubicBezTo>
                  <a:pt x="-198" y="24238"/>
                  <a:pt x="6293" y="18115"/>
                  <a:pt x="13692" y="18115"/>
                </a:cubicBezTo>
                <a:lnTo>
                  <a:pt x="27753" y="18115"/>
                </a:lnTo>
                <a:cubicBezTo>
                  <a:pt x="27668" y="16640"/>
                  <a:pt x="27611" y="15166"/>
                  <a:pt x="27554" y="13635"/>
                </a:cubicBezTo>
                <a:cubicBezTo>
                  <a:pt x="27271" y="6123"/>
                  <a:pt x="33394" y="-28"/>
                  <a:pt x="40906" y="-28"/>
                </a:cubicBezTo>
                <a:close/>
                <a:moveTo>
                  <a:pt x="28773" y="31750"/>
                </a:moveTo>
                <a:lnTo>
                  <a:pt x="13919" y="31750"/>
                </a:lnTo>
                <a:cubicBezTo>
                  <a:pt x="15677" y="55761"/>
                  <a:pt x="26704" y="67781"/>
                  <a:pt x="38072" y="74159"/>
                </a:cubicBezTo>
                <a:cubicBezTo>
                  <a:pt x="33990" y="63585"/>
                  <a:pt x="30616" y="49779"/>
                  <a:pt x="28773" y="31750"/>
                </a:cubicBezTo>
                <a:close/>
                <a:moveTo>
                  <a:pt x="107723" y="72798"/>
                </a:moveTo>
                <a:cubicBezTo>
                  <a:pt x="119204" y="66051"/>
                  <a:pt x="129580" y="54060"/>
                  <a:pt x="131337" y="31750"/>
                </a:cubicBezTo>
                <a:lnTo>
                  <a:pt x="116511" y="31750"/>
                </a:lnTo>
                <a:cubicBezTo>
                  <a:pt x="114754" y="49014"/>
                  <a:pt x="111579" y="62423"/>
                  <a:pt x="107723" y="72798"/>
                </a:cubicBezTo>
                <a:close/>
              </a:path>
            </a:pathLst>
          </a:cu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2"/>
          <p:cNvSpPr/>
          <p:nvPr/>
        </p:nvSpPr>
        <p:spPr>
          <a:xfrm>
            <a:off x="925286" y="4027714"/>
            <a:ext cx="1378857" cy="217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43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Итог прохождения</a:t>
            </a:r>
            <a:endParaRPr b="0" i="0" sz="1600" u="none" cap="none" strike="noStrike"/>
          </a:p>
        </p:txBody>
      </p:sp>
      <p:sp>
        <p:nvSpPr>
          <p:cNvPr id="351" name="Google Shape;351;p12"/>
          <p:cNvSpPr/>
          <p:nvPr/>
        </p:nvSpPr>
        <p:spPr>
          <a:xfrm>
            <a:off x="671286" y="4281714"/>
            <a:ext cx="3129643" cy="217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43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Успех или провал с разбором</a:t>
            </a:r>
            <a:endParaRPr b="0" i="0" sz="1600" u="none" cap="none" strike="noStrike"/>
          </a:p>
        </p:txBody>
      </p:sp>
      <p:sp>
        <p:nvSpPr>
          <p:cNvPr id="352" name="Google Shape;352;p12"/>
          <p:cNvSpPr/>
          <p:nvPr/>
        </p:nvSpPr>
        <p:spPr>
          <a:xfrm>
            <a:off x="557893" y="4730750"/>
            <a:ext cx="3283857" cy="698500"/>
          </a:xfrm>
          <a:custGeom>
            <a:rect b="b" l="l" r="r" t="t"/>
            <a:pathLst>
              <a:path extrusionOk="0" h="698500" w="3283857">
                <a:moveTo>
                  <a:pt x="72574" y="0"/>
                </a:moveTo>
                <a:lnTo>
                  <a:pt x="3211283" y="0"/>
                </a:lnTo>
                <a:cubicBezTo>
                  <a:pt x="3251365" y="0"/>
                  <a:pt x="3283857" y="32493"/>
                  <a:pt x="3283857" y="72574"/>
                </a:cubicBezTo>
                <a:lnTo>
                  <a:pt x="3283857" y="625926"/>
                </a:lnTo>
                <a:cubicBezTo>
                  <a:pt x="3283857" y="666007"/>
                  <a:pt x="3251365" y="698500"/>
                  <a:pt x="3211283" y="698500"/>
                </a:cubicBezTo>
                <a:lnTo>
                  <a:pt x="72574" y="698500"/>
                </a:lnTo>
                <a:cubicBezTo>
                  <a:pt x="32519" y="698500"/>
                  <a:pt x="0" y="665981"/>
                  <a:pt x="0" y="625926"/>
                </a:cubicBezTo>
                <a:lnTo>
                  <a:pt x="0" y="72574"/>
                </a:lnTo>
                <a:cubicBezTo>
                  <a:pt x="0" y="32519"/>
                  <a:pt x="32519" y="0"/>
                  <a:pt x="72574" y="0"/>
                </a:cubicBezTo>
                <a:close/>
              </a:path>
            </a:pathLst>
          </a:custGeom>
          <a:solidFill>
            <a:srgbClr val="0F172A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2"/>
          <p:cNvSpPr/>
          <p:nvPr/>
        </p:nvSpPr>
        <p:spPr>
          <a:xfrm>
            <a:off x="689429" y="4880429"/>
            <a:ext cx="145143" cy="145143"/>
          </a:xfrm>
          <a:custGeom>
            <a:rect b="b" l="l" r="r" t="t"/>
            <a:pathLst>
              <a:path extrusionOk="0" h="145143" w="145143">
                <a:moveTo>
                  <a:pt x="123797" y="21176"/>
                </a:moveTo>
                <a:lnTo>
                  <a:pt x="127000" y="24209"/>
                </a:lnTo>
                <a:lnTo>
                  <a:pt x="127000" y="9071"/>
                </a:lnTo>
                <a:cubicBezTo>
                  <a:pt x="127000" y="4054"/>
                  <a:pt x="131054" y="0"/>
                  <a:pt x="136071" y="0"/>
                </a:cubicBezTo>
                <a:cubicBezTo>
                  <a:pt x="141089" y="0"/>
                  <a:pt x="145143" y="4054"/>
                  <a:pt x="145143" y="9071"/>
                </a:cubicBezTo>
                <a:lnTo>
                  <a:pt x="145143" y="45357"/>
                </a:lnTo>
                <a:cubicBezTo>
                  <a:pt x="145143" y="50375"/>
                  <a:pt x="141089" y="54429"/>
                  <a:pt x="136071" y="54429"/>
                </a:cubicBezTo>
                <a:lnTo>
                  <a:pt x="99786" y="54429"/>
                </a:lnTo>
                <a:cubicBezTo>
                  <a:pt x="94768" y="54429"/>
                  <a:pt x="90714" y="50375"/>
                  <a:pt x="90714" y="45357"/>
                </a:cubicBezTo>
                <a:cubicBezTo>
                  <a:pt x="90714" y="40340"/>
                  <a:pt x="94768" y="36286"/>
                  <a:pt x="99786" y="36286"/>
                </a:cubicBezTo>
                <a:lnTo>
                  <a:pt x="113365" y="36286"/>
                </a:lnTo>
                <a:lnTo>
                  <a:pt x="111210" y="34245"/>
                </a:lnTo>
                <a:cubicBezTo>
                  <a:pt x="111153" y="34188"/>
                  <a:pt x="111097" y="34131"/>
                  <a:pt x="111040" y="34075"/>
                </a:cubicBezTo>
                <a:cubicBezTo>
                  <a:pt x="89779" y="12813"/>
                  <a:pt x="55336" y="12813"/>
                  <a:pt x="34075" y="34075"/>
                </a:cubicBezTo>
                <a:cubicBezTo>
                  <a:pt x="12813" y="55336"/>
                  <a:pt x="12813" y="89779"/>
                  <a:pt x="34075" y="111040"/>
                </a:cubicBezTo>
                <a:cubicBezTo>
                  <a:pt x="55336" y="132301"/>
                  <a:pt x="89779" y="132301"/>
                  <a:pt x="111040" y="111040"/>
                </a:cubicBezTo>
                <a:cubicBezTo>
                  <a:pt x="113365" y="108715"/>
                  <a:pt x="115434" y="106249"/>
                  <a:pt x="117248" y="103641"/>
                </a:cubicBezTo>
                <a:cubicBezTo>
                  <a:pt x="120111" y="99531"/>
                  <a:pt x="125781" y="98538"/>
                  <a:pt x="129892" y="101402"/>
                </a:cubicBezTo>
                <a:cubicBezTo>
                  <a:pt x="134002" y="104265"/>
                  <a:pt x="134994" y="109934"/>
                  <a:pt x="132131" y="114045"/>
                </a:cubicBezTo>
                <a:cubicBezTo>
                  <a:pt x="129721" y="117503"/>
                  <a:pt x="126972" y="120792"/>
                  <a:pt x="123882" y="123882"/>
                </a:cubicBezTo>
                <a:cubicBezTo>
                  <a:pt x="95533" y="152230"/>
                  <a:pt x="49581" y="152230"/>
                  <a:pt x="21261" y="123882"/>
                </a:cubicBezTo>
                <a:cubicBezTo>
                  <a:pt x="-7059" y="95533"/>
                  <a:pt x="-7087" y="49609"/>
                  <a:pt x="21261" y="21261"/>
                </a:cubicBezTo>
                <a:cubicBezTo>
                  <a:pt x="49581" y="-7059"/>
                  <a:pt x="95448" y="-7087"/>
                  <a:pt x="123797" y="21176"/>
                </a:cubicBezTo>
                <a:close/>
              </a:path>
            </a:pathLst>
          </a:custGeom>
          <a:solidFill>
            <a:srgbClr val="22D3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2"/>
          <p:cNvSpPr/>
          <p:nvPr/>
        </p:nvSpPr>
        <p:spPr>
          <a:xfrm>
            <a:off x="925286" y="4844143"/>
            <a:ext cx="1750786" cy="217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43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Улучшение результатов</a:t>
            </a:r>
            <a:endParaRPr b="0" i="0" sz="1600" u="none" cap="none" strike="noStrike"/>
          </a:p>
        </p:txBody>
      </p:sp>
      <p:sp>
        <p:nvSpPr>
          <p:cNvPr id="355" name="Google Shape;355;p12"/>
          <p:cNvSpPr/>
          <p:nvPr/>
        </p:nvSpPr>
        <p:spPr>
          <a:xfrm>
            <a:off x="671286" y="5098143"/>
            <a:ext cx="3129643" cy="217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43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Прогресс при повторных попытках</a:t>
            </a:r>
            <a:endParaRPr b="0" i="0" sz="1600" u="none" cap="none" strike="noStrike"/>
          </a:p>
        </p:txBody>
      </p:sp>
      <p:sp>
        <p:nvSpPr>
          <p:cNvPr id="356" name="Google Shape;356;p12"/>
          <p:cNvSpPr/>
          <p:nvPr/>
        </p:nvSpPr>
        <p:spPr>
          <a:xfrm>
            <a:off x="4262000" y="1510400"/>
            <a:ext cx="3664857" cy="5169421"/>
          </a:xfrm>
          <a:custGeom>
            <a:rect b="b" l="l" r="r" t="t"/>
            <a:pathLst>
              <a:path extrusionOk="0" h="5343071" w="3664857">
                <a:moveTo>
                  <a:pt x="145128" y="0"/>
                </a:moveTo>
                <a:lnTo>
                  <a:pt x="3519729" y="0"/>
                </a:lnTo>
                <a:cubicBezTo>
                  <a:pt x="3599881" y="0"/>
                  <a:pt x="3664857" y="64976"/>
                  <a:pt x="3664857" y="145128"/>
                </a:cubicBezTo>
                <a:lnTo>
                  <a:pt x="3664857" y="5197943"/>
                </a:lnTo>
                <a:cubicBezTo>
                  <a:pt x="3664857" y="5278095"/>
                  <a:pt x="3599881" y="5343071"/>
                  <a:pt x="3519729" y="5343071"/>
                </a:cubicBezTo>
                <a:lnTo>
                  <a:pt x="145128" y="5343071"/>
                </a:lnTo>
                <a:cubicBezTo>
                  <a:pt x="64976" y="5343071"/>
                  <a:pt x="0" y="5278095"/>
                  <a:pt x="0" y="5197943"/>
                </a:cubicBezTo>
                <a:lnTo>
                  <a:pt x="0" y="145128"/>
                </a:lnTo>
                <a:cubicBezTo>
                  <a:pt x="0" y="65030"/>
                  <a:pt x="65030" y="0"/>
                  <a:pt x="145128" y="0"/>
                </a:cubicBezTo>
                <a:close/>
              </a:path>
            </a:pathLst>
          </a:custGeom>
          <a:gradFill>
            <a:gsLst>
              <a:gs pos="0">
                <a:srgbClr val="1E293B"/>
              </a:gs>
              <a:gs pos="100000">
                <a:srgbClr val="0F172A"/>
              </a:gs>
            </a:gsLst>
            <a:lin ang="2700000" scaled="0"/>
          </a:gra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2"/>
          <p:cNvSpPr/>
          <p:nvPr/>
        </p:nvSpPr>
        <p:spPr>
          <a:xfrm>
            <a:off x="4447977" y="1732643"/>
            <a:ext cx="435429" cy="435429"/>
          </a:xfrm>
          <a:custGeom>
            <a:rect b="b" l="l" r="r" t="t"/>
            <a:pathLst>
              <a:path extrusionOk="0" h="435429" w="435429">
                <a:moveTo>
                  <a:pt x="108857" y="0"/>
                </a:moveTo>
                <a:lnTo>
                  <a:pt x="326571" y="0"/>
                </a:lnTo>
                <a:cubicBezTo>
                  <a:pt x="386692" y="0"/>
                  <a:pt x="435429" y="48737"/>
                  <a:pt x="435429" y="108857"/>
                </a:cubicBezTo>
                <a:lnTo>
                  <a:pt x="435429" y="326571"/>
                </a:lnTo>
                <a:cubicBezTo>
                  <a:pt x="435429" y="386692"/>
                  <a:pt x="386692" y="435429"/>
                  <a:pt x="326571" y="435429"/>
                </a:cubicBezTo>
                <a:lnTo>
                  <a:pt x="108857" y="435429"/>
                </a:lnTo>
                <a:cubicBezTo>
                  <a:pt x="48737" y="435429"/>
                  <a:pt x="0" y="386692"/>
                  <a:pt x="0" y="326571"/>
                </a:cubicBezTo>
                <a:lnTo>
                  <a:pt x="0" y="108857"/>
                </a:lnTo>
                <a:cubicBezTo>
                  <a:pt x="0" y="48777"/>
                  <a:pt x="48777" y="0"/>
                  <a:pt x="108857" y="0"/>
                </a:cubicBezTo>
                <a:close/>
              </a:path>
            </a:pathLst>
          </a:custGeom>
          <a:gradFill>
            <a:gsLst>
              <a:gs pos="0">
                <a:srgbClr val="10B981"/>
              </a:gs>
              <a:gs pos="100000">
                <a:srgbClr val="22D3EE"/>
              </a:gs>
            </a:gsLst>
            <a:lin ang="27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2"/>
          <p:cNvSpPr/>
          <p:nvPr/>
        </p:nvSpPr>
        <p:spPr>
          <a:xfrm>
            <a:off x="4562078" y="1859643"/>
            <a:ext cx="204107" cy="181429"/>
          </a:xfrm>
          <a:custGeom>
            <a:rect b="b" l="l" r="r" t="t"/>
            <a:pathLst>
              <a:path extrusionOk="0" h="181429" w="204107">
                <a:moveTo>
                  <a:pt x="17009" y="69382"/>
                </a:moveTo>
                <a:lnTo>
                  <a:pt x="91140" y="99892"/>
                </a:lnTo>
                <a:cubicBezTo>
                  <a:pt x="94612" y="101309"/>
                  <a:pt x="98297" y="102054"/>
                  <a:pt x="102054" y="102054"/>
                </a:cubicBezTo>
                <a:cubicBezTo>
                  <a:pt x="105810" y="102054"/>
                  <a:pt x="109495" y="101309"/>
                  <a:pt x="112968" y="99892"/>
                </a:cubicBezTo>
                <a:lnTo>
                  <a:pt x="198863" y="64528"/>
                </a:lnTo>
                <a:cubicBezTo>
                  <a:pt x="202052" y="63217"/>
                  <a:pt x="204107" y="60134"/>
                  <a:pt x="204107" y="56696"/>
                </a:cubicBezTo>
                <a:cubicBezTo>
                  <a:pt x="204107" y="53259"/>
                  <a:pt x="202052" y="50176"/>
                  <a:pt x="198863" y="48865"/>
                </a:cubicBezTo>
                <a:lnTo>
                  <a:pt x="112968" y="13501"/>
                </a:lnTo>
                <a:cubicBezTo>
                  <a:pt x="109495" y="12083"/>
                  <a:pt x="105810" y="11339"/>
                  <a:pt x="102054" y="11339"/>
                </a:cubicBezTo>
                <a:cubicBezTo>
                  <a:pt x="98297" y="11339"/>
                  <a:pt x="94612" y="12083"/>
                  <a:pt x="91140" y="13501"/>
                </a:cubicBezTo>
                <a:lnTo>
                  <a:pt x="5244" y="48865"/>
                </a:lnTo>
                <a:cubicBezTo>
                  <a:pt x="2055" y="50176"/>
                  <a:pt x="0" y="53259"/>
                  <a:pt x="0" y="56696"/>
                </a:cubicBezTo>
                <a:lnTo>
                  <a:pt x="0" y="161585"/>
                </a:lnTo>
                <a:cubicBezTo>
                  <a:pt x="0" y="166298"/>
                  <a:pt x="3792" y="170089"/>
                  <a:pt x="8504" y="170089"/>
                </a:cubicBezTo>
                <a:cubicBezTo>
                  <a:pt x="13217" y="170089"/>
                  <a:pt x="17009" y="166298"/>
                  <a:pt x="17009" y="161585"/>
                </a:cubicBezTo>
                <a:lnTo>
                  <a:pt x="17009" y="69382"/>
                </a:lnTo>
                <a:close/>
                <a:moveTo>
                  <a:pt x="34018" y="94789"/>
                </a:moveTo>
                <a:lnTo>
                  <a:pt x="34018" y="136071"/>
                </a:lnTo>
                <a:cubicBezTo>
                  <a:pt x="34018" y="154852"/>
                  <a:pt x="64492" y="170089"/>
                  <a:pt x="102054" y="170089"/>
                </a:cubicBezTo>
                <a:cubicBezTo>
                  <a:pt x="139615" y="170089"/>
                  <a:pt x="170089" y="154852"/>
                  <a:pt x="170089" y="136071"/>
                </a:cubicBezTo>
                <a:lnTo>
                  <a:pt x="170089" y="94754"/>
                </a:lnTo>
                <a:lnTo>
                  <a:pt x="119452" y="115625"/>
                </a:lnTo>
                <a:cubicBezTo>
                  <a:pt x="113924" y="117893"/>
                  <a:pt x="108042" y="119062"/>
                  <a:pt x="102054" y="119062"/>
                </a:cubicBezTo>
                <a:cubicBezTo>
                  <a:pt x="96065" y="119062"/>
                  <a:pt x="90183" y="117893"/>
                  <a:pt x="84655" y="115625"/>
                </a:cubicBezTo>
                <a:lnTo>
                  <a:pt x="34018" y="9475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2"/>
          <p:cNvSpPr/>
          <p:nvPr/>
        </p:nvSpPr>
        <p:spPr>
          <a:xfrm>
            <a:off x="4989286" y="1696357"/>
            <a:ext cx="2848429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9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Образовательные инструменты</a:t>
            </a:r>
            <a:endParaRPr b="0" i="0" sz="1600" u="none" cap="none" strike="noStrike"/>
          </a:p>
        </p:txBody>
      </p:sp>
      <p:sp>
        <p:nvSpPr>
          <p:cNvPr id="360" name="Google Shape;360;p12"/>
          <p:cNvSpPr/>
          <p:nvPr/>
        </p:nvSpPr>
        <p:spPr>
          <a:xfrm>
            <a:off x="4452512" y="2354036"/>
            <a:ext cx="3283857" cy="916214"/>
          </a:xfrm>
          <a:custGeom>
            <a:rect b="b" l="l" r="r" t="t"/>
            <a:pathLst>
              <a:path extrusionOk="0" h="916214" w="3283857">
                <a:moveTo>
                  <a:pt x="72573" y="0"/>
                </a:moveTo>
                <a:lnTo>
                  <a:pt x="3211284" y="0"/>
                </a:lnTo>
                <a:cubicBezTo>
                  <a:pt x="3251338" y="0"/>
                  <a:pt x="3283857" y="32519"/>
                  <a:pt x="3283857" y="72573"/>
                </a:cubicBezTo>
                <a:lnTo>
                  <a:pt x="3283857" y="843641"/>
                </a:lnTo>
                <a:cubicBezTo>
                  <a:pt x="3283857" y="883695"/>
                  <a:pt x="3251338" y="916214"/>
                  <a:pt x="3211284" y="916214"/>
                </a:cubicBezTo>
                <a:lnTo>
                  <a:pt x="72573" y="916214"/>
                </a:lnTo>
                <a:cubicBezTo>
                  <a:pt x="32519" y="916214"/>
                  <a:pt x="0" y="883695"/>
                  <a:pt x="0" y="843641"/>
                </a:cubicBezTo>
                <a:lnTo>
                  <a:pt x="0" y="72573"/>
                </a:lnTo>
                <a:cubicBezTo>
                  <a:pt x="0" y="32519"/>
                  <a:pt x="32519" y="0"/>
                  <a:pt x="72573" y="0"/>
                </a:cubicBezTo>
                <a:close/>
              </a:path>
            </a:pathLst>
          </a:custGeom>
          <a:solidFill>
            <a:srgbClr val="0F172A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2"/>
          <p:cNvSpPr/>
          <p:nvPr/>
        </p:nvSpPr>
        <p:spPr>
          <a:xfrm>
            <a:off x="4570441" y="2503714"/>
            <a:ext cx="163286" cy="163286"/>
          </a:xfrm>
          <a:custGeom>
            <a:rect b="b" l="l" r="r" t="t"/>
            <a:pathLst>
              <a:path extrusionOk="0" h="163286" w="163286">
                <a:moveTo>
                  <a:pt x="163286" y="51027"/>
                </a:moveTo>
                <a:lnTo>
                  <a:pt x="163254" y="74180"/>
                </a:lnTo>
                <a:cubicBezTo>
                  <a:pt x="163254" y="88468"/>
                  <a:pt x="157641" y="101958"/>
                  <a:pt x="147978" y="111940"/>
                </a:cubicBezTo>
                <a:cubicBezTo>
                  <a:pt x="147882" y="87383"/>
                  <a:pt x="135189" y="64613"/>
                  <a:pt x="114364" y="51569"/>
                </a:cubicBezTo>
                <a:lnTo>
                  <a:pt x="113758" y="51186"/>
                </a:lnTo>
                <a:cubicBezTo>
                  <a:pt x="114555" y="50006"/>
                  <a:pt x="114651" y="48444"/>
                  <a:pt x="113885" y="47136"/>
                </a:cubicBezTo>
                <a:lnTo>
                  <a:pt x="94113" y="12884"/>
                </a:lnTo>
                <a:cubicBezTo>
                  <a:pt x="92008" y="9217"/>
                  <a:pt x="93251" y="4529"/>
                  <a:pt x="96919" y="2424"/>
                </a:cubicBezTo>
                <a:cubicBezTo>
                  <a:pt x="100587" y="319"/>
                  <a:pt x="105243" y="1595"/>
                  <a:pt x="107348" y="5262"/>
                </a:cubicBezTo>
                <a:lnTo>
                  <a:pt x="129034" y="42831"/>
                </a:lnTo>
                <a:lnTo>
                  <a:pt x="129034" y="42831"/>
                </a:lnTo>
                <a:lnTo>
                  <a:pt x="129034" y="42831"/>
                </a:lnTo>
                <a:lnTo>
                  <a:pt x="142843" y="66749"/>
                </a:lnTo>
                <a:lnTo>
                  <a:pt x="142875" y="51027"/>
                </a:lnTo>
                <a:cubicBezTo>
                  <a:pt x="142875" y="45382"/>
                  <a:pt x="147467" y="40821"/>
                  <a:pt x="153080" y="40821"/>
                </a:cubicBezTo>
                <a:cubicBezTo>
                  <a:pt x="158693" y="40821"/>
                  <a:pt x="163286" y="45414"/>
                  <a:pt x="163286" y="51027"/>
                </a:cubicBezTo>
                <a:close/>
                <a:moveTo>
                  <a:pt x="95165" y="39610"/>
                </a:moveTo>
                <a:cubicBezTo>
                  <a:pt x="90668" y="36803"/>
                  <a:pt x="85661" y="35559"/>
                  <a:pt x="80750" y="35751"/>
                </a:cubicBezTo>
                <a:lnTo>
                  <a:pt x="69109" y="15563"/>
                </a:lnTo>
                <a:cubicBezTo>
                  <a:pt x="67005" y="11896"/>
                  <a:pt x="68248" y="7208"/>
                  <a:pt x="71916" y="5103"/>
                </a:cubicBezTo>
                <a:cubicBezTo>
                  <a:pt x="75583" y="2998"/>
                  <a:pt x="80272" y="4242"/>
                  <a:pt x="82376" y="7909"/>
                </a:cubicBezTo>
                <a:lnTo>
                  <a:pt x="103776" y="44967"/>
                </a:lnTo>
                <a:lnTo>
                  <a:pt x="95165" y="39578"/>
                </a:lnTo>
                <a:close/>
                <a:moveTo>
                  <a:pt x="67579" y="28224"/>
                </a:moveTo>
                <a:lnTo>
                  <a:pt x="72809" y="37281"/>
                </a:lnTo>
                <a:cubicBezTo>
                  <a:pt x="67993" y="39035"/>
                  <a:pt x="63688" y="42257"/>
                  <a:pt x="60594" y="46753"/>
                </a:cubicBezTo>
                <a:lnTo>
                  <a:pt x="54312" y="35846"/>
                </a:lnTo>
                <a:cubicBezTo>
                  <a:pt x="52207" y="32179"/>
                  <a:pt x="53451" y="27491"/>
                  <a:pt x="57118" y="25386"/>
                </a:cubicBezTo>
                <a:cubicBezTo>
                  <a:pt x="60786" y="23281"/>
                  <a:pt x="65474" y="24525"/>
                  <a:pt x="67579" y="28192"/>
                </a:cubicBezTo>
                <a:close/>
                <a:moveTo>
                  <a:pt x="52781" y="48539"/>
                </a:moveTo>
                <a:lnTo>
                  <a:pt x="56767" y="55460"/>
                </a:lnTo>
                <a:cubicBezTo>
                  <a:pt x="56129" y="58202"/>
                  <a:pt x="55970" y="61041"/>
                  <a:pt x="56225" y="63783"/>
                </a:cubicBezTo>
                <a:lnTo>
                  <a:pt x="54854" y="63783"/>
                </a:lnTo>
                <a:lnTo>
                  <a:pt x="54854" y="63783"/>
                </a:lnTo>
                <a:lnTo>
                  <a:pt x="43883" y="63783"/>
                </a:lnTo>
                <a:lnTo>
                  <a:pt x="39514" y="56193"/>
                </a:lnTo>
                <a:cubicBezTo>
                  <a:pt x="37409" y="52526"/>
                  <a:pt x="38653" y="47838"/>
                  <a:pt x="42320" y="45733"/>
                </a:cubicBezTo>
                <a:cubicBezTo>
                  <a:pt x="45988" y="43628"/>
                  <a:pt x="50676" y="44872"/>
                  <a:pt x="52781" y="48539"/>
                </a:cubicBezTo>
                <a:close/>
                <a:moveTo>
                  <a:pt x="73000" y="55811"/>
                </a:moveTo>
                <a:cubicBezTo>
                  <a:pt x="75998" y="51027"/>
                  <a:pt x="82281" y="49592"/>
                  <a:pt x="87064" y="52558"/>
                </a:cubicBezTo>
                <a:lnTo>
                  <a:pt x="106263" y="64549"/>
                </a:lnTo>
                <a:cubicBezTo>
                  <a:pt x="122688" y="74850"/>
                  <a:pt x="132670" y="92869"/>
                  <a:pt x="132670" y="112259"/>
                </a:cubicBezTo>
                <a:lnTo>
                  <a:pt x="132670" y="114810"/>
                </a:lnTo>
                <a:cubicBezTo>
                  <a:pt x="132670" y="141567"/>
                  <a:pt x="110951" y="163286"/>
                  <a:pt x="84194" y="163286"/>
                </a:cubicBezTo>
                <a:lnTo>
                  <a:pt x="28065" y="163286"/>
                </a:lnTo>
                <a:cubicBezTo>
                  <a:pt x="23823" y="163286"/>
                  <a:pt x="20411" y="159873"/>
                  <a:pt x="20411" y="155632"/>
                </a:cubicBezTo>
                <a:cubicBezTo>
                  <a:pt x="20411" y="151390"/>
                  <a:pt x="23823" y="147978"/>
                  <a:pt x="28065" y="147978"/>
                </a:cubicBezTo>
                <a:lnTo>
                  <a:pt x="57405" y="147978"/>
                </a:lnTo>
                <a:cubicBezTo>
                  <a:pt x="59510" y="147978"/>
                  <a:pt x="61232" y="146256"/>
                  <a:pt x="61232" y="144151"/>
                </a:cubicBezTo>
                <a:cubicBezTo>
                  <a:pt x="61232" y="142046"/>
                  <a:pt x="59510" y="140324"/>
                  <a:pt x="57405" y="140324"/>
                </a:cubicBezTo>
                <a:lnTo>
                  <a:pt x="17859" y="140324"/>
                </a:lnTo>
                <a:cubicBezTo>
                  <a:pt x="13618" y="140324"/>
                  <a:pt x="10205" y="136911"/>
                  <a:pt x="10205" y="132670"/>
                </a:cubicBezTo>
                <a:cubicBezTo>
                  <a:pt x="10205" y="128428"/>
                  <a:pt x="13618" y="125016"/>
                  <a:pt x="17859" y="125016"/>
                </a:cubicBezTo>
                <a:lnTo>
                  <a:pt x="57405" y="125016"/>
                </a:lnTo>
                <a:cubicBezTo>
                  <a:pt x="59510" y="125016"/>
                  <a:pt x="61232" y="123293"/>
                  <a:pt x="61232" y="121189"/>
                </a:cubicBezTo>
                <a:cubicBezTo>
                  <a:pt x="61232" y="119084"/>
                  <a:pt x="59510" y="117362"/>
                  <a:pt x="57405" y="117362"/>
                </a:cubicBezTo>
                <a:lnTo>
                  <a:pt x="7654" y="117362"/>
                </a:lnTo>
                <a:cubicBezTo>
                  <a:pt x="3412" y="117362"/>
                  <a:pt x="0" y="113949"/>
                  <a:pt x="0" y="109708"/>
                </a:cubicBezTo>
                <a:cubicBezTo>
                  <a:pt x="0" y="105466"/>
                  <a:pt x="3412" y="102054"/>
                  <a:pt x="7654" y="102054"/>
                </a:cubicBezTo>
                <a:lnTo>
                  <a:pt x="57405" y="102054"/>
                </a:lnTo>
                <a:cubicBezTo>
                  <a:pt x="59510" y="102054"/>
                  <a:pt x="61232" y="100331"/>
                  <a:pt x="61232" y="98227"/>
                </a:cubicBezTo>
                <a:cubicBezTo>
                  <a:pt x="61232" y="96122"/>
                  <a:pt x="59510" y="94400"/>
                  <a:pt x="57405" y="94400"/>
                </a:cubicBezTo>
                <a:lnTo>
                  <a:pt x="17859" y="94400"/>
                </a:lnTo>
                <a:cubicBezTo>
                  <a:pt x="13618" y="94400"/>
                  <a:pt x="10205" y="90987"/>
                  <a:pt x="10205" y="86746"/>
                </a:cubicBezTo>
                <a:cubicBezTo>
                  <a:pt x="10205" y="82504"/>
                  <a:pt x="13618" y="79092"/>
                  <a:pt x="17859" y="79092"/>
                </a:cubicBezTo>
                <a:lnTo>
                  <a:pt x="61232" y="79092"/>
                </a:lnTo>
                <a:lnTo>
                  <a:pt x="61232" y="79092"/>
                </a:lnTo>
                <a:lnTo>
                  <a:pt x="61232" y="79092"/>
                </a:lnTo>
                <a:lnTo>
                  <a:pt x="90955" y="79092"/>
                </a:lnTo>
                <a:lnTo>
                  <a:pt x="76221" y="69875"/>
                </a:lnTo>
                <a:cubicBezTo>
                  <a:pt x="71438" y="66877"/>
                  <a:pt x="70002" y="60594"/>
                  <a:pt x="72968" y="55811"/>
                </a:cubicBezTo>
                <a:close/>
              </a:path>
            </a:pathLst>
          </a:cu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2"/>
          <p:cNvSpPr/>
          <p:nvPr/>
        </p:nvSpPr>
        <p:spPr>
          <a:xfrm>
            <a:off x="4849954" y="2467429"/>
            <a:ext cx="2848429" cy="217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43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Learning by </a:t>
            </a:r>
            <a:r>
              <a:rPr b="1" i="0" lang="en-US" sz="1143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Doing</a:t>
            </a:r>
            <a:endParaRPr b="0" i="0" sz="1600" u="none" cap="none" strike="noStrike"/>
          </a:p>
        </p:txBody>
      </p:sp>
      <p:sp>
        <p:nvSpPr>
          <p:cNvPr id="363" name="Google Shape;363;p12"/>
          <p:cNvSpPr/>
          <p:nvPr/>
        </p:nvSpPr>
        <p:spPr>
          <a:xfrm>
            <a:off x="4849954" y="2721429"/>
            <a:ext cx="2848429" cy="435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43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Обучение через практику и принятие решений</a:t>
            </a:r>
            <a:endParaRPr b="0" i="0" sz="1600" u="none" cap="none" strike="noStrike"/>
          </a:p>
        </p:txBody>
      </p:sp>
      <p:sp>
        <p:nvSpPr>
          <p:cNvPr id="364" name="Google Shape;364;p12"/>
          <p:cNvSpPr/>
          <p:nvPr/>
        </p:nvSpPr>
        <p:spPr>
          <a:xfrm>
            <a:off x="4452512" y="3388179"/>
            <a:ext cx="3283857" cy="916214"/>
          </a:xfrm>
          <a:custGeom>
            <a:rect b="b" l="l" r="r" t="t"/>
            <a:pathLst>
              <a:path extrusionOk="0" h="916214" w="3283857">
                <a:moveTo>
                  <a:pt x="72573" y="0"/>
                </a:moveTo>
                <a:lnTo>
                  <a:pt x="3211284" y="0"/>
                </a:lnTo>
                <a:cubicBezTo>
                  <a:pt x="3251338" y="0"/>
                  <a:pt x="3283857" y="32519"/>
                  <a:pt x="3283857" y="72573"/>
                </a:cubicBezTo>
                <a:lnTo>
                  <a:pt x="3283857" y="843641"/>
                </a:lnTo>
                <a:cubicBezTo>
                  <a:pt x="3283857" y="883695"/>
                  <a:pt x="3251338" y="916214"/>
                  <a:pt x="3211284" y="916214"/>
                </a:cubicBezTo>
                <a:lnTo>
                  <a:pt x="72573" y="916214"/>
                </a:lnTo>
                <a:cubicBezTo>
                  <a:pt x="32519" y="916214"/>
                  <a:pt x="0" y="883695"/>
                  <a:pt x="0" y="843641"/>
                </a:cubicBezTo>
                <a:lnTo>
                  <a:pt x="0" y="72573"/>
                </a:lnTo>
                <a:cubicBezTo>
                  <a:pt x="0" y="32519"/>
                  <a:pt x="32519" y="0"/>
                  <a:pt x="72573" y="0"/>
                </a:cubicBezTo>
                <a:close/>
              </a:path>
            </a:pathLst>
          </a:custGeom>
          <a:solidFill>
            <a:srgbClr val="0F172A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2"/>
          <p:cNvSpPr/>
          <p:nvPr/>
        </p:nvSpPr>
        <p:spPr>
          <a:xfrm>
            <a:off x="4570441" y="3537857"/>
            <a:ext cx="163286" cy="163286"/>
          </a:xfrm>
          <a:custGeom>
            <a:rect b="b" l="l" r="r" t="t"/>
            <a:pathLst>
              <a:path extrusionOk="0" h="163286" w="163286">
                <a:moveTo>
                  <a:pt x="81643" y="0"/>
                </a:moveTo>
                <a:cubicBezTo>
                  <a:pt x="83110" y="0"/>
                  <a:pt x="84577" y="319"/>
                  <a:pt x="85916" y="925"/>
                </a:cubicBezTo>
                <a:lnTo>
                  <a:pt x="146000" y="26406"/>
                </a:lnTo>
                <a:cubicBezTo>
                  <a:pt x="153017" y="29372"/>
                  <a:pt x="158247" y="36293"/>
                  <a:pt x="158215" y="44648"/>
                </a:cubicBezTo>
                <a:cubicBezTo>
                  <a:pt x="158055" y="76285"/>
                  <a:pt x="145044" y="134169"/>
                  <a:pt x="90094" y="160479"/>
                </a:cubicBezTo>
                <a:cubicBezTo>
                  <a:pt x="84768" y="163031"/>
                  <a:pt x="78581" y="163031"/>
                  <a:pt x="73255" y="160479"/>
                </a:cubicBezTo>
                <a:cubicBezTo>
                  <a:pt x="18274" y="134169"/>
                  <a:pt x="5294" y="76285"/>
                  <a:pt x="5135" y="44648"/>
                </a:cubicBezTo>
                <a:cubicBezTo>
                  <a:pt x="5103" y="36293"/>
                  <a:pt x="10333" y="29372"/>
                  <a:pt x="17349" y="26406"/>
                </a:cubicBezTo>
                <a:lnTo>
                  <a:pt x="77401" y="925"/>
                </a:lnTo>
                <a:cubicBezTo>
                  <a:pt x="78741" y="319"/>
                  <a:pt x="80176" y="0"/>
                  <a:pt x="81643" y="0"/>
                </a:cubicBezTo>
                <a:close/>
                <a:moveTo>
                  <a:pt x="81643" y="21304"/>
                </a:moveTo>
                <a:lnTo>
                  <a:pt x="81643" y="141886"/>
                </a:lnTo>
                <a:cubicBezTo>
                  <a:pt x="125653" y="120583"/>
                  <a:pt x="137485" y="73383"/>
                  <a:pt x="137772" y="45127"/>
                </a:cubicBezTo>
                <a:lnTo>
                  <a:pt x="81643" y="21336"/>
                </a:lnTo>
                <a:lnTo>
                  <a:pt x="81643" y="21336"/>
                </a:lnTo>
                <a:close/>
              </a:path>
            </a:pathLst>
          </a:cu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2"/>
          <p:cNvSpPr/>
          <p:nvPr/>
        </p:nvSpPr>
        <p:spPr>
          <a:xfrm>
            <a:off x="4843434" y="3501571"/>
            <a:ext cx="2857500" cy="217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43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Симуляция задач</a:t>
            </a:r>
            <a:endParaRPr b="0" i="0" sz="1600" u="none" cap="none" strike="noStrike"/>
          </a:p>
        </p:txBody>
      </p:sp>
      <p:sp>
        <p:nvSpPr>
          <p:cNvPr id="367" name="Google Shape;367;p12"/>
          <p:cNvSpPr/>
          <p:nvPr/>
        </p:nvSpPr>
        <p:spPr>
          <a:xfrm>
            <a:off x="4843434" y="3755571"/>
            <a:ext cx="2857500" cy="435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43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Реальные DevOps-сценарии в безопасной среде</a:t>
            </a:r>
            <a:endParaRPr b="0" i="0" sz="1600" u="none" cap="none" strike="noStrike"/>
          </a:p>
        </p:txBody>
      </p:sp>
      <p:sp>
        <p:nvSpPr>
          <p:cNvPr id="368" name="Google Shape;368;p12"/>
          <p:cNvSpPr/>
          <p:nvPr/>
        </p:nvSpPr>
        <p:spPr>
          <a:xfrm>
            <a:off x="4452512" y="4422321"/>
            <a:ext cx="3283857" cy="916214"/>
          </a:xfrm>
          <a:custGeom>
            <a:rect b="b" l="l" r="r" t="t"/>
            <a:pathLst>
              <a:path extrusionOk="0" h="916214" w="3283857">
                <a:moveTo>
                  <a:pt x="72573" y="0"/>
                </a:moveTo>
                <a:lnTo>
                  <a:pt x="3211284" y="0"/>
                </a:lnTo>
                <a:cubicBezTo>
                  <a:pt x="3251338" y="0"/>
                  <a:pt x="3283857" y="32519"/>
                  <a:pt x="3283857" y="72573"/>
                </a:cubicBezTo>
                <a:lnTo>
                  <a:pt x="3283857" y="843641"/>
                </a:lnTo>
                <a:cubicBezTo>
                  <a:pt x="3283857" y="883695"/>
                  <a:pt x="3251338" y="916214"/>
                  <a:pt x="3211284" y="916214"/>
                </a:cubicBezTo>
                <a:lnTo>
                  <a:pt x="72573" y="916214"/>
                </a:lnTo>
                <a:cubicBezTo>
                  <a:pt x="32519" y="916214"/>
                  <a:pt x="0" y="883695"/>
                  <a:pt x="0" y="843641"/>
                </a:cubicBezTo>
                <a:lnTo>
                  <a:pt x="0" y="72573"/>
                </a:lnTo>
                <a:cubicBezTo>
                  <a:pt x="0" y="32519"/>
                  <a:pt x="32519" y="0"/>
                  <a:pt x="72573" y="0"/>
                </a:cubicBezTo>
                <a:close/>
              </a:path>
            </a:pathLst>
          </a:custGeom>
          <a:solidFill>
            <a:srgbClr val="0F172A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2"/>
          <p:cNvSpPr/>
          <p:nvPr/>
        </p:nvSpPr>
        <p:spPr>
          <a:xfrm>
            <a:off x="4584048" y="4572000"/>
            <a:ext cx="163286" cy="163286"/>
          </a:xfrm>
          <a:custGeom>
            <a:rect b="b" l="l" r="r" t="t"/>
            <a:pathLst>
              <a:path extrusionOk="0" h="163286" w="163286">
                <a:moveTo>
                  <a:pt x="163286" y="30616"/>
                </a:moveTo>
                <a:cubicBezTo>
                  <a:pt x="163286" y="46626"/>
                  <a:pt x="144438" y="70513"/>
                  <a:pt x="136305" y="80048"/>
                </a:cubicBezTo>
                <a:cubicBezTo>
                  <a:pt x="135093" y="81452"/>
                  <a:pt x="133307" y="81994"/>
                  <a:pt x="131681" y="81643"/>
                </a:cubicBezTo>
                <a:lnTo>
                  <a:pt x="102054" y="81643"/>
                </a:lnTo>
                <a:cubicBezTo>
                  <a:pt x="96409" y="81643"/>
                  <a:pt x="91848" y="86203"/>
                  <a:pt x="91848" y="91848"/>
                </a:cubicBezTo>
                <a:cubicBezTo>
                  <a:pt x="91848" y="97493"/>
                  <a:pt x="96409" y="102054"/>
                  <a:pt x="102054" y="102054"/>
                </a:cubicBezTo>
                <a:lnTo>
                  <a:pt x="132670" y="102054"/>
                </a:lnTo>
                <a:cubicBezTo>
                  <a:pt x="149572" y="102054"/>
                  <a:pt x="163286" y="115767"/>
                  <a:pt x="163286" y="132670"/>
                </a:cubicBezTo>
                <a:cubicBezTo>
                  <a:pt x="163286" y="149572"/>
                  <a:pt x="149572" y="163286"/>
                  <a:pt x="132670" y="163286"/>
                </a:cubicBezTo>
                <a:lnTo>
                  <a:pt x="44521" y="163286"/>
                </a:lnTo>
                <a:cubicBezTo>
                  <a:pt x="47295" y="160128"/>
                  <a:pt x="50676" y="156078"/>
                  <a:pt x="54088" y="151550"/>
                </a:cubicBezTo>
                <a:cubicBezTo>
                  <a:pt x="56098" y="148871"/>
                  <a:pt x="58171" y="145937"/>
                  <a:pt x="60148" y="142875"/>
                </a:cubicBezTo>
                <a:lnTo>
                  <a:pt x="132670" y="142875"/>
                </a:lnTo>
                <a:cubicBezTo>
                  <a:pt x="138314" y="142875"/>
                  <a:pt x="142875" y="138314"/>
                  <a:pt x="142875" y="132670"/>
                </a:cubicBezTo>
                <a:cubicBezTo>
                  <a:pt x="142875" y="127025"/>
                  <a:pt x="138314" y="122464"/>
                  <a:pt x="132670" y="122464"/>
                </a:cubicBezTo>
                <a:lnTo>
                  <a:pt x="102054" y="122464"/>
                </a:lnTo>
                <a:cubicBezTo>
                  <a:pt x="85151" y="122464"/>
                  <a:pt x="71438" y="108751"/>
                  <a:pt x="71438" y="91848"/>
                </a:cubicBezTo>
                <a:cubicBezTo>
                  <a:pt x="71438" y="74946"/>
                  <a:pt x="85151" y="61232"/>
                  <a:pt x="102054" y="61232"/>
                </a:cubicBezTo>
                <a:lnTo>
                  <a:pt x="114746" y="61232"/>
                </a:lnTo>
                <a:cubicBezTo>
                  <a:pt x="108049" y="51186"/>
                  <a:pt x="102054" y="39641"/>
                  <a:pt x="102054" y="30616"/>
                </a:cubicBezTo>
                <a:cubicBezTo>
                  <a:pt x="102054" y="13713"/>
                  <a:pt x="115767" y="0"/>
                  <a:pt x="132670" y="0"/>
                </a:cubicBezTo>
                <a:cubicBezTo>
                  <a:pt x="149572" y="0"/>
                  <a:pt x="163286" y="13713"/>
                  <a:pt x="163286" y="30616"/>
                </a:cubicBezTo>
                <a:close/>
                <a:moveTo>
                  <a:pt x="37345" y="155983"/>
                </a:moveTo>
                <a:cubicBezTo>
                  <a:pt x="36133" y="157354"/>
                  <a:pt x="35049" y="158566"/>
                  <a:pt x="34124" y="159586"/>
                </a:cubicBezTo>
                <a:lnTo>
                  <a:pt x="33550" y="160224"/>
                </a:lnTo>
                <a:lnTo>
                  <a:pt x="33486" y="160160"/>
                </a:lnTo>
                <a:cubicBezTo>
                  <a:pt x="31573" y="161627"/>
                  <a:pt x="28830" y="161436"/>
                  <a:pt x="27108" y="159586"/>
                </a:cubicBezTo>
                <a:cubicBezTo>
                  <a:pt x="19071" y="150848"/>
                  <a:pt x="0" y="128364"/>
                  <a:pt x="0" y="112259"/>
                </a:cubicBezTo>
                <a:cubicBezTo>
                  <a:pt x="0" y="95356"/>
                  <a:pt x="13713" y="81643"/>
                  <a:pt x="30616" y="81643"/>
                </a:cubicBezTo>
                <a:cubicBezTo>
                  <a:pt x="47519" y="81643"/>
                  <a:pt x="61232" y="95356"/>
                  <a:pt x="61232" y="112259"/>
                </a:cubicBezTo>
                <a:cubicBezTo>
                  <a:pt x="61232" y="121826"/>
                  <a:pt x="54503" y="133626"/>
                  <a:pt x="47359" y="143481"/>
                </a:cubicBezTo>
                <a:cubicBezTo>
                  <a:pt x="43947" y="148169"/>
                  <a:pt x="40439" y="152411"/>
                  <a:pt x="37537" y="155759"/>
                </a:cubicBezTo>
                <a:lnTo>
                  <a:pt x="37345" y="155983"/>
                </a:lnTo>
                <a:close/>
                <a:moveTo>
                  <a:pt x="40821" y="112259"/>
                </a:moveTo>
                <a:cubicBezTo>
                  <a:pt x="40821" y="106626"/>
                  <a:pt x="36249" y="102054"/>
                  <a:pt x="30616" y="102054"/>
                </a:cubicBezTo>
                <a:cubicBezTo>
                  <a:pt x="24984" y="102054"/>
                  <a:pt x="20411" y="106626"/>
                  <a:pt x="20411" y="112259"/>
                </a:cubicBezTo>
                <a:cubicBezTo>
                  <a:pt x="20411" y="117891"/>
                  <a:pt x="24984" y="122464"/>
                  <a:pt x="30616" y="122464"/>
                </a:cubicBezTo>
                <a:cubicBezTo>
                  <a:pt x="36249" y="122464"/>
                  <a:pt x="40821" y="117891"/>
                  <a:pt x="40821" y="112259"/>
                </a:cubicBezTo>
                <a:close/>
                <a:moveTo>
                  <a:pt x="132670" y="40821"/>
                </a:moveTo>
                <a:cubicBezTo>
                  <a:pt x="138302" y="40821"/>
                  <a:pt x="142875" y="36249"/>
                  <a:pt x="142875" y="30616"/>
                </a:cubicBezTo>
                <a:cubicBezTo>
                  <a:pt x="142875" y="24984"/>
                  <a:pt x="138302" y="20411"/>
                  <a:pt x="132670" y="20411"/>
                </a:cubicBezTo>
                <a:cubicBezTo>
                  <a:pt x="127037" y="20411"/>
                  <a:pt x="122464" y="24984"/>
                  <a:pt x="122464" y="30616"/>
                </a:cubicBezTo>
                <a:cubicBezTo>
                  <a:pt x="122464" y="36249"/>
                  <a:pt x="127037" y="40821"/>
                  <a:pt x="132670" y="40821"/>
                </a:cubicBezTo>
                <a:close/>
              </a:path>
            </a:pathLst>
          </a:cu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2"/>
          <p:cNvSpPr/>
          <p:nvPr/>
        </p:nvSpPr>
        <p:spPr>
          <a:xfrm>
            <a:off x="4871357" y="4535714"/>
            <a:ext cx="2830286" cy="217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43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Сценарное обучение</a:t>
            </a:r>
            <a:endParaRPr b="0" i="0" sz="1600" u="none" cap="none" strike="noStrike"/>
          </a:p>
        </p:txBody>
      </p:sp>
      <p:sp>
        <p:nvSpPr>
          <p:cNvPr id="371" name="Google Shape;371;p12"/>
          <p:cNvSpPr/>
          <p:nvPr/>
        </p:nvSpPr>
        <p:spPr>
          <a:xfrm>
            <a:off x="4871357" y="4789714"/>
            <a:ext cx="2830286" cy="435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43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Квесты с последовательностью решений</a:t>
            </a:r>
            <a:endParaRPr b="0" i="0" sz="1600" u="none" cap="none" strike="noStrike"/>
          </a:p>
        </p:txBody>
      </p:sp>
      <p:sp>
        <p:nvSpPr>
          <p:cNvPr id="372" name="Google Shape;372;p12"/>
          <p:cNvSpPr/>
          <p:nvPr/>
        </p:nvSpPr>
        <p:spPr>
          <a:xfrm>
            <a:off x="4452512" y="5456464"/>
            <a:ext cx="3283857" cy="916214"/>
          </a:xfrm>
          <a:custGeom>
            <a:rect b="b" l="l" r="r" t="t"/>
            <a:pathLst>
              <a:path extrusionOk="0" h="916214" w="3283857">
                <a:moveTo>
                  <a:pt x="72573" y="0"/>
                </a:moveTo>
                <a:lnTo>
                  <a:pt x="3211284" y="0"/>
                </a:lnTo>
                <a:cubicBezTo>
                  <a:pt x="3251338" y="0"/>
                  <a:pt x="3283857" y="32519"/>
                  <a:pt x="3283857" y="72573"/>
                </a:cubicBezTo>
                <a:lnTo>
                  <a:pt x="3283857" y="843641"/>
                </a:lnTo>
                <a:cubicBezTo>
                  <a:pt x="3283857" y="883695"/>
                  <a:pt x="3251338" y="916214"/>
                  <a:pt x="3211284" y="916214"/>
                </a:cubicBezTo>
                <a:lnTo>
                  <a:pt x="72573" y="916214"/>
                </a:lnTo>
                <a:cubicBezTo>
                  <a:pt x="32519" y="916214"/>
                  <a:pt x="0" y="883695"/>
                  <a:pt x="0" y="843641"/>
                </a:cubicBezTo>
                <a:lnTo>
                  <a:pt x="0" y="72573"/>
                </a:lnTo>
                <a:cubicBezTo>
                  <a:pt x="0" y="32519"/>
                  <a:pt x="32519" y="0"/>
                  <a:pt x="72573" y="0"/>
                </a:cubicBezTo>
                <a:close/>
              </a:path>
            </a:pathLst>
          </a:custGeom>
          <a:solidFill>
            <a:srgbClr val="0F172A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2"/>
          <p:cNvSpPr/>
          <p:nvPr/>
        </p:nvSpPr>
        <p:spPr>
          <a:xfrm>
            <a:off x="4574977" y="5606143"/>
            <a:ext cx="163286" cy="163286"/>
          </a:xfrm>
          <a:custGeom>
            <a:rect b="b" l="l" r="r" t="t"/>
            <a:pathLst>
              <a:path extrusionOk="0" h="163286" w="163286">
                <a:moveTo>
                  <a:pt x="81643" y="153080"/>
                </a:moveTo>
                <a:cubicBezTo>
                  <a:pt x="126738" y="153080"/>
                  <a:pt x="163286" y="118797"/>
                  <a:pt x="163286" y="76540"/>
                </a:cubicBezTo>
                <a:cubicBezTo>
                  <a:pt x="163286" y="34284"/>
                  <a:pt x="126738" y="0"/>
                  <a:pt x="81643" y="0"/>
                </a:cubicBezTo>
                <a:cubicBezTo>
                  <a:pt x="36548" y="0"/>
                  <a:pt x="0" y="34284"/>
                  <a:pt x="0" y="76540"/>
                </a:cubicBezTo>
                <a:cubicBezTo>
                  <a:pt x="0" y="93857"/>
                  <a:pt x="6123" y="109803"/>
                  <a:pt x="16456" y="122624"/>
                </a:cubicBezTo>
                <a:lnTo>
                  <a:pt x="893" y="152060"/>
                </a:lnTo>
                <a:cubicBezTo>
                  <a:pt x="-638" y="154930"/>
                  <a:pt x="-159" y="158438"/>
                  <a:pt x="2041" y="160830"/>
                </a:cubicBezTo>
                <a:cubicBezTo>
                  <a:pt x="4242" y="163222"/>
                  <a:pt x="7718" y="163955"/>
                  <a:pt x="10684" y="162680"/>
                </a:cubicBezTo>
                <a:lnTo>
                  <a:pt x="48444" y="146511"/>
                </a:lnTo>
                <a:cubicBezTo>
                  <a:pt x="58585" y="150720"/>
                  <a:pt x="69811" y="153080"/>
                  <a:pt x="81643" y="153080"/>
                </a:cubicBezTo>
                <a:close/>
                <a:moveTo>
                  <a:pt x="40821" y="66335"/>
                </a:moveTo>
                <a:cubicBezTo>
                  <a:pt x="46454" y="66335"/>
                  <a:pt x="51027" y="70908"/>
                  <a:pt x="51027" y="76540"/>
                </a:cubicBezTo>
                <a:cubicBezTo>
                  <a:pt x="51027" y="82173"/>
                  <a:pt x="46454" y="86746"/>
                  <a:pt x="40821" y="86746"/>
                </a:cubicBezTo>
                <a:cubicBezTo>
                  <a:pt x="35189" y="86746"/>
                  <a:pt x="30616" y="82173"/>
                  <a:pt x="30616" y="76540"/>
                </a:cubicBezTo>
                <a:cubicBezTo>
                  <a:pt x="30616" y="70908"/>
                  <a:pt x="35189" y="66335"/>
                  <a:pt x="40821" y="66335"/>
                </a:cubicBezTo>
                <a:close/>
                <a:moveTo>
                  <a:pt x="81643" y="66335"/>
                </a:moveTo>
                <a:cubicBezTo>
                  <a:pt x="87275" y="66335"/>
                  <a:pt x="91848" y="70908"/>
                  <a:pt x="91848" y="76540"/>
                </a:cubicBezTo>
                <a:cubicBezTo>
                  <a:pt x="91848" y="82173"/>
                  <a:pt x="87275" y="86746"/>
                  <a:pt x="81643" y="86746"/>
                </a:cubicBezTo>
                <a:cubicBezTo>
                  <a:pt x="76010" y="86746"/>
                  <a:pt x="71438" y="82173"/>
                  <a:pt x="71438" y="76540"/>
                </a:cubicBezTo>
                <a:cubicBezTo>
                  <a:pt x="71438" y="70908"/>
                  <a:pt x="76010" y="66335"/>
                  <a:pt x="81643" y="66335"/>
                </a:cubicBezTo>
                <a:close/>
                <a:moveTo>
                  <a:pt x="112259" y="76540"/>
                </a:moveTo>
                <a:cubicBezTo>
                  <a:pt x="112259" y="70908"/>
                  <a:pt x="116832" y="66335"/>
                  <a:pt x="122464" y="66335"/>
                </a:cubicBezTo>
                <a:cubicBezTo>
                  <a:pt x="128097" y="66335"/>
                  <a:pt x="132670" y="70908"/>
                  <a:pt x="132670" y="76540"/>
                </a:cubicBezTo>
                <a:cubicBezTo>
                  <a:pt x="132670" y="82173"/>
                  <a:pt x="128097" y="86746"/>
                  <a:pt x="122464" y="86746"/>
                </a:cubicBezTo>
                <a:cubicBezTo>
                  <a:pt x="116832" y="86746"/>
                  <a:pt x="112259" y="82173"/>
                  <a:pt x="112259" y="76540"/>
                </a:cubicBezTo>
                <a:close/>
              </a:path>
            </a:pathLst>
          </a:custGeom>
          <a:solidFill>
            <a:srgbClr val="22D3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2"/>
          <p:cNvSpPr/>
          <p:nvPr/>
        </p:nvSpPr>
        <p:spPr>
          <a:xfrm>
            <a:off x="4859026" y="5569857"/>
            <a:ext cx="2839357" cy="217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43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Мгновенная обратная связь</a:t>
            </a:r>
            <a:endParaRPr b="0" i="0" sz="1600" u="none" cap="none" strike="noStrike"/>
          </a:p>
        </p:txBody>
      </p:sp>
      <p:sp>
        <p:nvSpPr>
          <p:cNvPr id="375" name="Google Shape;375;p12"/>
          <p:cNvSpPr/>
          <p:nvPr/>
        </p:nvSpPr>
        <p:spPr>
          <a:xfrm>
            <a:off x="4859026" y="5823857"/>
            <a:ext cx="2839357" cy="435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43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Объяснение последствий каждого действия</a:t>
            </a:r>
            <a:endParaRPr b="0" i="0" sz="1600" u="none" cap="none" strike="noStrike"/>
          </a:p>
        </p:txBody>
      </p:sp>
      <p:sp>
        <p:nvSpPr>
          <p:cNvPr id="376" name="Google Shape;376;p12"/>
          <p:cNvSpPr/>
          <p:nvPr/>
        </p:nvSpPr>
        <p:spPr>
          <a:xfrm>
            <a:off x="8156632" y="1510393"/>
            <a:ext cx="3664857" cy="4381500"/>
          </a:xfrm>
          <a:custGeom>
            <a:rect b="b" l="l" r="r" t="t"/>
            <a:pathLst>
              <a:path extrusionOk="0" h="4381500" w="3664857">
                <a:moveTo>
                  <a:pt x="145128" y="0"/>
                </a:moveTo>
                <a:lnTo>
                  <a:pt x="3519729" y="0"/>
                </a:lnTo>
                <a:cubicBezTo>
                  <a:pt x="3599881" y="0"/>
                  <a:pt x="3664857" y="64976"/>
                  <a:pt x="3664857" y="145128"/>
                </a:cubicBezTo>
                <a:lnTo>
                  <a:pt x="3664857" y="4236372"/>
                </a:lnTo>
                <a:cubicBezTo>
                  <a:pt x="3664857" y="4316524"/>
                  <a:pt x="3599881" y="4381500"/>
                  <a:pt x="3519729" y="4381500"/>
                </a:cubicBezTo>
                <a:lnTo>
                  <a:pt x="145128" y="4381500"/>
                </a:lnTo>
                <a:cubicBezTo>
                  <a:pt x="64976" y="4381500"/>
                  <a:pt x="0" y="4316524"/>
                  <a:pt x="0" y="4236372"/>
                </a:cubicBezTo>
                <a:lnTo>
                  <a:pt x="0" y="145128"/>
                </a:lnTo>
                <a:cubicBezTo>
                  <a:pt x="0" y="65030"/>
                  <a:pt x="65030" y="0"/>
                  <a:pt x="145128" y="0"/>
                </a:cubicBezTo>
                <a:close/>
              </a:path>
            </a:pathLst>
          </a:custGeom>
          <a:gradFill>
            <a:gsLst>
              <a:gs pos="0">
                <a:srgbClr val="1E293B"/>
              </a:gs>
              <a:gs pos="100000">
                <a:srgbClr val="0F172A"/>
              </a:gs>
            </a:gsLst>
            <a:lin ang="2700000" scaled="0"/>
          </a:gra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2"/>
          <p:cNvSpPr/>
          <p:nvPr/>
        </p:nvSpPr>
        <p:spPr>
          <a:xfrm>
            <a:off x="8342596" y="1696357"/>
            <a:ext cx="435429" cy="435429"/>
          </a:xfrm>
          <a:custGeom>
            <a:rect b="b" l="l" r="r" t="t"/>
            <a:pathLst>
              <a:path extrusionOk="0" h="435429" w="435429">
                <a:moveTo>
                  <a:pt x="108857" y="0"/>
                </a:moveTo>
                <a:lnTo>
                  <a:pt x="326571" y="0"/>
                </a:lnTo>
                <a:cubicBezTo>
                  <a:pt x="386692" y="0"/>
                  <a:pt x="435429" y="48737"/>
                  <a:pt x="435429" y="108857"/>
                </a:cubicBezTo>
                <a:lnTo>
                  <a:pt x="435429" y="326571"/>
                </a:lnTo>
                <a:cubicBezTo>
                  <a:pt x="435429" y="386692"/>
                  <a:pt x="386692" y="435429"/>
                  <a:pt x="326571" y="435429"/>
                </a:cubicBezTo>
                <a:lnTo>
                  <a:pt x="108857" y="435429"/>
                </a:lnTo>
                <a:cubicBezTo>
                  <a:pt x="48737" y="435429"/>
                  <a:pt x="0" y="386692"/>
                  <a:pt x="0" y="326571"/>
                </a:cubicBezTo>
                <a:lnTo>
                  <a:pt x="0" y="108857"/>
                </a:lnTo>
                <a:cubicBezTo>
                  <a:pt x="0" y="48777"/>
                  <a:pt x="48777" y="0"/>
                  <a:pt x="108857" y="0"/>
                </a:cubicBezTo>
                <a:close/>
              </a:path>
            </a:pathLst>
          </a:custGeom>
          <a:gradFill>
            <a:gsLst>
              <a:gs pos="0">
                <a:srgbClr val="F59E0B"/>
              </a:gs>
              <a:gs pos="100000">
                <a:srgbClr val="EF4444"/>
              </a:gs>
            </a:gsLst>
            <a:lin ang="27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2"/>
          <p:cNvSpPr/>
          <p:nvPr/>
        </p:nvSpPr>
        <p:spPr>
          <a:xfrm>
            <a:off x="8503614" y="1823357"/>
            <a:ext cx="113393" cy="181429"/>
          </a:xfrm>
          <a:custGeom>
            <a:rect b="b" l="l" r="r" t="t"/>
            <a:pathLst>
              <a:path extrusionOk="0" h="181429" w="113393">
                <a:moveTo>
                  <a:pt x="48192" y="8504"/>
                </a:moveTo>
                <a:cubicBezTo>
                  <a:pt x="48192" y="3792"/>
                  <a:pt x="51984" y="0"/>
                  <a:pt x="56696" y="0"/>
                </a:cubicBezTo>
                <a:cubicBezTo>
                  <a:pt x="61409" y="0"/>
                  <a:pt x="65201" y="3792"/>
                  <a:pt x="65201" y="8504"/>
                </a:cubicBezTo>
                <a:lnTo>
                  <a:pt x="65201" y="22679"/>
                </a:lnTo>
                <a:lnTo>
                  <a:pt x="85045" y="22679"/>
                </a:lnTo>
                <a:cubicBezTo>
                  <a:pt x="91317" y="22679"/>
                  <a:pt x="96384" y="27746"/>
                  <a:pt x="96384" y="34018"/>
                </a:cubicBezTo>
                <a:cubicBezTo>
                  <a:pt x="96384" y="40290"/>
                  <a:pt x="91317" y="45357"/>
                  <a:pt x="85045" y="45357"/>
                </a:cubicBezTo>
                <a:lnTo>
                  <a:pt x="44330" y="45357"/>
                </a:lnTo>
                <a:cubicBezTo>
                  <a:pt x="35506" y="45357"/>
                  <a:pt x="28348" y="52515"/>
                  <a:pt x="28348" y="61338"/>
                </a:cubicBezTo>
                <a:cubicBezTo>
                  <a:pt x="28348" y="69311"/>
                  <a:pt x="34195" y="76044"/>
                  <a:pt x="42062" y="77178"/>
                </a:cubicBezTo>
                <a:lnTo>
                  <a:pt x="74520" y="81820"/>
                </a:lnTo>
                <a:cubicBezTo>
                  <a:pt x="93585" y="84549"/>
                  <a:pt x="107723" y="100849"/>
                  <a:pt x="107723" y="120090"/>
                </a:cubicBezTo>
                <a:cubicBezTo>
                  <a:pt x="107723" y="141458"/>
                  <a:pt x="90395" y="158750"/>
                  <a:pt x="69063" y="158750"/>
                </a:cubicBezTo>
                <a:lnTo>
                  <a:pt x="65201" y="158750"/>
                </a:lnTo>
                <a:lnTo>
                  <a:pt x="65201" y="172924"/>
                </a:lnTo>
                <a:cubicBezTo>
                  <a:pt x="65201" y="177637"/>
                  <a:pt x="61409" y="181429"/>
                  <a:pt x="56696" y="181429"/>
                </a:cubicBezTo>
                <a:cubicBezTo>
                  <a:pt x="51984" y="181429"/>
                  <a:pt x="48192" y="177637"/>
                  <a:pt x="48192" y="172924"/>
                </a:cubicBezTo>
                <a:lnTo>
                  <a:pt x="48192" y="158750"/>
                </a:lnTo>
                <a:lnTo>
                  <a:pt x="22679" y="158750"/>
                </a:lnTo>
                <a:cubicBezTo>
                  <a:pt x="16407" y="158750"/>
                  <a:pt x="11339" y="153683"/>
                  <a:pt x="11339" y="147411"/>
                </a:cubicBezTo>
                <a:cubicBezTo>
                  <a:pt x="11339" y="141139"/>
                  <a:pt x="16407" y="136071"/>
                  <a:pt x="22679" y="136071"/>
                </a:cubicBezTo>
                <a:lnTo>
                  <a:pt x="69063" y="136071"/>
                </a:lnTo>
                <a:cubicBezTo>
                  <a:pt x="77887" y="136071"/>
                  <a:pt x="85045" y="128914"/>
                  <a:pt x="85045" y="120090"/>
                </a:cubicBezTo>
                <a:cubicBezTo>
                  <a:pt x="85045" y="112117"/>
                  <a:pt x="79198" y="105384"/>
                  <a:pt x="71331" y="104251"/>
                </a:cubicBezTo>
                <a:lnTo>
                  <a:pt x="38872" y="99609"/>
                </a:lnTo>
                <a:cubicBezTo>
                  <a:pt x="19808" y="96915"/>
                  <a:pt x="5670" y="80580"/>
                  <a:pt x="5670" y="61338"/>
                </a:cubicBezTo>
                <a:cubicBezTo>
                  <a:pt x="5670" y="40006"/>
                  <a:pt x="22997" y="22679"/>
                  <a:pt x="44330" y="22679"/>
                </a:cubicBezTo>
                <a:lnTo>
                  <a:pt x="48192" y="22679"/>
                </a:lnTo>
                <a:lnTo>
                  <a:pt x="48192" y="85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2"/>
          <p:cNvSpPr/>
          <p:nvPr/>
        </p:nvSpPr>
        <p:spPr>
          <a:xfrm>
            <a:off x="8886882" y="1787071"/>
            <a:ext cx="1959429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9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Модель монетизации</a:t>
            </a:r>
            <a:endParaRPr b="0" i="0" sz="1600" u="none" cap="none" strike="noStrike"/>
          </a:p>
        </p:txBody>
      </p:sp>
      <p:sp>
        <p:nvSpPr>
          <p:cNvPr id="380" name="Google Shape;380;p12"/>
          <p:cNvSpPr/>
          <p:nvPr/>
        </p:nvSpPr>
        <p:spPr>
          <a:xfrm>
            <a:off x="8347125" y="2246525"/>
            <a:ext cx="3283857" cy="1549581"/>
          </a:xfrm>
          <a:custGeom>
            <a:rect b="b" l="l" r="r" t="t"/>
            <a:pathLst>
              <a:path extrusionOk="0" h="1061357" w="3283857">
                <a:moveTo>
                  <a:pt x="108853" y="0"/>
                </a:moveTo>
                <a:lnTo>
                  <a:pt x="3175004" y="0"/>
                </a:lnTo>
                <a:cubicBezTo>
                  <a:pt x="3235122" y="0"/>
                  <a:pt x="3283857" y="48735"/>
                  <a:pt x="3283857" y="108853"/>
                </a:cubicBezTo>
                <a:lnTo>
                  <a:pt x="3283857" y="952504"/>
                </a:lnTo>
                <a:cubicBezTo>
                  <a:pt x="3283857" y="1012622"/>
                  <a:pt x="3235122" y="1061357"/>
                  <a:pt x="3175004" y="1061357"/>
                </a:cubicBezTo>
                <a:lnTo>
                  <a:pt x="108853" y="1061357"/>
                </a:lnTo>
                <a:cubicBezTo>
                  <a:pt x="48735" y="1061357"/>
                  <a:pt x="0" y="1012622"/>
                  <a:pt x="0" y="952504"/>
                </a:cubicBezTo>
                <a:lnTo>
                  <a:pt x="0" y="108853"/>
                </a:lnTo>
                <a:cubicBezTo>
                  <a:pt x="0" y="48775"/>
                  <a:pt x="48775" y="0"/>
                  <a:pt x="108853" y="0"/>
                </a:cubicBezTo>
                <a:close/>
              </a:path>
            </a:pathLst>
          </a:custGeom>
          <a:gradFill>
            <a:gsLst>
              <a:gs pos="0">
                <a:srgbClr val="3B82F6">
                  <a:alpha val="20000"/>
                </a:srgbClr>
              </a:gs>
              <a:gs pos="100000">
                <a:srgbClr val="22D3EE">
                  <a:alpha val="20000"/>
                </a:srgbClr>
              </a:gs>
            </a:gsLst>
            <a:lin ang="0" scaled="0"/>
          </a:gradFill>
          <a:ln cap="flat" cmpd="sng" w="12700">
            <a:solidFill>
              <a:srgbClr val="3B82F6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2"/>
          <p:cNvSpPr/>
          <p:nvPr/>
        </p:nvSpPr>
        <p:spPr>
          <a:xfrm>
            <a:off x="8539900" y="2388474"/>
            <a:ext cx="122464" cy="163286"/>
          </a:xfrm>
          <a:custGeom>
            <a:rect b="b" l="l" r="r" t="t"/>
            <a:pathLst>
              <a:path extrusionOk="0" h="163286" w="122464">
                <a:moveTo>
                  <a:pt x="20411" y="0"/>
                </a:moveTo>
                <a:cubicBezTo>
                  <a:pt x="9153" y="0"/>
                  <a:pt x="0" y="9153"/>
                  <a:pt x="0" y="20411"/>
                </a:cubicBezTo>
                <a:lnTo>
                  <a:pt x="0" y="142875"/>
                </a:lnTo>
                <a:cubicBezTo>
                  <a:pt x="0" y="154133"/>
                  <a:pt x="9153" y="163286"/>
                  <a:pt x="20411" y="163286"/>
                </a:cubicBezTo>
                <a:lnTo>
                  <a:pt x="102054" y="163286"/>
                </a:lnTo>
                <a:cubicBezTo>
                  <a:pt x="113311" y="163286"/>
                  <a:pt x="122464" y="154133"/>
                  <a:pt x="122464" y="142875"/>
                </a:cubicBezTo>
                <a:lnTo>
                  <a:pt x="122464" y="20411"/>
                </a:lnTo>
                <a:cubicBezTo>
                  <a:pt x="122464" y="9153"/>
                  <a:pt x="113311" y="0"/>
                  <a:pt x="102054" y="0"/>
                </a:cubicBezTo>
                <a:lnTo>
                  <a:pt x="20411" y="0"/>
                </a:lnTo>
                <a:close/>
                <a:moveTo>
                  <a:pt x="56129" y="112259"/>
                </a:moveTo>
                <a:lnTo>
                  <a:pt x="66335" y="112259"/>
                </a:lnTo>
                <a:cubicBezTo>
                  <a:pt x="71980" y="112259"/>
                  <a:pt x="76540" y="116819"/>
                  <a:pt x="76540" y="122464"/>
                </a:cubicBezTo>
                <a:lnTo>
                  <a:pt x="76540" y="147978"/>
                </a:lnTo>
                <a:lnTo>
                  <a:pt x="45924" y="147978"/>
                </a:lnTo>
                <a:lnTo>
                  <a:pt x="45924" y="122464"/>
                </a:lnTo>
                <a:cubicBezTo>
                  <a:pt x="45924" y="116819"/>
                  <a:pt x="50485" y="112259"/>
                  <a:pt x="56129" y="112259"/>
                </a:cubicBezTo>
                <a:close/>
                <a:moveTo>
                  <a:pt x="30616" y="35719"/>
                </a:moveTo>
                <a:cubicBezTo>
                  <a:pt x="30616" y="32912"/>
                  <a:pt x="32912" y="30616"/>
                  <a:pt x="35719" y="30616"/>
                </a:cubicBezTo>
                <a:lnTo>
                  <a:pt x="45924" y="30616"/>
                </a:lnTo>
                <a:cubicBezTo>
                  <a:pt x="48731" y="30616"/>
                  <a:pt x="51027" y="32912"/>
                  <a:pt x="51027" y="35719"/>
                </a:cubicBezTo>
                <a:lnTo>
                  <a:pt x="51027" y="45924"/>
                </a:lnTo>
                <a:cubicBezTo>
                  <a:pt x="51027" y="48731"/>
                  <a:pt x="48731" y="51027"/>
                  <a:pt x="45924" y="51027"/>
                </a:cubicBezTo>
                <a:lnTo>
                  <a:pt x="35719" y="51027"/>
                </a:lnTo>
                <a:cubicBezTo>
                  <a:pt x="32912" y="51027"/>
                  <a:pt x="30616" y="48731"/>
                  <a:pt x="30616" y="45924"/>
                </a:cubicBezTo>
                <a:lnTo>
                  <a:pt x="30616" y="35719"/>
                </a:lnTo>
                <a:close/>
                <a:moveTo>
                  <a:pt x="76540" y="30616"/>
                </a:moveTo>
                <a:lnTo>
                  <a:pt x="86746" y="30616"/>
                </a:lnTo>
                <a:cubicBezTo>
                  <a:pt x="89552" y="30616"/>
                  <a:pt x="91848" y="32912"/>
                  <a:pt x="91848" y="35719"/>
                </a:cubicBezTo>
                <a:lnTo>
                  <a:pt x="91848" y="45924"/>
                </a:lnTo>
                <a:cubicBezTo>
                  <a:pt x="91848" y="48731"/>
                  <a:pt x="89552" y="51027"/>
                  <a:pt x="86746" y="51027"/>
                </a:cubicBezTo>
                <a:lnTo>
                  <a:pt x="76540" y="51027"/>
                </a:lnTo>
                <a:cubicBezTo>
                  <a:pt x="73734" y="51027"/>
                  <a:pt x="71438" y="48731"/>
                  <a:pt x="71438" y="45924"/>
                </a:cubicBezTo>
                <a:lnTo>
                  <a:pt x="71438" y="35719"/>
                </a:lnTo>
                <a:cubicBezTo>
                  <a:pt x="71438" y="32912"/>
                  <a:pt x="73734" y="30616"/>
                  <a:pt x="76540" y="30616"/>
                </a:cubicBezTo>
                <a:close/>
                <a:moveTo>
                  <a:pt x="30616" y="76540"/>
                </a:moveTo>
                <a:cubicBezTo>
                  <a:pt x="30616" y="73734"/>
                  <a:pt x="32912" y="71438"/>
                  <a:pt x="35719" y="71438"/>
                </a:cubicBezTo>
                <a:lnTo>
                  <a:pt x="45924" y="71438"/>
                </a:lnTo>
                <a:cubicBezTo>
                  <a:pt x="48731" y="71438"/>
                  <a:pt x="51027" y="73734"/>
                  <a:pt x="51027" y="76540"/>
                </a:cubicBezTo>
                <a:lnTo>
                  <a:pt x="51027" y="86746"/>
                </a:lnTo>
                <a:cubicBezTo>
                  <a:pt x="51027" y="89552"/>
                  <a:pt x="48731" y="91848"/>
                  <a:pt x="45924" y="91848"/>
                </a:cubicBezTo>
                <a:lnTo>
                  <a:pt x="35719" y="91848"/>
                </a:lnTo>
                <a:cubicBezTo>
                  <a:pt x="32912" y="91848"/>
                  <a:pt x="30616" y="89552"/>
                  <a:pt x="30616" y="86746"/>
                </a:cubicBezTo>
                <a:lnTo>
                  <a:pt x="30616" y="76540"/>
                </a:lnTo>
                <a:close/>
                <a:moveTo>
                  <a:pt x="76540" y="71438"/>
                </a:moveTo>
                <a:lnTo>
                  <a:pt x="86746" y="71438"/>
                </a:lnTo>
                <a:cubicBezTo>
                  <a:pt x="89552" y="71438"/>
                  <a:pt x="91848" y="73734"/>
                  <a:pt x="91848" y="76540"/>
                </a:cubicBezTo>
                <a:lnTo>
                  <a:pt x="91848" y="86746"/>
                </a:lnTo>
                <a:cubicBezTo>
                  <a:pt x="91848" y="89552"/>
                  <a:pt x="89552" y="91848"/>
                  <a:pt x="86746" y="91848"/>
                </a:cubicBezTo>
                <a:lnTo>
                  <a:pt x="76540" y="91848"/>
                </a:lnTo>
                <a:cubicBezTo>
                  <a:pt x="73734" y="91848"/>
                  <a:pt x="71438" y="89552"/>
                  <a:pt x="71438" y="86746"/>
                </a:cubicBezTo>
                <a:lnTo>
                  <a:pt x="71438" y="76540"/>
                </a:lnTo>
                <a:cubicBezTo>
                  <a:pt x="71438" y="73734"/>
                  <a:pt x="73734" y="71438"/>
                  <a:pt x="76540" y="71438"/>
                </a:cubicBezTo>
                <a:close/>
              </a:path>
            </a:pathLst>
          </a:cu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2"/>
          <p:cNvSpPr/>
          <p:nvPr/>
        </p:nvSpPr>
        <p:spPr>
          <a:xfrm>
            <a:off x="8773489" y="2335115"/>
            <a:ext cx="1034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86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B2B / B2Edu</a:t>
            </a:r>
            <a:endParaRPr b="0" i="0" sz="1600" u="none" cap="none" strike="noStrike"/>
          </a:p>
        </p:txBody>
      </p:sp>
      <p:sp>
        <p:nvSpPr>
          <p:cNvPr id="383" name="Google Shape;383;p12"/>
          <p:cNvSpPr/>
          <p:nvPr/>
        </p:nvSpPr>
        <p:spPr>
          <a:xfrm>
            <a:off x="8496800" y="2746350"/>
            <a:ext cx="3022200" cy="69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43">
              <a:solidFill>
                <a:srgbClr val="F1F5F9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43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Продажа лицензий школам, вузам и образовательным центрам по модели B2B / B2Edu.</a:t>
            </a:r>
            <a:endParaRPr sz="1243">
              <a:solidFill>
                <a:srgbClr val="F1F5F9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43">
              <a:solidFill>
                <a:srgbClr val="F1F5F9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84" name="Google Shape;384;p12"/>
          <p:cNvSpPr/>
          <p:nvPr/>
        </p:nvSpPr>
        <p:spPr>
          <a:xfrm>
            <a:off x="8347125" y="3932888"/>
            <a:ext cx="3283857" cy="1764506"/>
          </a:xfrm>
          <a:custGeom>
            <a:rect b="b" l="l" r="r" t="t"/>
            <a:pathLst>
              <a:path extrusionOk="0" h="1061357" w="3283857">
                <a:moveTo>
                  <a:pt x="108853" y="0"/>
                </a:moveTo>
                <a:lnTo>
                  <a:pt x="3175004" y="0"/>
                </a:lnTo>
                <a:cubicBezTo>
                  <a:pt x="3235122" y="0"/>
                  <a:pt x="3283857" y="48735"/>
                  <a:pt x="3283857" y="108853"/>
                </a:cubicBezTo>
                <a:lnTo>
                  <a:pt x="3283857" y="952504"/>
                </a:lnTo>
                <a:cubicBezTo>
                  <a:pt x="3283857" y="1012622"/>
                  <a:pt x="3235122" y="1061357"/>
                  <a:pt x="3175004" y="1061357"/>
                </a:cubicBezTo>
                <a:lnTo>
                  <a:pt x="108853" y="1061357"/>
                </a:lnTo>
                <a:cubicBezTo>
                  <a:pt x="48735" y="1061357"/>
                  <a:pt x="0" y="1012622"/>
                  <a:pt x="0" y="952504"/>
                </a:cubicBezTo>
                <a:lnTo>
                  <a:pt x="0" y="108853"/>
                </a:lnTo>
                <a:cubicBezTo>
                  <a:pt x="0" y="48775"/>
                  <a:pt x="48775" y="0"/>
                  <a:pt x="108853" y="0"/>
                </a:cubicBezTo>
                <a:close/>
              </a:path>
            </a:pathLst>
          </a:custGeom>
          <a:gradFill>
            <a:gsLst>
              <a:gs pos="0">
                <a:srgbClr val="10B981">
                  <a:alpha val="20000"/>
                </a:srgbClr>
              </a:gs>
              <a:gs pos="100000">
                <a:srgbClr val="22D3EE">
                  <a:alpha val="20000"/>
                </a:srgbClr>
              </a:gs>
            </a:gsLst>
            <a:lin ang="0" scaled="0"/>
          </a:gradFill>
          <a:ln cap="flat" cmpd="sng" w="12700">
            <a:solidFill>
              <a:srgbClr val="10B981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2"/>
          <p:cNvSpPr/>
          <p:nvPr/>
        </p:nvSpPr>
        <p:spPr>
          <a:xfrm>
            <a:off x="8519489" y="4207947"/>
            <a:ext cx="163286" cy="163286"/>
          </a:xfrm>
          <a:custGeom>
            <a:rect b="b" l="l" r="r" t="t"/>
            <a:pathLst>
              <a:path extrusionOk="0" h="163286" w="163286">
                <a:moveTo>
                  <a:pt x="74148" y="1658"/>
                </a:moveTo>
                <a:cubicBezTo>
                  <a:pt x="78900" y="-542"/>
                  <a:pt x="84386" y="-542"/>
                  <a:pt x="89137" y="1658"/>
                </a:cubicBezTo>
                <a:lnTo>
                  <a:pt x="158853" y="33869"/>
                </a:lnTo>
                <a:cubicBezTo>
                  <a:pt x="161564" y="35113"/>
                  <a:pt x="163286" y="37824"/>
                  <a:pt x="163286" y="40821"/>
                </a:cubicBezTo>
                <a:cubicBezTo>
                  <a:pt x="163286" y="43819"/>
                  <a:pt x="161564" y="46530"/>
                  <a:pt x="158853" y="47774"/>
                </a:cubicBezTo>
                <a:lnTo>
                  <a:pt x="89137" y="79984"/>
                </a:lnTo>
                <a:cubicBezTo>
                  <a:pt x="84386" y="82185"/>
                  <a:pt x="78900" y="82185"/>
                  <a:pt x="74148" y="79984"/>
                </a:cubicBezTo>
                <a:lnTo>
                  <a:pt x="4433" y="47774"/>
                </a:lnTo>
                <a:cubicBezTo>
                  <a:pt x="1722" y="46498"/>
                  <a:pt x="0" y="43787"/>
                  <a:pt x="0" y="40821"/>
                </a:cubicBezTo>
                <a:cubicBezTo>
                  <a:pt x="0" y="37855"/>
                  <a:pt x="1722" y="35113"/>
                  <a:pt x="4433" y="33869"/>
                </a:cubicBezTo>
                <a:lnTo>
                  <a:pt x="74148" y="1658"/>
                </a:lnTo>
                <a:close/>
                <a:moveTo>
                  <a:pt x="15340" y="69652"/>
                </a:moveTo>
                <a:lnTo>
                  <a:pt x="67738" y="93857"/>
                </a:lnTo>
                <a:cubicBezTo>
                  <a:pt x="76572" y="97940"/>
                  <a:pt x="86746" y="97940"/>
                  <a:pt x="95580" y="93857"/>
                </a:cubicBezTo>
                <a:lnTo>
                  <a:pt x="147978" y="69652"/>
                </a:lnTo>
                <a:lnTo>
                  <a:pt x="158853" y="74690"/>
                </a:lnTo>
                <a:cubicBezTo>
                  <a:pt x="161564" y="75934"/>
                  <a:pt x="163286" y="78645"/>
                  <a:pt x="163286" y="81643"/>
                </a:cubicBezTo>
                <a:cubicBezTo>
                  <a:pt x="163286" y="84641"/>
                  <a:pt x="161564" y="87351"/>
                  <a:pt x="158853" y="88595"/>
                </a:cubicBezTo>
                <a:lnTo>
                  <a:pt x="89137" y="120806"/>
                </a:lnTo>
                <a:cubicBezTo>
                  <a:pt x="84386" y="123006"/>
                  <a:pt x="78900" y="123006"/>
                  <a:pt x="74148" y="120806"/>
                </a:cubicBezTo>
                <a:lnTo>
                  <a:pt x="4433" y="88595"/>
                </a:lnTo>
                <a:cubicBezTo>
                  <a:pt x="1722" y="87320"/>
                  <a:pt x="0" y="84609"/>
                  <a:pt x="0" y="81643"/>
                </a:cubicBezTo>
                <a:cubicBezTo>
                  <a:pt x="0" y="78677"/>
                  <a:pt x="1722" y="75934"/>
                  <a:pt x="4433" y="74690"/>
                </a:cubicBezTo>
                <a:lnTo>
                  <a:pt x="15308" y="69652"/>
                </a:lnTo>
                <a:close/>
                <a:moveTo>
                  <a:pt x="4433" y="115512"/>
                </a:moveTo>
                <a:lnTo>
                  <a:pt x="15308" y="110473"/>
                </a:lnTo>
                <a:lnTo>
                  <a:pt x="67706" y="134679"/>
                </a:lnTo>
                <a:cubicBezTo>
                  <a:pt x="76540" y="138761"/>
                  <a:pt x="86714" y="138761"/>
                  <a:pt x="95548" y="134679"/>
                </a:cubicBezTo>
                <a:lnTo>
                  <a:pt x="147946" y="110473"/>
                </a:lnTo>
                <a:lnTo>
                  <a:pt x="158821" y="115512"/>
                </a:lnTo>
                <a:cubicBezTo>
                  <a:pt x="161532" y="116756"/>
                  <a:pt x="163254" y="119466"/>
                  <a:pt x="163254" y="122464"/>
                </a:cubicBezTo>
                <a:cubicBezTo>
                  <a:pt x="163254" y="125462"/>
                  <a:pt x="161532" y="128173"/>
                  <a:pt x="158821" y="129417"/>
                </a:cubicBezTo>
                <a:lnTo>
                  <a:pt x="89106" y="161627"/>
                </a:lnTo>
                <a:cubicBezTo>
                  <a:pt x="84354" y="163828"/>
                  <a:pt x="78868" y="163828"/>
                  <a:pt x="74116" y="161627"/>
                </a:cubicBezTo>
                <a:lnTo>
                  <a:pt x="4433" y="129417"/>
                </a:lnTo>
                <a:cubicBezTo>
                  <a:pt x="1722" y="128141"/>
                  <a:pt x="0" y="125430"/>
                  <a:pt x="0" y="122464"/>
                </a:cubicBezTo>
                <a:cubicBezTo>
                  <a:pt x="0" y="119498"/>
                  <a:pt x="1722" y="116756"/>
                  <a:pt x="4433" y="115512"/>
                </a:cubicBezTo>
                <a:close/>
              </a:path>
            </a:pathLst>
          </a:cu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2"/>
          <p:cNvSpPr/>
          <p:nvPr/>
        </p:nvSpPr>
        <p:spPr>
          <a:xfrm>
            <a:off x="8773506" y="4162586"/>
            <a:ext cx="20727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86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В2С</a:t>
            </a:r>
            <a:endParaRPr b="0" i="0" sz="1600" u="none" cap="none" strike="noStrike"/>
          </a:p>
        </p:txBody>
      </p:sp>
      <p:sp>
        <p:nvSpPr>
          <p:cNvPr id="387" name="Google Shape;387;p12"/>
          <p:cNvSpPr/>
          <p:nvPr/>
        </p:nvSpPr>
        <p:spPr>
          <a:xfrm>
            <a:off x="8462000" y="4554014"/>
            <a:ext cx="3057000" cy="65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Подписка на расширенный функционал и дополнительные образовательные инструменты.</a:t>
            </a:r>
            <a:endParaRPr i="0" sz="12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88" name="Google Shape;388;p12"/>
          <p:cNvSpPr/>
          <p:nvPr/>
        </p:nvSpPr>
        <p:spPr>
          <a:xfrm>
            <a:off x="8156625" y="6078674"/>
            <a:ext cx="3664857" cy="600688"/>
          </a:xfrm>
          <a:custGeom>
            <a:rect b="b" l="l" r="r" t="t"/>
            <a:pathLst>
              <a:path extrusionOk="0" h="734786" w="3664857">
                <a:moveTo>
                  <a:pt x="108859" y="0"/>
                </a:moveTo>
                <a:lnTo>
                  <a:pt x="3555999" y="0"/>
                </a:lnTo>
                <a:cubicBezTo>
                  <a:pt x="3616120" y="0"/>
                  <a:pt x="3664857" y="48738"/>
                  <a:pt x="3664857" y="108859"/>
                </a:cubicBezTo>
                <a:lnTo>
                  <a:pt x="3664857" y="625927"/>
                </a:lnTo>
                <a:cubicBezTo>
                  <a:pt x="3664857" y="686048"/>
                  <a:pt x="3616120" y="734786"/>
                  <a:pt x="3555999" y="734786"/>
                </a:cubicBezTo>
                <a:lnTo>
                  <a:pt x="108859" y="734786"/>
                </a:lnTo>
                <a:cubicBezTo>
                  <a:pt x="48738" y="734786"/>
                  <a:pt x="0" y="686048"/>
                  <a:pt x="0" y="625927"/>
                </a:cubicBezTo>
                <a:lnTo>
                  <a:pt x="0" y="108859"/>
                </a:lnTo>
                <a:cubicBezTo>
                  <a:pt x="0" y="48778"/>
                  <a:pt x="48778" y="0"/>
                  <a:pt x="108859" y="0"/>
                </a:cubicBezTo>
                <a:close/>
              </a:path>
            </a:pathLst>
          </a:custGeom>
          <a:gradFill>
            <a:gsLst>
              <a:gs pos="0">
                <a:srgbClr val="10B981">
                  <a:alpha val="20000"/>
                </a:srgbClr>
              </a:gs>
              <a:gs pos="100000">
                <a:srgbClr val="22D3EE">
                  <a:alpha val="20000"/>
                </a:srgbClr>
              </a:gs>
            </a:gsLst>
            <a:lin ang="0" scaled="0"/>
          </a:gradFill>
          <a:ln cap="flat" cmpd="sng" w="12700">
            <a:solidFill>
              <a:srgbClr val="10B981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2"/>
          <p:cNvSpPr/>
          <p:nvPr/>
        </p:nvSpPr>
        <p:spPr>
          <a:xfrm>
            <a:off x="8346943" y="6188509"/>
            <a:ext cx="32871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43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Обучение происходит быстрее и нагляднее, чем при изучении теории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kimi-web-img.moonshot.cn/img/img.freepik.com/fe2c66b457cbf04f12fbaf4768b51b48afe737a0.jpg" id="395" name="Google Shape;395;p13"/>
          <p:cNvPicPr preferRelativeResize="0"/>
          <p:nvPr/>
        </p:nvPicPr>
        <p:blipFill rotWithShape="1">
          <a:blip r:embed="rId3">
            <a:alphaModFix amt="30000"/>
          </a:blip>
          <a:srcRect b="17882" l="0" r="0" t="17882"/>
          <a:stretch/>
        </p:blipFill>
        <p:spPr>
          <a:xfrm>
            <a:off x="0" y="0"/>
            <a:ext cx="12192000" cy="6858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396" name="Google Shape;396;p13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F172A">
                  <a:alpha val="94901"/>
                </a:srgbClr>
              </a:gs>
              <a:gs pos="50000">
                <a:srgbClr val="0F172A">
                  <a:alpha val="90196"/>
                </a:srgbClr>
              </a:gs>
              <a:gs pos="100000">
                <a:srgbClr val="3B82F6">
                  <a:alpha val="20000"/>
                </a:srgbClr>
              </a:gs>
            </a:gsLst>
            <a:lin ang="2700000" scaled="0"/>
          </a:gradFill>
          <a:ln>
            <a:noFill/>
          </a:ln>
        </p:spPr>
      </p:sp>
      <p:sp>
        <p:nvSpPr>
          <p:cNvPr id="397" name="Google Shape;397;p13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ЗАКЛЮЧЕНИЕ</a:t>
            </a:r>
            <a:endParaRPr b="0" i="0" sz="1600" u="none" cap="none" strike="noStrike"/>
          </a:p>
        </p:txBody>
      </p:sp>
      <p:sp>
        <p:nvSpPr>
          <p:cNvPr id="398" name="Google Shape;398;p13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Наша миссия</a:t>
            </a:r>
            <a:endParaRPr b="0" i="0" sz="1600" u="none" cap="none" strike="noStrike"/>
          </a:p>
        </p:txBody>
      </p:sp>
      <p:sp>
        <p:nvSpPr>
          <p:cNvPr id="399" name="Google Shape;399;p13"/>
          <p:cNvSpPr/>
          <p:nvPr/>
        </p:nvSpPr>
        <p:spPr>
          <a:xfrm>
            <a:off x="381000" y="1295400"/>
            <a:ext cx="914400" cy="57150"/>
          </a:xfrm>
          <a:custGeom>
            <a:rect b="b" l="l" r="r" t="t"/>
            <a:pathLst>
              <a:path extrusionOk="0" h="57150" w="914400">
                <a:moveTo>
                  <a:pt x="0" y="0"/>
                </a:moveTo>
                <a:lnTo>
                  <a:pt x="914400" y="0"/>
                </a:lnTo>
                <a:lnTo>
                  <a:pt x="9144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3B82F6"/>
              </a:gs>
              <a:gs pos="100000">
                <a:srgbClr val="22D3EE"/>
              </a:gs>
            </a:gsLst>
            <a:lin ang="0" scaled="0"/>
          </a:gradFill>
          <a:ln>
            <a:noFill/>
          </a:ln>
        </p:spPr>
      </p:sp>
      <p:sp>
        <p:nvSpPr>
          <p:cNvPr id="400" name="Google Shape;400;p13"/>
          <p:cNvSpPr/>
          <p:nvPr/>
        </p:nvSpPr>
        <p:spPr>
          <a:xfrm>
            <a:off x="385763" y="1585913"/>
            <a:ext cx="5553075" cy="4886325"/>
          </a:xfrm>
          <a:custGeom>
            <a:rect b="b" l="l" r="r" t="t"/>
            <a:pathLst>
              <a:path extrusionOk="0" h="4886325" w="5553075">
                <a:moveTo>
                  <a:pt x="152404" y="0"/>
                </a:moveTo>
                <a:lnTo>
                  <a:pt x="5400671" y="0"/>
                </a:lnTo>
                <a:cubicBezTo>
                  <a:pt x="5484841" y="0"/>
                  <a:pt x="5553075" y="68234"/>
                  <a:pt x="5553075" y="152404"/>
                </a:cubicBezTo>
                <a:lnTo>
                  <a:pt x="5553075" y="4733921"/>
                </a:lnTo>
                <a:cubicBezTo>
                  <a:pt x="5553075" y="4818091"/>
                  <a:pt x="5484841" y="4886325"/>
                  <a:pt x="5400671" y="4886325"/>
                </a:cubicBezTo>
                <a:lnTo>
                  <a:pt x="152404" y="4886325"/>
                </a:lnTo>
                <a:cubicBezTo>
                  <a:pt x="68234" y="4886325"/>
                  <a:pt x="0" y="4818091"/>
                  <a:pt x="0" y="4733921"/>
                </a:cubicBezTo>
                <a:lnTo>
                  <a:pt x="0" y="152404"/>
                </a:lnTo>
                <a:cubicBezTo>
                  <a:pt x="0" y="68290"/>
                  <a:pt x="68290" y="0"/>
                  <a:pt x="152404" y="0"/>
                </a:cubicBezTo>
                <a:close/>
              </a:path>
            </a:pathLst>
          </a:custGeom>
          <a:gradFill>
            <a:gsLst>
              <a:gs pos="0">
                <a:srgbClr val="1E293B">
                  <a:alpha val="90196"/>
                </a:srgbClr>
              </a:gs>
              <a:gs pos="100000">
                <a:srgbClr val="0F172A">
                  <a:alpha val="90196"/>
                </a:srgbClr>
              </a:gs>
            </a:gsLst>
            <a:lin ang="2700000" scaled="0"/>
          </a:gra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3"/>
          <p:cNvSpPr/>
          <p:nvPr/>
        </p:nvSpPr>
        <p:spPr>
          <a:xfrm>
            <a:off x="619125" y="1819275"/>
            <a:ext cx="457200" cy="457200"/>
          </a:xfrm>
          <a:custGeom>
            <a:rect b="b" l="l" r="r" t="t"/>
            <a:pathLst>
              <a:path extrusionOk="0" h="457200" w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>
            <a:gsLst>
              <a:gs pos="0">
                <a:srgbClr val="3B82F6"/>
              </a:gs>
              <a:gs pos="100000">
                <a:srgbClr val="22D3EE"/>
              </a:gs>
            </a:gsLst>
            <a:lin ang="27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3"/>
          <p:cNvSpPr/>
          <p:nvPr/>
        </p:nvSpPr>
        <p:spPr>
          <a:xfrm>
            <a:off x="752475" y="1952625"/>
            <a:ext cx="190500" cy="190500"/>
          </a:xfrm>
          <a:custGeom>
            <a:rect b="b" l="l" r="r" t="t"/>
            <a:pathLst>
              <a:path extrusionOk="0" h="190500" w="190500">
                <a:moveTo>
                  <a:pt x="166688" y="95250"/>
                </a:moveTo>
                <a:cubicBezTo>
                  <a:pt x="166688" y="55823"/>
                  <a:pt x="134677" y="23812"/>
                  <a:pt x="95250" y="23812"/>
                </a:cubicBezTo>
                <a:cubicBezTo>
                  <a:pt x="55823" y="23812"/>
                  <a:pt x="23813" y="55823"/>
                  <a:pt x="23812" y="95250"/>
                </a:cubicBezTo>
                <a:cubicBezTo>
                  <a:pt x="23812" y="134677"/>
                  <a:pt x="55823" y="166688"/>
                  <a:pt x="95250" y="166688"/>
                </a:cubicBezTo>
                <a:cubicBezTo>
                  <a:pt x="134677" y="166688"/>
                  <a:pt x="166688" y="134677"/>
                  <a:pt x="166688" y="95250"/>
                </a:cubicBezTo>
                <a:close/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  <a:moveTo>
                  <a:pt x="95250" y="125016"/>
                </a:moveTo>
                <a:cubicBezTo>
                  <a:pt x="111678" y="125016"/>
                  <a:pt x="125016" y="111678"/>
                  <a:pt x="125016" y="95250"/>
                </a:cubicBezTo>
                <a:cubicBezTo>
                  <a:pt x="125016" y="78822"/>
                  <a:pt x="111678" y="65484"/>
                  <a:pt x="95250" y="65484"/>
                </a:cubicBezTo>
                <a:cubicBezTo>
                  <a:pt x="78822" y="65484"/>
                  <a:pt x="65484" y="78822"/>
                  <a:pt x="65484" y="95250"/>
                </a:cubicBezTo>
                <a:cubicBezTo>
                  <a:pt x="65484" y="111678"/>
                  <a:pt x="78822" y="125016"/>
                  <a:pt x="95250" y="125016"/>
                </a:cubicBezTo>
                <a:close/>
                <a:moveTo>
                  <a:pt x="95250" y="41672"/>
                </a:moveTo>
                <a:cubicBezTo>
                  <a:pt x="124821" y="41672"/>
                  <a:pt x="148828" y="65679"/>
                  <a:pt x="148828" y="95250"/>
                </a:cubicBezTo>
                <a:cubicBezTo>
                  <a:pt x="148828" y="124821"/>
                  <a:pt x="124821" y="148828"/>
                  <a:pt x="95250" y="148828"/>
                </a:cubicBezTo>
                <a:cubicBezTo>
                  <a:pt x="65679" y="148828"/>
                  <a:pt x="41672" y="124821"/>
                  <a:pt x="41672" y="95250"/>
                </a:cubicBezTo>
                <a:cubicBezTo>
                  <a:pt x="41672" y="65679"/>
                  <a:pt x="65679" y="41672"/>
                  <a:pt x="95250" y="41672"/>
                </a:cubicBezTo>
                <a:close/>
                <a:moveTo>
                  <a:pt x="83344" y="95250"/>
                </a:moveTo>
                <a:cubicBezTo>
                  <a:pt x="83344" y="88679"/>
                  <a:pt x="88679" y="83344"/>
                  <a:pt x="95250" y="83344"/>
                </a:cubicBezTo>
                <a:cubicBezTo>
                  <a:pt x="101821" y="83344"/>
                  <a:pt x="107156" y="88679"/>
                  <a:pt x="107156" y="95250"/>
                </a:cubicBezTo>
                <a:cubicBezTo>
                  <a:pt x="107156" y="101821"/>
                  <a:pt x="101821" y="107156"/>
                  <a:pt x="95250" y="107156"/>
                </a:cubicBezTo>
                <a:cubicBezTo>
                  <a:pt x="88679" y="107156"/>
                  <a:pt x="83344" y="101821"/>
                  <a:pt x="83344" y="9525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3"/>
          <p:cNvSpPr/>
          <p:nvPr/>
        </p:nvSpPr>
        <p:spPr>
          <a:xfrm>
            <a:off x="1190625" y="1895475"/>
            <a:ext cx="9620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Миссия</a:t>
            </a:r>
            <a:endParaRPr b="0" i="0" sz="1600" u="none" cap="none" strike="noStrike"/>
          </a:p>
        </p:txBody>
      </p:sp>
      <p:sp>
        <p:nvSpPr>
          <p:cNvPr id="404" name="Google Shape;404;p13"/>
          <p:cNvSpPr/>
          <p:nvPr/>
        </p:nvSpPr>
        <p:spPr>
          <a:xfrm>
            <a:off x="619125" y="2428875"/>
            <a:ext cx="516255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Мы не просто объясняем школьникам, что такое DevOps — мы даем им возможность </a:t>
            </a:r>
            <a:r>
              <a:rPr b="0" i="0" lang="en-US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за один день прожить логику этой профессии </a:t>
            </a:r>
            <a:r>
              <a:rPr b="0" i="0" lang="en-US" sz="1200" u="none" cap="none" strike="noStrike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через принятие инженерных и управленческих решений, их последствия и ответственность за цифровой продукт.</a:t>
            </a:r>
            <a:endParaRPr b="0" i="0" sz="1600" u="none" cap="none" strike="noStrike"/>
          </a:p>
        </p:txBody>
      </p:sp>
      <p:sp>
        <p:nvSpPr>
          <p:cNvPr id="405" name="Google Shape;405;p13"/>
          <p:cNvSpPr/>
          <p:nvPr/>
        </p:nvSpPr>
        <p:spPr>
          <a:xfrm>
            <a:off x="623888" y="3576638"/>
            <a:ext cx="5076825" cy="1057275"/>
          </a:xfrm>
          <a:custGeom>
            <a:rect b="b" l="l" r="r" t="t"/>
            <a:pathLst>
              <a:path extrusionOk="0" h="1057275" w="5076825">
                <a:moveTo>
                  <a:pt x="114302" y="0"/>
                </a:moveTo>
                <a:lnTo>
                  <a:pt x="4962523" y="0"/>
                </a:lnTo>
                <a:cubicBezTo>
                  <a:pt x="5025650" y="0"/>
                  <a:pt x="5076825" y="51175"/>
                  <a:pt x="5076825" y="114302"/>
                </a:cubicBezTo>
                <a:lnTo>
                  <a:pt x="5076825" y="942973"/>
                </a:lnTo>
                <a:cubicBezTo>
                  <a:pt x="5076825" y="1006100"/>
                  <a:pt x="5025650" y="1057275"/>
                  <a:pt x="4962523" y="1057275"/>
                </a:cubicBezTo>
                <a:lnTo>
                  <a:pt x="114302" y="1057275"/>
                </a:lnTo>
                <a:cubicBezTo>
                  <a:pt x="51175" y="1057275"/>
                  <a:pt x="0" y="1006100"/>
                  <a:pt x="0" y="942973"/>
                </a:cubicBezTo>
                <a:lnTo>
                  <a:pt x="0" y="114302"/>
                </a:lnTo>
                <a:cubicBezTo>
                  <a:pt x="0" y="51175"/>
                  <a:pt x="51175" y="0"/>
                  <a:pt x="114302" y="0"/>
                </a:cubicBezTo>
                <a:close/>
              </a:path>
            </a:pathLst>
          </a:custGeom>
          <a:solidFill>
            <a:srgbClr val="0F172A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3"/>
          <p:cNvSpPr/>
          <p:nvPr/>
        </p:nvSpPr>
        <p:spPr>
          <a:xfrm>
            <a:off x="781050" y="3733800"/>
            <a:ext cx="48387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Наша цель — сделать DevOps Startup </a:t>
            </a:r>
            <a:r>
              <a:rPr b="1" i="0" lang="en-US" sz="1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полноценным инструментом профориентации</a:t>
            </a:r>
            <a:r>
              <a:rPr b="0" i="0" lang="en-US" sz="120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для школьников, позволяющим быстро и наглядно понять суть профессии.</a:t>
            </a:r>
            <a:endParaRPr b="0" i="0" sz="1600" u="none" cap="none" strike="noStrike"/>
          </a:p>
        </p:txBody>
      </p:sp>
      <p:sp>
        <p:nvSpPr>
          <p:cNvPr id="407" name="Google Shape;407;p13"/>
          <p:cNvSpPr/>
          <p:nvPr/>
        </p:nvSpPr>
        <p:spPr>
          <a:xfrm>
            <a:off x="6253163" y="1585913"/>
            <a:ext cx="5553075" cy="4886325"/>
          </a:xfrm>
          <a:custGeom>
            <a:rect b="b" l="l" r="r" t="t"/>
            <a:pathLst>
              <a:path extrusionOk="0" h="4886325" w="5553075">
                <a:moveTo>
                  <a:pt x="152404" y="0"/>
                </a:moveTo>
                <a:lnTo>
                  <a:pt x="5400671" y="0"/>
                </a:lnTo>
                <a:cubicBezTo>
                  <a:pt x="5484841" y="0"/>
                  <a:pt x="5553075" y="68234"/>
                  <a:pt x="5553075" y="152404"/>
                </a:cubicBezTo>
                <a:lnTo>
                  <a:pt x="5553075" y="4733921"/>
                </a:lnTo>
                <a:cubicBezTo>
                  <a:pt x="5553075" y="4818091"/>
                  <a:pt x="5484841" y="4886325"/>
                  <a:pt x="5400671" y="4886325"/>
                </a:cubicBezTo>
                <a:lnTo>
                  <a:pt x="152404" y="4886325"/>
                </a:lnTo>
                <a:cubicBezTo>
                  <a:pt x="68234" y="4886325"/>
                  <a:pt x="0" y="4818091"/>
                  <a:pt x="0" y="4733921"/>
                </a:cubicBezTo>
                <a:lnTo>
                  <a:pt x="0" y="152404"/>
                </a:lnTo>
                <a:cubicBezTo>
                  <a:pt x="0" y="68290"/>
                  <a:pt x="68290" y="0"/>
                  <a:pt x="152404" y="0"/>
                </a:cubicBezTo>
                <a:close/>
              </a:path>
            </a:pathLst>
          </a:custGeom>
          <a:gradFill>
            <a:gsLst>
              <a:gs pos="0">
                <a:srgbClr val="1E293B">
                  <a:alpha val="90196"/>
                </a:srgbClr>
              </a:gs>
              <a:gs pos="100000">
                <a:srgbClr val="0F172A">
                  <a:alpha val="90196"/>
                </a:srgbClr>
              </a:gs>
            </a:gsLst>
            <a:lin ang="2700000" scaled="0"/>
          </a:gra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13"/>
          <p:cNvSpPr/>
          <p:nvPr/>
        </p:nvSpPr>
        <p:spPr>
          <a:xfrm>
            <a:off x="6486525" y="1819275"/>
            <a:ext cx="457200" cy="457200"/>
          </a:xfrm>
          <a:custGeom>
            <a:rect b="b" l="l" r="r" t="t"/>
            <a:pathLst>
              <a:path extrusionOk="0" h="457200" w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>
            <a:gsLst>
              <a:gs pos="0">
                <a:srgbClr val="10B981"/>
              </a:gs>
              <a:gs pos="100000">
                <a:srgbClr val="22D3EE"/>
              </a:gs>
            </a:gsLst>
            <a:lin ang="27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3"/>
          <p:cNvSpPr/>
          <p:nvPr/>
        </p:nvSpPr>
        <p:spPr>
          <a:xfrm>
            <a:off x="6607969" y="1952625"/>
            <a:ext cx="214313" cy="190500"/>
          </a:xfrm>
          <a:custGeom>
            <a:rect b="b" l="l" r="r" t="t"/>
            <a:pathLst>
              <a:path extrusionOk="0" h="190500" w="214313">
                <a:moveTo>
                  <a:pt x="100050" y="31700"/>
                </a:moveTo>
                <a:lnTo>
                  <a:pt x="56666" y="79921"/>
                </a:lnTo>
                <a:cubicBezTo>
                  <a:pt x="54955" y="81818"/>
                  <a:pt x="55029" y="84758"/>
                  <a:pt x="56852" y="86581"/>
                </a:cubicBezTo>
                <a:cubicBezTo>
                  <a:pt x="68200" y="97929"/>
                  <a:pt x="86618" y="97929"/>
                  <a:pt x="97966" y="86581"/>
                </a:cubicBezTo>
                <a:lnTo>
                  <a:pt x="109798" y="74749"/>
                </a:lnTo>
                <a:cubicBezTo>
                  <a:pt x="111361" y="73186"/>
                  <a:pt x="113333" y="72330"/>
                  <a:pt x="115342" y="72182"/>
                </a:cubicBezTo>
                <a:cubicBezTo>
                  <a:pt x="117872" y="71958"/>
                  <a:pt x="120476" y="72814"/>
                  <a:pt x="122411" y="74749"/>
                </a:cubicBezTo>
                <a:lnTo>
                  <a:pt x="188119" y="139898"/>
                </a:lnTo>
                <a:lnTo>
                  <a:pt x="214313" y="119063"/>
                </a:lnTo>
                <a:lnTo>
                  <a:pt x="214313" y="11906"/>
                </a:lnTo>
                <a:lnTo>
                  <a:pt x="172641" y="35719"/>
                </a:lnTo>
                <a:lnTo>
                  <a:pt x="163785" y="29803"/>
                </a:lnTo>
                <a:cubicBezTo>
                  <a:pt x="157907" y="25896"/>
                  <a:pt x="151023" y="23812"/>
                  <a:pt x="143954" y="23812"/>
                </a:cubicBezTo>
                <a:lnTo>
                  <a:pt x="117760" y="23812"/>
                </a:lnTo>
                <a:cubicBezTo>
                  <a:pt x="117351" y="23812"/>
                  <a:pt x="116904" y="23812"/>
                  <a:pt x="116495" y="23850"/>
                </a:cubicBezTo>
                <a:cubicBezTo>
                  <a:pt x="110207" y="24185"/>
                  <a:pt x="104291" y="27012"/>
                  <a:pt x="100050" y="31700"/>
                </a:cubicBezTo>
                <a:close/>
                <a:moveTo>
                  <a:pt x="43383" y="67977"/>
                </a:moveTo>
                <a:lnTo>
                  <a:pt x="83121" y="23812"/>
                </a:lnTo>
                <a:lnTo>
                  <a:pt x="68387" y="23812"/>
                </a:lnTo>
                <a:cubicBezTo>
                  <a:pt x="58899" y="23812"/>
                  <a:pt x="49820" y="27570"/>
                  <a:pt x="43123" y="34268"/>
                </a:cubicBezTo>
                <a:lnTo>
                  <a:pt x="41672" y="35719"/>
                </a:lnTo>
                <a:lnTo>
                  <a:pt x="0" y="11906"/>
                </a:lnTo>
                <a:lnTo>
                  <a:pt x="0" y="119063"/>
                </a:lnTo>
                <a:lnTo>
                  <a:pt x="58192" y="167543"/>
                </a:lnTo>
                <a:cubicBezTo>
                  <a:pt x="66749" y="174687"/>
                  <a:pt x="77539" y="178594"/>
                  <a:pt x="88664" y="178594"/>
                </a:cubicBezTo>
                <a:lnTo>
                  <a:pt x="94506" y="178594"/>
                </a:lnTo>
                <a:lnTo>
                  <a:pt x="91901" y="175989"/>
                </a:lnTo>
                <a:cubicBezTo>
                  <a:pt x="88404" y="172492"/>
                  <a:pt x="88404" y="166836"/>
                  <a:pt x="91901" y="163376"/>
                </a:cubicBezTo>
                <a:cubicBezTo>
                  <a:pt x="95399" y="159916"/>
                  <a:pt x="101054" y="159879"/>
                  <a:pt x="104515" y="163376"/>
                </a:cubicBezTo>
                <a:lnTo>
                  <a:pt x="119769" y="178631"/>
                </a:lnTo>
                <a:lnTo>
                  <a:pt x="123118" y="178631"/>
                </a:lnTo>
                <a:cubicBezTo>
                  <a:pt x="130225" y="178631"/>
                  <a:pt x="137182" y="177031"/>
                  <a:pt x="143508" y="174054"/>
                </a:cubicBezTo>
                <a:lnTo>
                  <a:pt x="133573" y="164083"/>
                </a:lnTo>
                <a:cubicBezTo>
                  <a:pt x="130076" y="160586"/>
                  <a:pt x="130076" y="154930"/>
                  <a:pt x="133573" y="151470"/>
                </a:cubicBezTo>
                <a:cubicBezTo>
                  <a:pt x="137071" y="148010"/>
                  <a:pt x="142726" y="147972"/>
                  <a:pt x="146186" y="151470"/>
                </a:cubicBezTo>
                <a:lnTo>
                  <a:pt x="158093" y="163376"/>
                </a:lnTo>
                <a:lnTo>
                  <a:pt x="164604" y="156865"/>
                </a:lnTo>
                <a:cubicBezTo>
                  <a:pt x="167915" y="153553"/>
                  <a:pt x="168883" y="148754"/>
                  <a:pt x="167432" y="144549"/>
                </a:cubicBezTo>
                <a:lnTo>
                  <a:pt x="116123" y="93650"/>
                </a:lnTo>
                <a:lnTo>
                  <a:pt x="110579" y="99194"/>
                </a:lnTo>
                <a:cubicBezTo>
                  <a:pt x="92236" y="117537"/>
                  <a:pt x="62545" y="117537"/>
                  <a:pt x="44202" y="99194"/>
                </a:cubicBezTo>
                <a:cubicBezTo>
                  <a:pt x="35644" y="90636"/>
                  <a:pt x="35309" y="76907"/>
                  <a:pt x="43383" y="6794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3"/>
          <p:cNvSpPr/>
          <p:nvPr/>
        </p:nvSpPr>
        <p:spPr>
          <a:xfrm>
            <a:off x="7058025" y="1895475"/>
            <a:ext cx="3524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Приглашаем к сотрудничеству</a:t>
            </a:r>
            <a:endParaRPr b="0" i="0" sz="1600" u="none" cap="none" strike="noStrike"/>
          </a:p>
        </p:txBody>
      </p:sp>
      <p:sp>
        <p:nvSpPr>
          <p:cNvPr id="411" name="Google Shape;411;p13"/>
          <p:cNvSpPr/>
          <p:nvPr/>
        </p:nvSpPr>
        <p:spPr>
          <a:xfrm>
            <a:off x="6491288" y="2433638"/>
            <a:ext cx="5076825" cy="847725"/>
          </a:xfrm>
          <a:custGeom>
            <a:rect b="b" l="l" r="r" t="t"/>
            <a:pathLst>
              <a:path extrusionOk="0" h="847725" w="5076825">
                <a:moveTo>
                  <a:pt x="114299" y="0"/>
                </a:moveTo>
                <a:lnTo>
                  <a:pt x="4962526" y="0"/>
                </a:lnTo>
                <a:cubicBezTo>
                  <a:pt x="5025652" y="0"/>
                  <a:pt x="5076825" y="51173"/>
                  <a:pt x="5076825" y="114299"/>
                </a:cubicBezTo>
                <a:lnTo>
                  <a:pt x="5076825" y="733426"/>
                </a:lnTo>
                <a:cubicBezTo>
                  <a:pt x="5076825" y="796552"/>
                  <a:pt x="5025652" y="847725"/>
                  <a:pt x="4962526" y="847725"/>
                </a:cubicBezTo>
                <a:lnTo>
                  <a:pt x="114299" y="847725"/>
                </a:lnTo>
                <a:cubicBezTo>
                  <a:pt x="51216" y="847725"/>
                  <a:pt x="0" y="796509"/>
                  <a:pt x="0" y="733426"/>
                </a:cubicBezTo>
                <a:lnTo>
                  <a:pt x="0" y="114299"/>
                </a:lnTo>
                <a:cubicBezTo>
                  <a:pt x="0" y="51216"/>
                  <a:pt x="51216" y="0"/>
                  <a:pt x="114299" y="0"/>
                </a:cubicBezTo>
                <a:close/>
              </a:path>
            </a:pathLst>
          </a:custGeom>
          <a:solidFill>
            <a:srgbClr val="0F172A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3"/>
          <p:cNvSpPr/>
          <p:nvPr/>
        </p:nvSpPr>
        <p:spPr>
          <a:xfrm>
            <a:off x="6672263" y="2628900"/>
            <a:ext cx="190500" cy="190500"/>
          </a:xfrm>
          <a:custGeom>
            <a:rect b="b" l="l" r="r" t="t"/>
            <a:pathLst>
              <a:path extrusionOk="0" h="190500" w="190500">
                <a:moveTo>
                  <a:pt x="127471" y="3497"/>
                </a:moveTo>
                <a:cubicBezTo>
                  <a:pt x="122820" y="-1153"/>
                  <a:pt x="115267" y="-1153"/>
                  <a:pt x="110617" y="3497"/>
                </a:cubicBezTo>
                <a:cubicBezTo>
                  <a:pt x="105966" y="8148"/>
                  <a:pt x="105966" y="15701"/>
                  <a:pt x="110617" y="20352"/>
                </a:cubicBezTo>
                <a:lnTo>
                  <a:pt x="114114" y="23812"/>
                </a:lnTo>
                <a:lnTo>
                  <a:pt x="10455" y="127471"/>
                </a:lnTo>
                <a:cubicBezTo>
                  <a:pt x="3758" y="134169"/>
                  <a:pt x="0" y="143247"/>
                  <a:pt x="0" y="152735"/>
                </a:cubicBezTo>
                <a:lnTo>
                  <a:pt x="0" y="154781"/>
                </a:lnTo>
                <a:cubicBezTo>
                  <a:pt x="0" y="174501"/>
                  <a:pt x="15999" y="190500"/>
                  <a:pt x="35719" y="190500"/>
                </a:cubicBezTo>
                <a:lnTo>
                  <a:pt x="37765" y="190500"/>
                </a:lnTo>
                <a:cubicBezTo>
                  <a:pt x="47253" y="190500"/>
                  <a:pt x="56331" y="186742"/>
                  <a:pt x="63029" y="180045"/>
                </a:cubicBezTo>
                <a:lnTo>
                  <a:pt x="166688" y="76386"/>
                </a:lnTo>
                <a:lnTo>
                  <a:pt x="170185" y="79883"/>
                </a:lnTo>
                <a:cubicBezTo>
                  <a:pt x="174836" y="84534"/>
                  <a:pt x="182389" y="84534"/>
                  <a:pt x="187040" y="79883"/>
                </a:cubicBezTo>
                <a:cubicBezTo>
                  <a:pt x="191691" y="75233"/>
                  <a:pt x="191691" y="67680"/>
                  <a:pt x="187040" y="63029"/>
                </a:cubicBezTo>
                <a:lnTo>
                  <a:pt x="127508" y="3497"/>
                </a:lnTo>
                <a:close/>
                <a:moveTo>
                  <a:pt x="76386" y="95250"/>
                </a:moveTo>
                <a:lnTo>
                  <a:pt x="130969" y="40667"/>
                </a:lnTo>
                <a:lnTo>
                  <a:pt x="149833" y="59531"/>
                </a:lnTo>
                <a:lnTo>
                  <a:pt x="114114" y="95250"/>
                </a:lnTo>
                <a:lnTo>
                  <a:pt x="76349" y="95250"/>
                </a:lnTo>
                <a:close/>
              </a:path>
            </a:pathLst>
          </a:cu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3"/>
          <p:cNvSpPr/>
          <p:nvPr/>
        </p:nvSpPr>
        <p:spPr>
          <a:xfrm>
            <a:off x="7000875" y="2590800"/>
            <a:ext cx="25908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Протестируйте MVP</a:t>
            </a:r>
            <a:endParaRPr b="0" i="0" sz="1600" u="none" cap="none" strike="noStrike"/>
          </a:p>
        </p:txBody>
      </p:sp>
      <p:sp>
        <p:nvSpPr>
          <p:cNvPr id="414" name="Google Shape;414;p13"/>
          <p:cNvSpPr/>
          <p:nvPr/>
        </p:nvSpPr>
        <p:spPr>
          <a:xfrm>
            <a:off x="7000875" y="2895600"/>
            <a:ext cx="25812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Оцените игровой опыт и механики</a:t>
            </a:r>
            <a:endParaRPr b="0" i="0" sz="1600" u="none" cap="none" strike="noStrike"/>
          </a:p>
        </p:txBody>
      </p:sp>
      <p:sp>
        <p:nvSpPr>
          <p:cNvPr id="415" name="Google Shape;415;p13"/>
          <p:cNvSpPr/>
          <p:nvPr/>
        </p:nvSpPr>
        <p:spPr>
          <a:xfrm>
            <a:off x="6491288" y="3443288"/>
            <a:ext cx="5076825" cy="847725"/>
          </a:xfrm>
          <a:custGeom>
            <a:rect b="b" l="l" r="r" t="t"/>
            <a:pathLst>
              <a:path extrusionOk="0" h="847725" w="5076825">
                <a:moveTo>
                  <a:pt x="114299" y="0"/>
                </a:moveTo>
                <a:lnTo>
                  <a:pt x="4962526" y="0"/>
                </a:lnTo>
                <a:cubicBezTo>
                  <a:pt x="5025652" y="0"/>
                  <a:pt x="5076825" y="51173"/>
                  <a:pt x="5076825" y="114299"/>
                </a:cubicBezTo>
                <a:lnTo>
                  <a:pt x="5076825" y="733426"/>
                </a:lnTo>
                <a:cubicBezTo>
                  <a:pt x="5076825" y="796552"/>
                  <a:pt x="5025652" y="847725"/>
                  <a:pt x="4962526" y="847725"/>
                </a:cubicBezTo>
                <a:lnTo>
                  <a:pt x="114299" y="847725"/>
                </a:lnTo>
                <a:cubicBezTo>
                  <a:pt x="51216" y="847725"/>
                  <a:pt x="0" y="796509"/>
                  <a:pt x="0" y="733426"/>
                </a:cubicBezTo>
                <a:lnTo>
                  <a:pt x="0" y="114299"/>
                </a:lnTo>
                <a:cubicBezTo>
                  <a:pt x="0" y="51216"/>
                  <a:pt x="51216" y="0"/>
                  <a:pt x="114299" y="0"/>
                </a:cubicBezTo>
                <a:close/>
              </a:path>
            </a:pathLst>
          </a:custGeom>
          <a:solidFill>
            <a:srgbClr val="0F172A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3"/>
          <p:cNvSpPr/>
          <p:nvPr/>
        </p:nvSpPr>
        <p:spPr>
          <a:xfrm>
            <a:off x="6660356" y="3638550"/>
            <a:ext cx="214313" cy="190500"/>
          </a:xfrm>
          <a:custGeom>
            <a:rect b="b" l="l" r="r" t="t"/>
            <a:pathLst>
              <a:path extrusionOk="0" h="190500" w="214313">
                <a:moveTo>
                  <a:pt x="142875" y="53578"/>
                </a:moveTo>
                <a:cubicBezTo>
                  <a:pt x="142875" y="89743"/>
                  <a:pt x="110877" y="119063"/>
                  <a:pt x="71438" y="119063"/>
                </a:cubicBezTo>
                <a:cubicBezTo>
                  <a:pt x="61503" y="119063"/>
                  <a:pt x="52053" y="117202"/>
                  <a:pt x="43458" y="113854"/>
                </a:cubicBezTo>
                <a:lnTo>
                  <a:pt x="13097" y="129927"/>
                </a:lnTo>
                <a:cubicBezTo>
                  <a:pt x="9637" y="131750"/>
                  <a:pt x="5395" y="131118"/>
                  <a:pt x="2604" y="128364"/>
                </a:cubicBezTo>
                <a:cubicBezTo>
                  <a:pt x="-186" y="125611"/>
                  <a:pt x="-819" y="121332"/>
                  <a:pt x="1042" y="117872"/>
                </a:cubicBezTo>
                <a:lnTo>
                  <a:pt x="14288" y="92869"/>
                </a:lnTo>
                <a:cubicBezTo>
                  <a:pt x="5321" y="81930"/>
                  <a:pt x="0" y="68312"/>
                  <a:pt x="0" y="53578"/>
                </a:cubicBezTo>
                <a:cubicBezTo>
                  <a:pt x="0" y="17413"/>
                  <a:pt x="31998" y="-11906"/>
                  <a:pt x="71438" y="-11906"/>
                </a:cubicBezTo>
                <a:cubicBezTo>
                  <a:pt x="110877" y="-11906"/>
                  <a:pt x="142875" y="17413"/>
                  <a:pt x="142875" y="53578"/>
                </a:cubicBezTo>
                <a:close/>
                <a:moveTo>
                  <a:pt x="142875" y="190500"/>
                </a:moveTo>
                <a:cubicBezTo>
                  <a:pt x="107863" y="190500"/>
                  <a:pt x="78730" y="167394"/>
                  <a:pt x="72628" y="136922"/>
                </a:cubicBezTo>
                <a:cubicBezTo>
                  <a:pt x="117277" y="136364"/>
                  <a:pt x="156083" y="104589"/>
                  <a:pt x="160362" y="61503"/>
                </a:cubicBezTo>
                <a:cubicBezTo>
                  <a:pt x="191356" y="68647"/>
                  <a:pt x="214313" y="94357"/>
                  <a:pt x="214313" y="125016"/>
                </a:cubicBezTo>
                <a:cubicBezTo>
                  <a:pt x="214313" y="139750"/>
                  <a:pt x="208992" y="153367"/>
                  <a:pt x="200025" y="164306"/>
                </a:cubicBezTo>
                <a:lnTo>
                  <a:pt x="213271" y="189309"/>
                </a:lnTo>
                <a:cubicBezTo>
                  <a:pt x="215094" y="192770"/>
                  <a:pt x="214461" y="197011"/>
                  <a:pt x="211708" y="199802"/>
                </a:cubicBezTo>
                <a:cubicBezTo>
                  <a:pt x="208955" y="202592"/>
                  <a:pt x="204676" y="203225"/>
                  <a:pt x="201216" y="201364"/>
                </a:cubicBezTo>
                <a:lnTo>
                  <a:pt x="170855" y="185291"/>
                </a:lnTo>
                <a:cubicBezTo>
                  <a:pt x="162260" y="188640"/>
                  <a:pt x="152809" y="190500"/>
                  <a:pt x="142875" y="190500"/>
                </a:cubicBezTo>
                <a:close/>
              </a:path>
            </a:pathLst>
          </a:cu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13"/>
          <p:cNvSpPr/>
          <p:nvPr/>
        </p:nvSpPr>
        <p:spPr>
          <a:xfrm>
            <a:off x="7000875" y="3600450"/>
            <a:ext cx="21336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Дайте обратную связь</a:t>
            </a:r>
            <a:endParaRPr b="0" i="0" sz="1600" u="none" cap="none" strike="noStrike"/>
          </a:p>
        </p:txBody>
      </p:sp>
      <p:sp>
        <p:nvSpPr>
          <p:cNvPr id="418" name="Google Shape;418;p13"/>
          <p:cNvSpPr/>
          <p:nvPr/>
        </p:nvSpPr>
        <p:spPr>
          <a:xfrm>
            <a:off x="7000875" y="3905250"/>
            <a:ext cx="21240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Помогите улучшить продукт</a:t>
            </a:r>
            <a:endParaRPr b="0" i="0" sz="1600" u="none" cap="none" strike="noStrike"/>
          </a:p>
        </p:txBody>
      </p:sp>
      <p:sp>
        <p:nvSpPr>
          <p:cNvPr id="419" name="Google Shape;419;p13"/>
          <p:cNvSpPr/>
          <p:nvPr/>
        </p:nvSpPr>
        <p:spPr>
          <a:xfrm>
            <a:off x="6491288" y="4452938"/>
            <a:ext cx="5076825" cy="847725"/>
          </a:xfrm>
          <a:custGeom>
            <a:rect b="b" l="l" r="r" t="t"/>
            <a:pathLst>
              <a:path extrusionOk="0" h="847725" w="5076825">
                <a:moveTo>
                  <a:pt x="114299" y="0"/>
                </a:moveTo>
                <a:lnTo>
                  <a:pt x="4962526" y="0"/>
                </a:lnTo>
                <a:cubicBezTo>
                  <a:pt x="5025652" y="0"/>
                  <a:pt x="5076825" y="51173"/>
                  <a:pt x="5076825" y="114299"/>
                </a:cubicBezTo>
                <a:lnTo>
                  <a:pt x="5076825" y="733426"/>
                </a:lnTo>
                <a:cubicBezTo>
                  <a:pt x="5076825" y="796552"/>
                  <a:pt x="5025652" y="847725"/>
                  <a:pt x="4962526" y="847725"/>
                </a:cubicBezTo>
                <a:lnTo>
                  <a:pt x="114299" y="847725"/>
                </a:lnTo>
                <a:cubicBezTo>
                  <a:pt x="51216" y="847725"/>
                  <a:pt x="0" y="796509"/>
                  <a:pt x="0" y="733426"/>
                </a:cubicBezTo>
                <a:lnTo>
                  <a:pt x="0" y="114299"/>
                </a:lnTo>
                <a:cubicBezTo>
                  <a:pt x="0" y="51216"/>
                  <a:pt x="51216" y="0"/>
                  <a:pt x="114299" y="0"/>
                </a:cubicBezTo>
                <a:close/>
              </a:path>
            </a:pathLst>
          </a:custGeom>
          <a:solidFill>
            <a:srgbClr val="0F172A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13"/>
          <p:cNvSpPr/>
          <p:nvPr/>
        </p:nvSpPr>
        <p:spPr>
          <a:xfrm>
            <a:off x="6672263" y="4648200"/>
            <a:ext cx="190500" cy="190500"/>
          </a:xfrm>
          <a:custGeom>
            <a:rect b="b" l="l" r="r" t="t"/>
            <a:pathLst>
              <a:path extrusionOk="0" h="190500" w="190500">
                <a:moveTo>
                  <a:pt x="47625" y="119063"/>
                </a:moveTo>
                <a:lnTo>
                  <a:pt x="9116" y="119063"/>
                </a:lnTo>
                <a:cubicBezTo>
                  <a:pt x="-149" y="119063"/>
                  <a:pt x="-5842" y="108979"/>
                  <a:pt x="-1079" y="101017"/>
                </a:cubicBezTo>
                <a:lnTo>
                  <a:pt x="18604" y="68200"/>
                </a:lnTo>
                <a:cubicBezTo>
                  <a:pt x="21841" y="62805"/>
                  <a:pt x="27645" y="59531"/>
                  <a:pt x="33933" y="59531"/>
                </a:cubicBezTo>
                <a:lnTo>
                  <a:pt x="69279" y="59531"/>
                </a:lnTo>
                <a:cubicBezTo>
                  <a:pt x="97594" y="11571"/>
                  <a:pt x="139824" y="9153"/>
                  <a:pt x="168064" y="13283"/>
                </a:cubicBezTo>
                <a:cubicBezTo>
                  <a:pt x="172827" y="13990"/>
                  <a:pt x="176547" y="17711"/>
                  <a:pt x="177217" y="22436"/>
                </a:cubicBezTo>
                <a:cubicBezTo>
                  <a:pt x="181347" y="50676"/>
                  <a:pt x="178929" y="92906"/>
                  <a:pt x="130969" y="121221"/>
                </a:cubicBezTo>
                <a:lnTo>
                  <a:pt x="130969" y="156567"/>
                </a:lnTo>
                <a:cubicBezTo>
                  <a:pt x="130969" y="162855"/>
                  <a:pt x="127695" y="168659"/>
                  <a:pt x="122300" y="171896"/>
                </a:cubicBezTo>
                <a:lnTo>
                  <a:pt x="89483" y="191579"/>
                </a:lnTo>
                <a:cubicBezTo>
                  <a:pt x="81558" y="196342"/>
                  <a:pt x="71438" y="190612"/>
                  <a:pt x="71438" y="181384"/>
                </a:cubicBezTo>
                <a:lnTo>
                  <a:pt x="71438" y="142875"/>
                </a:lnTo>
                <a:cubicBezTo>
                  <a:pt x="71438" y="129741"/>
                  <a:pt x="60759" y="119063"/>
                  <a:pt x="47625" y="119063"/>
                </a:cubicBezTo>
                <a:lnTo>
                  <a:pt x="47588" y="119063"/>
                </a:lnTo>
                <a:close/>
                <a:moveTo>
                  <a:pt x="148828" y="59531"/>
                </a:moveTo>
                <a:cubicBezTo>
                  <a:pt x="148828" y="49674"/>
                  <a:pt x="140826" y="41672"/>
                  <a:pt x="130969" y="41672"/>
                </a:cubicBezTo>
                <a:cubicBezTo>
                  <a:pt x="121112" y="41672"/>
                  <a:pt x="113109" y="49674"/>
                  <a:pt x="113109" y="59531"/>
                </a:cubicBezTo>
                <a:cubicBezTo>
                  <a:pt x="113109" y="69388"/>
                  <a:pt x="121112" y="77391"/>
                  <a:pt x="130969" y="77391"/>
                </a:cubicBezTo>
                <a:cubicBezTo>
                  <a:pt x="140826" y="77391"/>
                  <a:pt x="148828" y="69388"/>
                  <a:pt x="148828" y="59531"/>
                </a:cubicBezTo>
                <a:close/>
              </a:path>
            </a:pathLst>
          </a:cu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3"/>
          <p:cNvSpPr/>
          <p:nvPr/>
        </p:nvSpPr>
        <p:spPr>
          <a:xfrm>
            <a:off x="7000875" y="4610100"/>
            <a:ext cx="19240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Поддержите развитие</a:t>
            </a:r>
            <a:endParaRPr b="0" i="0" sz="1600" u="none" cap="none" strike="noStrike"/>
          </a:p>
        </p:txBody>
      </p:sp>
      <p:sp>
        <p:nvSpPr>
          <p:cNvPr id="422" name="Google Shape;422;p13"/>
          <p:cNvSpPr/>
          <p:nvPr/>
        </p:nvSpPr>
        <p:spPr>
          <a:xfrm>
            <a:off x="7000875" y="4914900"/>
            <a:ext cx="19145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Станьте частью проекта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kimi-web-img.moonshot.cn/img/t4.ftcdn.net/15f302977f61c32890bd4dc6d841bb7da949df88.jpg" id="428" name="Google Shape;428;p14"/>
          <p:cNvPicPr preferRelativeResize="0"/>
          <p:nvPr/>
        </p:nvPicPr>
        <p:blipFill rotWithShape="1">
          <a:blip r:embed="rId3">
            <a:alphaModFix amt="40000"/>
          </a:blip>
          <a:srcRect b="0" l="78" r="78" t="0"/>
          <a:stretch/>
        </p:blipFill>
        <p:spPr>
          <a:xfrm>
            <a:off x="0" y="0"/>
            <a:ext cx="12192000" cy="6858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429" name="Google Shape;429;p14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F172A">
                  <a:alpha val="94901"/>
                </a:srgbClr>
              </a:gs>
              <a:gs pos="50000">
                <a:srgbClr val="0F172A">
                  <a:alpha val="85098"/>
                </a:srgbClr>
              </a:gs>
              <a:gs pos="100000">
                <a:srgbClr val="3B82F6">
                  <a:alpha val="30196"/>
                </a:srgbClr>
              </a:gs>
            </a:gsLst>
            <a:lin ang="2700000" scaled="0"/>
          </a:gradFill>
          <a:ln>
            <a:noFill/>
          </a:ln>
        </p:spPr>
      </p:sp>
      <p:sp>
        <p:nvSpPr>
          <p:cNvPr id="430" name="Google Shape;430;p14"/>
          <p:cNvSpPr/>
          <p:nvPr/>
        </p:nvSpPr>
        <p:spPr>
          <a:xfrm>
            <a:off x="2260402" y="1243013"/>
            <a:ext cx="766762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Спасибо за внимание!</a:t>
            </a:r>
            <a:endParaRPr b="0" i="0" sz="1600" u="none" cap="none" strike="noStrike"/>
          </a:p>
        </p:txBody>
      </p:sp>
      <p:sp>
        <p:nvSpPr>
          <p:cNvPr id="431" name="Google Shape;431;p14"/>
          <p:cNvSpPr/>
          <p:nvPr/>
        </p:nvSpPr>
        <p:spPr>
          <a:xfrm>
            <a:off x="5486400" y="2081212"/>
            <a:ext cx="1219200" cy="57150"/>
          </a:xfrm>
          <a:custGeom>
            <a:rect b="b" l="l" r="r" t="t"/>
            <a:pathLst>
              <a:path extrusionOk="0" h="57150" w="1219200">
                <a:moveTo>
                  <a:pt x="0" y="0"/>
                </a:moveTo>
                <a:lnTo>
                  <a:pt x="1219200" y="0"/>
                </a:lnTo>
                <a:lnTo>
                  <a:pt x="12192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3B82F6"/>
              </a:gs>
              <a:gs pos="100000">
                <a:srgbClr val="22D3EE"/>
              </a:gs>
            </a:gsLst>
            <a:lin ang="0" scaled="0"/>
          </a:gradFill>
          <a:ln>
            <a:noFill/>
          </a:ln>
        </p:spPr>
      </p:sp>
      <p:sp>
        <p:nvSpPr>
          <p:cNvPr id="432" name="Google Shape;432;p14"/>
          <p:cNvSpPr/>
          <p:nvPr/>
        </p:nvSpPr>
        <p:spPr>
          <a:xfrm>
            <a:off x="1833563" y="2447925"/>
            <a:ext cx="8524875" cy="1190625"/>
          </a:xfrm>
          <a:custGeom>
            <a:rect b="b" l="l" r="r" t="t"/>
            <a:pathLst>
              <a:path extrusionOk="0" h="1190625" w="8524875">
                <a:moveTo>
                  <a:pt x="152400" y="0"/>
                </a:moveTo>
                <a:lnTo>
                  <a:pt x="8372475" y="0"/>
                </a:lnTo>
                <a:cubicBezTo>
                  <a:pt x="8456587" y="0"/>
                  <a:pt x="8524875" y="68288"/>
                  <a:pt x="8524875" y="152400"/>
                </a:cubicBezTo>
                <a:lnTo>
                  <a:pt x="8524875" y="1038225"/>
                </a:lnTo>
                <a:cubicBezTo>
                  <a:pt x="8524875" y="1122337"/>
                  <a:pt x="8456587" y="1190625"/>
                  <a:pt x="8372475" y="1190625"/>
                </a:cubicBezTo>
                <a:lnTo>
                  <a:pt x="152400" y="1190625"/>
                </a:lnTo>
                <a:cubicBezTo>
                  <a:pt x="68288" y="1190625"/>
                  <a:pt x="0" y="1122337"/>
                  <a:pt x="0" y="1038225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gradFill>
            <a:gsLst>
              <a:gs pos="0">
                <a:srgbClr val="1E293B">
                  <a:alpha val="90196"/>
                </a:srgbClr>
              </a:gs>
              <a:gs pos="100000">
                <a:srgbClr val="0F172A">
                  <a:alpha val="90196"/>
                </a:srgbClr>
              </a:gs>
            </a:gsLst>
            <a:lin ang="2700000" scaled="0"/>
          </a:gra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4"/>
          <p:cNvSpPr/>
          <p:nvPr/>
        </p:nvSpPr>
        <p:spPr>
          <a:xfrm>
            <a:off x="4521250" y="2690813"/>
            <a:ext cx="285750" cy="285750"/>
          </a:xfrm>
          <a:custGeom>
            <a:rect b="b" l="l" r="r" t="t"/>
            <a:pathLst>
              <a:path extrusionOk="0" h="285750" w="285750">
                <a:moveTo>
                  <a:pt x="71438" y="178594"/>
                </a:moveTo>
                <a:lnTo>
                  <a:pt x="13674" y="178594"/>
                </a:lnTo>
                <a:cubicBezTo>
                  <a:pt x="-223" y="178594"/>
                  <a:pt x="-8762" y="163469"/>
                  <a:pt x="-1619" y="151526"/>
                </a:cubicBezTo>
                <a:lnTo>
                  <a:pt x="27905" y="102301"/>
                </a:lnTo>
                <a:cubicBezTo>
                  <a:pt x="32761" y="94208"/>
                  <a:pt x="41467" y="89297"/>
                  <a:pt x="50899" y="89297"/>
                </a:cubicBezTo>
                <a:lnTo>
                  <a:pt x="103919" y="89297"/>
                </a:lnTo>
                <a:cubicBezTo>
                  <a:pt x="146391" y="17357"/>
                  <a:pt x="209736" y="13729"/>
                  <a:pt x="252096" y="19924"/>
                </a:cubicBezTo>
                <a:cubicBezTo>
                  <a:pt x="259240" y="20985"/>
                  <a:pt x="264821" y="26566"/>
                  <a:pt x="265826" y="33654"/>
                </a:cubicBezTo>
                <a:cubicBezTo>
                  <a:pt x="272021" y="76014"/>
                  <a:pt x="268393" y="139359"/>
                  <a:pt x="196453" y="181831"/>
                </a:cubicBezTo>
                <a:lnTo>
                  <a:pt x="196453" y="234851"/>
                </a:lnTo>
                <a:cubicBezTo>
                  <a:pt x="196453" y="244283"/>
                  <a:pt x="191542" y="252989"/>
                  <a:pt x="183449" y="257845"/>
                </a:cubicBezTo>
                <a:lnTo>
                  <a:pt x="134224" y="287369"/>
                </a:lnTo>
                <a:cubicBezTo>
                  <a:pt x="122337" y="294512"/>
                  <a:pt x="107156" y="285917"/>
                  <a:pt x="107156" y="272076"/>
                </a:cubicBezTo>
                <a:lnTo>
                  <a:pt x="107156" y="214313"/>
                </a:lnTo>
                <a:cubicBezTo>
                  <a:pt x="107156" y="194611"/>
                  <a:pt x="91139" y="178594"/>
                  <a:pt x="71438" y="178594"/>
                </a:cubicBezTo>
                <a:lnTo>
                  <a:pt x="71382" y="178594"/>
                </a:lnTo>
                <a:close/>
                <a:moveTo>
                  <a:pt x="223242" y="89297"/>
                </a:moveTo>
                <a:cubicBezTo>
                  <a:pt x="223242" y="74512"/>
                  <a:pt x="211238" y="62508"/>
                  <a:pt x="196453" y="62508"/>
                </a:cubicBezTo>
                <a:cubicBezTo>
                  <a:pt x="181668" y="62508"/>
                  <a:pt x="169664" y="74512"/>
                  <a:pt x="169664" y="89297"/>
                </a:cubicBezTo>
                <a:cubicBezTo>
                  <a:pt x="169664" y="104082"/>
                  <a:pt x="181668" y="116086"/>
                  <a:pt x="196453" y="116086"/>
                </a:cubicBezTo>
                <a:cubicBezTo>
                  <a:pt x="211238" y="116086"/>
                  <a:pt x="223242" y="104082"/>
                  <a:pt x="223242" y="89297"/>
                </a:cubicBezTo>
                <a:close/>
              </a:path>
            </a:pathLst>
          </a:custGeom>
          <a:solidFill>
            <a:srgbClr val="22D3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14"/>
          <p:cNvSpPr/>
          <p:nvPr/>
        </p:nvSpPr>
        <p:spPr>
          <a:xfrm>
            <a:off x="4897487" y="2681288"/>
            <a:ext cx="28670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MVP доступен по ссылке</a:t>
            </a:r>
            <a:endParaRPr b="0" i="0" sz="1600" u="none" cap="none" strike="noStrike"/>
          </a:p>
        </p:txBody>
      </p:sp>
      <p:sp>
        <p:nvSpPr>
          <p:cNvPr id="435" name="Google Shape;435;p14"/>
          <p:cNvSpPr/>
          <p:nvPr/>
        </p:nvSpPr>
        <p:spPr>
          <a:xfrm>
            <a:off x="2019300" y="3138488"/>
            <a:ext cx="81534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2D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devapp-hackathon.github.io/devapp-web-game</a:t>
            </a:r>
            <a:endParaRPr b="0" i="0" sz="1600" u="none" cap="none" strike="noStrike"/>
          </a:p>
        </p:txBody>
      </p:sp>
      <p:sp>
        <p:nvSpPr>
          <p:cNvPr id="436" name="Google Shape;436;p14"/>
          <p:cNvSpPr/>
          <p:nvPr/>
        </p:nvSpPr>
        <p:spPr>
          <a:xfrm>
            <a:off x="1833563" y="3876675"/>
            <a:ext cx="2686050" cy="1000125"/>
          </a:xfrm>
          <a:custGeom>
            <a:rect b="b" l="l" r="r" t="t"/>
            <a:pathLst>
              <a:path extrusionOk="0" h="1000125" w="2686050">
                <a:moveTo>
                  <a:pt x="152399" y="0"/>
                </a:moveTo>
                <a:lnTo>
                  <a:pt x="2533651" y="0"/>
                </a:lnTo>
                <a:cubicBezTo>
                  <a:pt x="2617819" y="0"/>
                  <a:pt x="2686050" y="68231"/>
                  <a:pt x="2686050" y="152399"/>
                </a:cubicBezTo>
                <a:lnTo>
                  <a:pt x="2686050" y="847726"/>
                </a:lnTo>
                <a:cubicBezTo>
                  <a:pt x="2686050" y="931894"/>
                  <a:pt x="2617819" y="1000125"/>
                  <a:pt x="2533651" y="1000125"/>
                </a:cubicBezTo>
                <a:lnTo>
                  <a:pt x="152399" y="1000125"/>
                </a:lnTo>
                <a:cubicBezTo>
                  <a:pt x="68231" y="1000125"/>
                  <a:pt x="0" y="931894"/>
                  <a:pt x="0" y="847726"/>
                </a:cubicBezTo>
                <a:lnTo>
                  <a:pt x="0" y="152399"/>
                </a:lnTo>
                <a:cubicBezTo>
                  <a:pt x="0" y="68288"/>
                  <a:pt x="68288" y="0"/>
                  <a:pt x="152399" y="0"/>
                </a:cubicBezTo>
                <a:close/>
              </a:path>
            </a:pathLst>
          </a:custGeom>
          <a:gradFill>
            <a:gsLst>
              <a:gs pos="0">
                <a:srgbClr val="1E293B">
                  <a:alpha val="90196"/>
                </a:srgbClr>
              </a:gs>
              <a:gs pos="100000">
                <a:srgbClr val="0F172A">
                  <a:alpha val="90196"/>
                </a:srgbClr>
              </a:gs>
            </a:gsLst>
            <a:lin ang="2700000" scaled="0"/>
          </a:gra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14"/>
          <p:cNvSpPr/>
          <p:nvPr/>
        </p:nvSpPr>
        <p:spPr>
          <a:xfrm>
            <a:off x="2654201" y="4090987"/>
            <a:ext cx="228600" cy="228600"/>
          </a:xfrm>
          <a:custGeom>
            <a:rect b="b" l="l" r="r" t="t"/>
            <a:pathLst>
              <a:path extrusionOk="0" h="228600" w="228600">
                <a:moveTo>
                  <a:pt x="114300" y="3572"/>
                </a:moveTo>
                <a:cubicBezTo>
                  <a:pt x="53187" y="3572"/>
                  <a:pt x="3572" y="53187"/>
                  <a:pt x="3572" y="114300"/>
                </a:cubicBezTo>
                <a:cubicBezTo>
                  <a:pt x="3572" y="175413"/>
                  <a:pt x="53187" y="225028"/>
                  <a:pt x="114300" y="225028"/>
                </a:cubicBezTo>
                <a:cubicBezTo>
                  <a:pt x="175413" y="225028"/>
                  <a:pt x="225028" y="175413"/>
                  <a:pt x="225028" y="114300"/>
                </a:cubicBezTo>
                <a:cubicBezTo>
                  <a:pt x="225028" y="53187"/>
                  <a:pt x="175413" y="3572"/>
                  <a:pt x="114300" y="3572"/>
                </a:cubicBezTo>
                <a:close/>
                <a:moveTo>
                  <a:pt x="165646" y="78894"/>
                </a:moveTo>
                <a:cubicBezTo>
                  <a:pt x="163994" y="96396"/>
                  <a:pt x="156761" y="138901"/>
                  <a:pt x="153099" y="158502"/>
                </a:cubicBezTo>
                <a:cubicBezTo>
                  <a:pt x="151537" y="166807"/>
                  <a:pt x="148501" y="169575"/>
                  <a:pt x="145554" y="169843"/>
                </a:cubicBezTo>
                <a:cubicBezTo>
                  <a:pt x="139125" y="170423"/>
                  <a:pt x="134258" y="165601"/>
                  <a:pt x="128007" y="161493"/>
                </a:cubicBezTo>
                <a:cubicBezTo>
                  <a:pt x="118274" y="155109"/>
                  <a:pt x="112737" y="151135"/>
                  <a:pt x="103316" y="144884"/>
                </a:cubicBezTo>
                <a:cubicBezTo>
                  <a:pt x="92378" y="137696"/>
                  <a:pt x="99477" y="133722"/>
                  <a:pt x="105683" y="127248"/>
                </a:cubicBezTo>
                <a:cubicBezTo>
                  <a:pt x="107335" y="125551"/>
                  <a:pt x="135642" y="99789"/>
                  <a:pt x="136178" y="97468"/>
                </a:cubicBezTo>
                <a:cubicBezTo>
                  <a:pt x="136267" y="97155"/>
                  <a:pt x="136312" y="96083"/>
                  <a:pt x="135642" y="95503"/>
                </a:cubicBezTo>
                <a:cubicBezTo>
                  <a:pt x="134972" y="94923"/>
                  <a:pt x="134035" y="95146"/>
                  <a:pt x="133365" y="95280"/>
                </a:cubicBezTo>
                <a:cubicBezTo>
                  <a:pt x="132383" y="95503"/>
                  <a:pt x="116800" y="105772"/>
                  <a:pt x="86663" y="126132"/>
                </a:cubicBezTo>
                <a:cubicBezTo>
                  <a:pt x="82242" y="129168"/>
                  <a:pt x="78224" y="130641"/>
                  <a:pt x="74652" y="130552"/>
                </a:cubicBezTo>
                <a:cubicBezTo>
                  <a:pt x="70678" y="130463"/>
                  <a:pt x="63088" y="128320"/>
                  <a:pt x="57418" y="126489"/>
                </a:cubicBezTo>
                <a:cubicBezTo>
                  <a:pt x="50497" y="124257"/>
                  <a:pt x="44961" y="123051"/>
                  <a:pt x="45452" y="119211"/>
                </a:cubicBezTo>
                <a:cubicBezTo>
                  <a:pt x="45720" y="117202"/>
                  <a:pt x="48444" y="115193"/>
                  <a:pt x="53667" y="113094"/>
                </a:cubicBezTo>
                <a:cubicBezTo>
                  <a:pt x="85948" y="99030"/>
                  <a:pt x="107469" y="89743"/>
                  <a:pt x="118229" y="85279"/>
                </a:cubicBezTo>
                <a:cubicBezTo>
                  <a:pt x="148992" y="72509"/>
                  <a:pt x="155377" y="70277"/>
                  <a:pt x="159529" y="70187"/>
                </a:cubicBezTo>
                <a:cubicBezTo>
                  <a:pt x="160466" y="70187"/>
                  <a:pt x="162476" y="70411"/>
                  <a:pt x="163815" y="71482"/>
                </a:cubicBezTo>
                <a:cubicBezTo>
                  <a:pt x="164708" y="72241"/>
                  <a:pt x="165244" y="73313"/>
                  <a:pt x="165378" y="74474"/>
                </a:cubicBezTo>
                <a:cubicBezTo>
                  <a:pt x="165601" y="75902"/>
                  <a:pt x="165646" y="77376"/>
                  <a:pt x="165556" y="78849"/>
                </a:cubicBezTo>
                <a:close/>
              </a:path>
            </a:pathLst>
          </a:cu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14"/>
          <p:cNvSpPr/>
          <p:nvPr/>
        </p:nvSpPr>
        <p:spPr>
          <a:xfrm>
            <a:off x="2944713" y="4071938"/>
            <a:ext cx="8191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Telegram</a:t>
            </a:r>
            <a:endParaRPr b="0" i="0" sz="1600" u="none" cap="none" strike="noStrike"/>
          </a:p>
        </p:txBody>
      </p:sp>
      <p:sp>
        <p:nvSpPr>
          <p:cNvPr id="439" name="Google Shape;439;p14"/>
          <p:cNvSpPr/>
          <p:nvPr/>
        </p:nvSpPr>
        <p:spPr>
          <a:xfrm>
            <a:off x="1990725" y="4452938"/>
            <a:ext cx="23717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@nikoxtreme</a:t>
            </a:r>
            <a:endParaRPr b="0" i="0" sz="1600" u="none" cap="none" strike="noStrike"/>
          </a:p>
        </p:txBody>
      </p:sp>
      <p:sp>
        <p:nvSpPr>
          <p:cNvPr id="440" name="Google Shape;440;p14"/>
          <p:cNvSpPr/>
          <p:nvPr/>
        </p:nvSpPr>
        <p:spPr>
          <a:xfrm>
            <a:off x="4754463" y="3876675"/>
            <a:ext cx="2686050" cy="1000125"/>
          </a:xfrm>
          <a:custGeom>
            <a:rect b="b" l="l" r="r" t="t"/>
            <a:pathLst>
              <a:path extrusionOk="0" h="1000125" w="2686050">
                <a:moveTo>
                  <a:pt x="152399" y="0"/>
                </a:moveTo>
                <a:lnTo>
                  <a:pt x="2533651" y="0"/>
                </a:lnTo>
                <a:cubicBezTo>
                  <a:pt x="2617819" y="0"/>
                  <a:pt x="2686050" y="68231"/>
                  <a:pt x="2686050" y="152399"/>
                </a:cubicBezTo>
                <a:lnTo>
                  <a:pt x="2686050" y="847726"/>
                </a:lnTo>
                <a:cubicBezTo>
                  <a:pt x="2686050" y="931894"/>
                  <a:pt x="2617819" y="1000125"/>
                  <a:pt x="2533651" y="1000125"/>
                </a:cubicBezTo>
                <a:lnTo>
                  <a:pt x="152399" y="1000125"/>
                </a:lnTo>
                <a:cubicBezTo>
                  <a:pt x="68231" y="1000125"/>
                  <a:pt x="0" y="931894"/>
                  <a:pt x="0" y="847726"/>
                </a:cubicBezTo>
                <a:lnTo>
                  <a:pt x="0" y="152399"/>
                </a:lnTo>
                <a:cubicBezTo>
                  <a:pt x="0" y="68288"/>
                  <a:pt x="68288" y="0"/>
                  <a:pt x="152399" y="0"/>
                </a:cubicBezTo>
                <a:close/>
              </a:path>
            </a:pathLst>
          </a:custGeom>
          <a:gradFill>
            <a:gsLst>
              <a:gs pos="0">
                <a:srgbClr val="1E293B">
                  <a:alpha val="90196"/>
                </a:srgbClr>
              </a:gs>
              <a:gs pos="100000">
                <a:srgbClr val="0F172A">
                  <a:alpha val="90196"/>
                </a:srgbClr>
              </a:gs>
            </a:gsLst>
            <a:lin ang="2700000" scaled="0"/>
          </a:gra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14"/>
          <p:cNvSpPr/>
          <p:nvPr/>
        </p:nvSpPr>
        <p:spPr>
          <a:xfrm>
            <a:off x="5723334" y="4090987"/>
            <a:ext cx="228600" cy="228600"/>
          </a:xfrm>
          <a:custGeom>
            <a:rect b="b" l="l" r="r" t="t"/>
            <a:pathLst>
              <a:path extrusionOk="0" h="228600" w="228600">
                <a:moveTo>
                  <a:pt x="21431" y="28575"/>
                </a:moveTo>
                <a:cubicBezTo>
                  <a:pt x="9599" y="28575"/>
                  <a:pt x="0" y="38174"/>
                  <a:pt x="0" y="50006"/>
                </a:cubicBezTo>
                <a:cubicBezTo>
                  <a:pt x="0" y="56748"/>
                  <a:pt x="3170" y="63088"/>
                  <a:pt x="8573" y="67151"/>
                </a:cubicBezTo>
                <a:lnTo>
                  <a:pt x="101441" y="136803"/>
                </a:lnTo>
                <a:cubicBezTo>
                  <a:pt x="109076" y="142518"/>
                  <a:pt x="119524" y="142518"/>
                  <a:pt x="127159" y="136803"/>
                </a:cubicBezTo>
                <a:lnTo>
                  <a:pt x="220028" y="67151"/>
                </a:lnTo>
                <a:cubicBezTo>
                  <a:pt x="225430" y="63088"/>
                  <a:pt x="228600" y="56748"/>
                  <a:pt x="228600" y="50006"/>
                </a:cubicBezTo>
                <a:cubicBezTo>
                  <a:pt x="228600" y="38174"/>
                  <a:pt x="219001" y="28575"/>
                  <a:pt x="207169" y="28575"/>
                </a:cubicBezTo>
                <a:lnTo>
                  <a:pt x="21431" y="28575"/>
                </a:lnTo>
                <a:close/>
                <a:moveTo>
                  <a:pt x="0" y="87511"/>
                </a:moveTo>
                <a:lnTo>
                  <a:pt x="0" y="171450"/>
                </a:lnTo>
                <a:cubicBezTo>
                  <a:pt x="0" y="187211"/>
                  <a:pt x="12814" y="200025"/>
                  <a:pt x="28575" y="200025"/>
                </a:cubicBezTo>
                <a:lnTo>
                  <a:pt x="200025" y="200025"/>
                </a:lnTo>
                <a:cubicBezTo>
                  <a:pt x="215786" y="200025"/>
                  <a:pt x="228600" y="187211"/>
                  <a:pt x="228600" y="171450"/>
                </a:cubicBezTo>
                <a:lnTo>
                  <a:pt x="228600" y="87511"/>
                </a:lnTo>
                <a:lnTo>
                  <a:pt x="140018" y="153948"/>
                </a:lnTo>
                <a:cubicBezTo>
                  <a:pt x="124792" y="165378"/>
                  <a:pt x="103808" y="165378"/>
                  <a:pt x="88583" y="153948"/>
                </a:cubicBezTo>
                <a:lnTo>
                  <a:pt x="0" y="87511"/>
                </a:lnTo>
                <a:close/>
              </a:path>
            </a:pathLst>
          </a:cu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14"/>
          <p:cNvSpPr/>
          <p:nvPr/>
        </p:nvSpPr>
        <p:spPr>
          <a:xfrm>
            <a:off x="6013847" y="4071938"/>
            <a:ext cx="5238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Email</a:t>
            </a:r>
            <a:endParaRPr b="0" i="0" sz="1600" u="none" cap="none" strike="noStrike"/>
          </a:p>
        </p:txBody>
      </p:sp>
      <p:sp>
        <p:nvSpPr>
          <p:cNvPr id="443" name="Google Shape;443;p14"/>
          <p:cNvSpPr/>
          <p:nvPr/>
        </p:nvSpPr>
        <p:spPr>
          <a:xfrm>
            <a:off x="4911626" y="4452938"/>
            <a:ext cx="23717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89816874234@mail.ru</a:t>
            </a:r>
            <a:endParaRPr b="0" i="0" sz="1600" u="none" cap="none" strike="noStrike"/>
          </a:p>
        </p:txBody>
      </p:sp>
      <p:sp>
        <p:nvSpPr>
          <p:cNvPr id="444" name="Google Shape;444;p14"/>
          <p:cNvSpPr/>
          <p:nvPr/>
        </p:nvSpPr>
        <p:spPr>
          <a:xfrm>
            <a:off x="7675513" y="3876675"/>
            <a:ext cx="2686050" cy="1000125"/>
          </a:xfrm>
          <a:custGeom>
            <a:rect b="b" l="l" r="r" t="t"/>
            <a:pathLst>
              <a:path extrusionOk="0" h="1000125" w="2686050">
                <a:moveTo>
                  <a:pt x="152399" y="0"/>
                </a:moveTo>
                <a:lnTo>
                  <a:pt x="2533651" y="0"/>
                </a:lnTo>
                <a:cubicBezTo>
                  <a:pt x="2617819" y="0"/>
                  <a:pt x="2686050" y="68231"/>
                  <a:pt x="2686050" y="152399"/>
                </a:cubicBezTo>
                <a:lnTo>
                  <a:pt x="2686050" y="847726"/>
                </a:lnTo>
                <a:cubicBezTo>
                  <a:pt x="2686050" y="931894"/>
                  <a:pt x="2617819" y="1000125"/>
                  <a:pt x="2533651" y="1000125"/>
                </a:cubicBezTo>
                <a:lnTo>
                  <a:pt x="152399" y="1000125"/>
                </a:lnTo>
                <a:cubicBezTo>
                  <a:pt x="68231" y="1000125"/>
                  <a:pt x="0" y="931894"/>
                  <a:pt x="0" y="847726"/>
                </a:cubicBezTo>
                <a:lnTo>
                  <a:pt x="0" y="152399"/>
                </a:lnTo>
                <a:cubicBezTo>
                  <a:pt x="0" y="68288"/>
                  <a:pt x="68288" y="0"/>
                  <a:pt x="152399" y="0"/>
                </a:cubicBezTo>
                <a:close/>
              </a:path>
            </a:pathLst>
          </a:custGeom>
          <a:gradFill>
            <a:gsLst>
              <a:gs pos="0">
                <a:srgbClr val="1E293B">
                  <a:alpha val="90196"/>
                </a:srgbClr>
              </a:gs>
              <a:gs pos="100000">
                <a:srgbClr val="0F172A">
                  <a:alpha val="90196"/>
                </a:srgbClr>
              </a:gs>
            </a:gsLst>
            <a:lin ang="2700000" scaled="0"/>
          </a:gra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14"/>
          <p:cNvSpPr/>
          <p:nvPr/>
        </p:nvSpPr>
        <p:spPr>
          <a:xfrm>
            <a:off x="8510290" y="4090987"/>
            <a:ext cx="228600" cy="228600"/>
          </a:xfrm>
          <a:custGeom>
            <a:rect b="b" l="l" r="r" t="t"/>
            <a:pathLst>
              <a:path extrusionOk="0" h="228600" w="228600">
                <a:moveTo>
                  <a:pt x="71527" y="11162"/>
                </a:moveTo>
                <a:cubicBezTo>
                  <a:pt x="68000" y="2724"/>
                  <a:pt x="58802" y="-1741"/>
                  <a:pt x="50051" y="625"/>
                </a:cubicBezTo>
                <a:lnTo>
                  <a:pt x="47595" y="1295"/>
                </a:lnTo>
                <a:cubicBezTo>
                  <a:pt x="18752" y="9153"/>
                  <a:pt x="-5894" y="37103"/>
                  <a:pt x="1295" y="71125"/>
                </a:cubicBezTo>
                <a:cubicBezTo>
                  <a:pt x="17859" y="149260"/>
                  <a:pt x="79340" y="210741"/>
                  <a:pt x="157475" y="227305"/>
                </a:cubicBezTo>
                <a:cubicBezTo>
                  <a:pt x="191542" y="234538"/>
                  <a:pt x="219447" y="209848"/>
                  <a:pt x="227305" y="181005"/>
                </a:cubicBezTo>
                <a:lnTo>
                  <a:pt x="227975" y="178549"/>
                </a:lnTo>
                <a:cubicBezTo>
                  <a:pt x="230386" y="169753"/>
                  <a:pt x="225876" y="160556"/>
                  <a:pt x="217483" y="157073"/>
                </a:cubicBezTo>
                <a:lnTo>
                  <a:pt x="174040" y="138991"/>
                </a:lnTo>
                <a:cubicBezTo>
                  <a:pt x="166673" y="135910"/>
                  <a:pt x="158145" y="138053"/>
                  <a:pt x="153055" y="144259"/>
                </a:cubicBezTo>
                <a:lnTo>
                  <a:pt x="135821" y="165333"/>
                </a:lnTo>
                <a:cubicBezTo>
                  <a:pt x="104433" y="149751"/>
                  <a:pt x="79162" y="123676"/>
                  <a:pt x="64651" y="91663"/>
                </a:cubicBezTo>
                <a:lnTo>
                  <a:pt x="84386" y="75590"/>
                </a:lnTo>
                <a:cubicBezTo>
                  <a:pt x="90592" y="70545"/>
                  <a:pt x="92690" y="62017"/>
                  <a:pt x="89654" y="54605"/>
                </a:cubicBezTo>
                <a:lnTo>
                  <a:pt x="71527" y="11162"/>
                </a:lnTo>
                <a:close/>
              </a:path>
            </a:pathLst>
          </a:cu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14"/>
          <p:cNvSpPr/>
          <p:nvPr/>
        </p:nvSpPr>
        <p:spPr>
          <a:xfrm>
            <a:off x="8800802" y="4071938"/>
            <a:ext cx="7905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Телефон</a:t>
            </a:r>
            <a:endParaRPr b="0" i="0" sz="1600" u="none" cap="none" strike="noStrike"/>
          </a:p>
        </p:txBody>
      </p:sp>
      <p:sp>
        <p:nvSpPr>
          <p:cNvPr id="447" name="Google Shape;447;p14"/>
          <p:cNvSpPr/>
          <p:nvPr/>
        </p:nvSpPr>
        <p:spPr>
          <a:xfrm>
            <a:off x="7832675" y="4452938"/>
            <a:ext cx="23717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+7 (981) 687-43-34</a:t>
            </a:r>
            <a:endParaRPr b="0" i="0" sz="1600" u="none" cap="none" strike="noStrike"/>
          </a:p>
        </p:txBody>
      </p:sp>
      <p:sp>
        <p:nvSpPr>
          <p:cNvPr id="448" name="Google Shape;448;p14"/>
          <p:cNvSpPr/>
          <p:nvPr/>
        </p:nvSpPr>
        <p:spPr>
          <a:xfrm>
            <a:off x="1828800" y="5114925"/>
            <a:ext cx="8534400" cy="9525"/>
          </a:xfrm>
          <a:custGeom>
            <a:rect b="b" l="l" r="r" t="t"/>
            <a:pathLst>
              <a:path extrusionOk="0" h="9525" w="8534400">
                <a:moveTo>
                  <a:pt x="0" y="0"/>
                </a:moveTo>
                <a:lnTo>
                  <a:pt x="8534400" y="0"/>
                </a:lnTo>
                <a:lnTo>
                  <a:pt x="85344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334155"/>
          </a:solidFill>
          <a:ln>
            <a:noFill/>
          </a:ln>
        </p:spPr>
      </p:sp>
      <p:sp>
        <p:nvSpPr>
          <p:cNvPr id="449" name="Google Shape;449;p14"/>
          <p:cNvSpPr/>
          <p:nvPr/>
        </p:nvSpPr>
        <p:spPr>
          <a:xfrm>
            <a:off x="1785938" y="5348288"/>
            <a:ext cx="86201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Команда DevApp • Хакатон Level 21 • 2026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xmlns:r="http://schemas.openxmlformats.org/officeDocument/2006/relationships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